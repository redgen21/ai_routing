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</p:sldMasterIdLst>
  <p:notesMasterIdLst>
    <p:notesMasterId r:id="rId8"/>
  </p:notesMasterIdLst>
  <p:sldIdLst>
    <p:sldId id="2147483340" r:id="rId6"/>
    <p:sldId id="2147483339" r:id="rId7"/>
  </p:sldIdLst>
  <p:sldSz cx="12192000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638" userDrawn="1">
          <p15:clr>
            <a:srgbClr val="A4A3A4"/>
          </p15:clr>
        </p15:guide>
        <p15:guide id="5" pos="5087" userDrawn="1">
          <p15:clr>
            <a:srgbClr val="A4A3A4"/>
          </p15:clr>
        </p15:guide>
        <p15:guide id="6" orient="horz" pos="731" userDrawn="1">
          <p15:clr>
            <a:srgbClr val="A4A3A4"/>
          </p15:clr>
        </p15:guide>
        <p15:guide id="8" pos="756" userDrawn="1">
          <p15:clr>
            <a:srgbClr val="A4A3A4"/>
          </p15:clr>
        </p15:guide>
        <p15:guide id="9" pos="5881" userDrawn="1">
          <p15:clr>
            <a:srgbClr val="A4A3A4"/>
          </p15:clr>
        </p15:guide>
        <p15:guide id="10" orient="horz" pos="1185" userDrawn="1">
          <p15:clr>
            <a:srgbClr val="A4A3A4"/>
          </p15:clr>
        </p15:guide>
        <p15:guide id="11" orient="horz" pos="3271" userDrawn="1">
          <p15:clr>
            <a:srgbClr val="A4A3A4"/>
          </p15:clr>
        </p15:guide>
        <p15:guide id="12" pos="529" userDrawn="1">
          <p15:clr>
            <a:srgbClr val="A4A3A4"/>
          </p15:clr>
        </p15:guide>
        <p15:guide id="13" pos="19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CC0066"/>
    <a:srgbClr val="E0EBCC"/>
    <a:srgbClr val="009900"/>
    <a:srgbClr val="669900"/>
    <a:srgbClr val="99CC00"/>
    <a:srgbClr val="FAE5EF"/>
    <a:srgbClr val="E5FAE5"/>
    <a:srgbClr val="00CC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92" autoAdjust="0"/>
    <p:restoredTop sz="97384" autoAdjust="0"/>
  </p:normalViewPr>
  <p:slideViewPr>
    <p:cSldViewPr snapToGrid="0">
      <p:cViewPr varScale="1">
        <p:scale>
          <a:sx n="159" d="100"/>
          <a:sy n="159" d="100"/>
        </p:scale>
        <p:origin x="3294" y="138"/>
      </p:cViewPr>
      <p:guideLst>
        <p:guide orient="horz" pos="1638"/>
        <p:guide pos="5087"/>
        <p:guide orient="horz" pos="731"/>
        <p:guide pos="756"/>
        <p:guide pos="5881"/>
        <p:guide orient="horz" pos="1185"/>
        <p:guide orient="horz" pos="3271"/>
        <p:guide pos="529"/>
        <p:guide pos="19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8D628-373A-47B1-AA85-390CC62A98D2}" type="datetimeFigureOut">
              <a:rPr lang="ko-KR" altLang="en-US" smtClean="0"/>
              <a:t>2026-04-21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BC437-3262-4845-8FAA-0F7DFECE26C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336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E510C1A-5365-0A2A-DA8A-035B77890792}"/>
              </a:ext>
            </a:extLst>
          </p:cNvPr>
          <p:cNvCxnSpPr/>
          <p:nvPr userDrawn="1"/>
        </p:nvCxnSpPr>
        <p:spPr>
          <a:xfrm>
            <a:off x="131802" y="508422"/>
            <a:ext cx="119187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200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9784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E510C1A-5365-0A2A-DA8A-035B77890792}"/>
              </a:ext>
            </a:extLst>
          </p:cNvPr>
          <p:cNvCxnSpPr/>
          <p:nvPr userDrawn="1"/>
        </p:nvCxnSpPr>
        <p:spPr>
          <a:xfrm>
            <a:off x="131802" y="508422"/>
            <a:ext cx="1191878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2558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77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436B-9538-403C-8E5E-4C52A7CCBB7C}" type="datetimeFigureOut">
              <a:rPr lang="ko-KR" altLang="en-US" smtClean="0">
                <a:solidFill>
                  <a:prstClr val="black"/>
                </a:solidFill>
              </a:rPr>
              <a:pPr/>
              <a:t>2026-04-21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6364F-FD1D-4D05-BAA4-6C0E212572C8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09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59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666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710EDF-D438-6E77-3A86-0E14905F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97A856-CA65-222C-E569-6DB2441B24FE}"/>
              </a:ext>
            </a:extLst>
          </p:cNvPr>
          <p:cNvSpPr txBox="1"/>
          <p:nvPr/>
        </p:nvSpPr>
        <p:spPr>
          <a:xfrm>
            <a:off x="154563" y="108750"/>
            <a:ext cx="37436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US Intelligent Timetable Operation Process</a:t>
            </a:r>
          </a:p>
        </p:txBody>
      </p:sp>
      <p:cxnSp>
        <p:nvCxnSpPr>
          <p:cNvPr id="38" name="Straight Arrow Connector 20">
            <a:extLst>
              <a:ext uri="{FF2B5EF4-FFF2-40B4-BE49-F238E27FC236}">
                <a16:creationId xmlns:a16="http://schemas.microsoft.com/office/drawing/2014/main" id="{4A99845A-A253-C9EA-8B55-F5BCB2D9D926}"/>
              </a:ext>
            </a:extLst>
          </p:cNvPr>
          <p:cNvCxnSpPr>
            <a:cxnSpLocks/>
            <a:stCxn id="28" idx="2"/>
            <a:endCxn id="69" idx="0"/>
          </p:cNvCxnSpPr>
          <p:nvPr/>
        </p:nvCxnSpPr>
        <p:spPr bwMode="auto">
          <a:xfrm>
            <a:off x="7391309" y="2576431"/>
            <a:ext cx="2" cy="1847726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9DEAC1C-8D45-ED56-BAA2-3A2E8DAB284A}"/>
              </a:ext>
            </a:extLst>
          </p:cNvPr>
          <p:cNvSpPr txBox="1"/>
          <p:nvPr/>
        </p:nvSpPr>
        <p:spPr>
          <a:xfrm>
            <a:off x="304372" y="599442"/>
            <a:ext cx="973343" cy="346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Process 】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4" name="Diamond 21">
            <a:extLst>
              <a:ext uri="{FF2B5EF4-FFF2-40B4-BE49-F238E27FC236}">
                <a16:creationId xmlns:a16="http://schemas.microsoft.com/office/drawing/2014/main" id="{24B80D37-2B3B-CC5D-74D9-826CBAEA6008}"/>
              </a:ext>
            </a:extLst>
          </p:cNvPr>
          <p:cNvSpPr/>
          <p:nvPr/>
        </p:nvSpPr>
        <p:spPr>
          <a:xfrm>
            <a:off x="304372" y="1494269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Repair Receipt</a:t>
            </a:r>
          </a:p>
        </p:txBody>
      </p:sp>
      <p:sp>
        <p:nvSpPr>
          <p:cNvPr id="5" name="Diamond 21">
            <a:extLst>
              <a:ext uri="{FF2B5EF4-FFF2-40B4-BE49-F238E27FC236}">
                <a16:creationId xmlns:a16="http://schemas.microsoft.com/office/drawing/2014/main" id="{0A431360-5347-A270-7E95-F8866FFA0837}"/>
              </a:ext>
            </a:extLst>
          </p:cNvPr>
          <p:cNvSpPr/>
          <p:nvPr/>
        </p:nvSpPr>
        <p:spPr>
          <a:xfrm>
            <a:off x="10210046" y="1494269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Customer Visit </a:t>
            </a:r>
            <a:b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Repair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cxnSp>
        <p:nvCxnSpPr>
          <p:cNvPr id="7" name="Straight Arrow Connector 20">
            <a:extLst>
              <a:ext uri="{FF2B5EF4-FFF2-40B4-BE49-F238E27FC236}">
                <a16:creationId xmlns:a16="http://schemas.microsoft.com/office/drawing/2014/main" id="{FA0406EB-190B-3A47-C2D9-A43B5E989E2B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 bwMode="auto">
          <a:xfrm flipV="1">
            <a:off x="1744372" y="1944268"/>
            <a:ext cx="682312" cy="1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20">
            <a:extLst>
              <a:ext uri="{FF2B5EF4-FFF2-40B4-BE49-F238E27FC236}">
                <a16:creationId xmlns:a16="http://schemas.microsoft.com/office/drawing/2014/main" id="{67EEE04F-ECE4-4FE1-31B7-6552A270CA73}"/>
              </a:ext>
            </a:extLst>
          </p:cNvPr>
          <p:cNvCxnSpPr>
            <a:cxnSpLocks/>
            <a:stCxn id="17" idx="3"/>
            <a:endCxn id="30" idx="1"/>
          </p:cNvCxnSpPr>
          <p:nvPr/>
        </p:nvCxnSpPr>
        <p:spPr bwMode="auto">
          <a:xfrm>
            <a:off x="3866684" y="1944268"/>
            <a:ext cx="682314" cy="1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Diamond 21">
            <a:extLst>
              <a:ext uri="{FF2B5EF4-FFF2-40B4-BE49-F238E27FC236}">
                <a16:creationId xmlns:a16="http://schemas.microsoft.com/office/drawing/2014/main" id="{BD89BA2E-FD98-7F47-56E0-FB8378ED2569}"/>
              </a:ext>
            </a:extLst>
          </p:cNvPr>
          <p:cNvSpPr/>
          <p:nvPr/>
        </p:nvSpPr>
        <p:spPr>
          <a:xfrm>
            <a:off x="2426684" y="1494268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 Assignment </a:t>
            </a:r>
          </a:p>
        </p:txBody>
      </p:sp>
      <p:sp>
        <p:nvSpPr>
          <p:cNvPr id="21" name="Diamond 21">
            <a:extLst>
              <a:ext uri="{FF2B5EF4-FFF2-40B4-BE49-F238E27FC236}">
                <a16:creationId xmlns:a16="http://schemas.microsoft.com/office/drawing/2014/main" id="{56ABBDA6-1CB5-7D9D-6FED-3A3DAC033F03}"/>
              </a:ext>
            </a:extLst>
          </p:cNvPr>
          <p:cNvSpPr/>
          <p:nvPr/>
        </p:nvSpPr>
        <p:spPr>
          <a:xfrm>
            <a:off x="6671311" y="1494269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System Optimal Routing</a:t>
            </a:r>
            <a:b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 Reassignment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CCD5A0-406F-6236-9321-3D00C494E134}"/>
              </a:ext>
            </a:extLst>
          </p:cNvPr>
          <p:cNvSpPr txBox="1"/>
          <p:nvPr/>
        </p:nvSpPr>
        <p:spPr>
          <a:xfrm>
            <a:off x="2189102" y="987471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 - N</a:t>
            </a:r>
          </a:p>
        </p:txBody>
      </p:sp>
      <p:sp>
        <p:nvSpPr>
          <p:cNvPr id="30" name="Diamond 21">
            <a:extLst>
              <a:ext uri="{FF2B5EF4-FFF2-40B4-BE49-F238E27FC236}">
                <a16:creationId xmlns:a16="http://schemas.microsoft.com/office/drawing/2014/main" id="{D2650A83-07BE-204C-4340-AAF684A90E80}"/>
              </a:ext>
            </a:extLst>
          </p:cNvPr>
          <p:cNvSpPr/>
          <p:nvPr/>
        </p:nvSpPr>
        <p:spPr>
          <a:xfrm>
            <a:off x="4548998" y="1494269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Pre-Screening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for all ATL dispatch cases</a:t>
            </a:r>
          </a:p>
        </p:txBody>
      </p:sp>
      <p:cxnSp>
        <p:nvCxnSpPr>
          <p:cNvPr id="33" name="Straight Arrow Connector 20">
            <a:extLst>
              <a:ext uri="{FF2B5EF4-FFF2-40B4-BE49-F238E27FC236}">
                <a16:creationId xmlns:a16="http://schemas.microsoft.com/office/drawing/2014/main" id="{DDAA2C0C-A59D-614B-D94D-452144CF680E}"/>
              </a:ext>
            </a:extLst>
          </p:cNvPr>
          <p:cNvCxnSpPr>
            <a:cxnSpLocks/>
            <a:stCxn id="30" idx="3"/>
            <a:endCxn id="21" idx="1"/>
          </p:cNvCxnSpPr>
          <p:nvPr/>
        </p:nvCxnSpPr>
        <p:spPr bwMode="auto">
          <a:xfrm>
            <a:off x="5988998" y="1944269"/>
            <a:ext cx="682313" cy="0"/>
          </a:xfrm>
          <a:prstGeom prst="straightConnector1">
            <a:avLst/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B754425-6718-0AB5-B6B0-4C88AA391DEF}"/>
              </a:ext>
            </a:extLst>
          </p:cNvPr>
          <p:cNvSpPr txBox="1"/>
          <p:nvPr/>
        </p:nvSpPr>
        <p:spPr>
          <a:xfrm>
            <a:off x="6433727" y="1030085"/>
            <a:ext cx="1915164" cy="16684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D-1 (3:00 PM)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CBBBFF-6980-2805-7268-68F75DE8F86C}"/>
              </a:ext>
            </a:extLst>
          </p:cNvPr>
          <p:cNvSpPr txBox="1"/>
          <p:nvPr/>
        </p:nvSpPr>
        <p:spPr>
          <a:xfrm>
            <a:off x="4311414" y="1030085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 - N</a:t>
            </a:r>
          </a:p>
        </p:txBody>
      </p:sp>
      <p:sp>
        <p:nvSpPr>
          <p:cNvPr id="27" name="Diamond 21">
            <a:extLst>
              <a:ext uri="{FF2B5EF4-FFF2-40B4-BE49-F238E27FC236}">
                <a16:creationId xmlns:a16="http://schemas.microsoft.com/office/drawing/2014/main" id="{2DA7ABB8-994B-793E-E10C-4DA6E8CDE360}"/>
              </a:ext>
            </a:extLst>
          </p:cNvPr>
          <p:cNvSpPr/>
          <p:nvPr/>
        </p:nvSpPr>
        <p:spPr>
          <a:xfrm>
            <a:off x="2426684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Contact Center</a:t>
            </a:r>
          </a:p>
        </p:txBody>
      </p:sp>
      <p:sp>
        <p:nvSpPr>
          <p:cNvPr id="28" name="Diamond 21">
            <a:extLst>
              <a:ext uri="{FF2B5EF4-FFF2-40B4-BE49-F238E27FC236}">
                <a16:creationId xmlns:a16="http://schemas.microsoft.com/office/drawing/2014/main" id="{4E32444B-0C0B-642B-5853-584E6BC5C8FD}"/>
              </a:ext>
            </a:extLst>
          </p:cNvPr>
          <p:cNvSpPr/>
          <p:nvPr/>
        </p:nvSpPr>
        <p:spPr>
          <a:xfrm>
            <a:off x="6671309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GSFS</a:t>
            </a:r>
          </a:p>
        </p:txBody>
      </p:sp>
      <p:sp>
        <p:nvSpPr>
          <p:cNvPr id="39" name="Diamond 21">
            <a:extLst>
              <a:ext uri="{FF2B5EF4-FFF2-40B4-BE49-F238E27FC236}">
                <a16:creationId xmlns:a16="http://schemas.microsoft.com/office/drawing/2014/main" id="{B08377D3-3DE9-F80B-EF92-C1252F8ED26F}"/>
              </a:ext>
            </a:extLst>
          </p:cNvPr>
          <p:cNvSpPr/>
          <p:nvPr/>
        </p:nvSpPr>
        <p:spPr>
          <a:xfrm>
            <a:off x="4548998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P/S Team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69" name="Diamond 21">
            <a:extLst>
              <a:ext uri="{FF2B5EF4-FFF2-40B4-BE49-F238E27FC236}">
                <a16:creationId xmlns:a16="http://schemas.microsoft.com/office/drawing/2014/main" id="{69659642-FBED-875A-C187-C18842DADF42}"/>
              </a:ext>
            </a:extLst>
          </p:cNvPr>
          <p:cNvSpPr/>
          <p:nvPr/>
        </p:nvSpPr>
        <p:spPr>
          <a:xfrm>
            <a:off x="6671311" y="4424157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Check Updated Information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in GMCS (DMS)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&amp;</a:t>
            </a:r>
            <a:b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</a:b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Parts Order (P/S Team)</a:t>
            </a:r>
          </a:p>
        </p:txBody>
      </p:sp>
      <p:sp>
        <p:nvSpPr>
          <p:cNvPr id="70" name="Diamond 21">
            <a:extLst>
              <a:ext uri="{FF2B5EF4-FFF2-40B4-BE49-F238E27FC236}">
                <a16:creationId xmlns:a16="http://schemas.microsoft.com/office/drawing/2014/main" id="{6E67FD6A-D7AD-629E-D9D4-3631C54DF0B2}"/>
              </a:ext>
            </a:extLst>
          </p:cNvPr>
          <p:cNvSpPr/>
          <p:nvPr/>
        </p:nvSpPr>
        <p:spPr>
          <a:xfrm>
            <a:off x="6666866" y="5316016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 / P/S Team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0E2C20B-F206-DF23-81D4-04F17CD630D7}"/>
              </a:ext>
            </a:extLst>
          </p:cNvPr>
          <p:cNvSpPr txBox="1"/>
          <p:nvPr/>
        </p:nvSpPr>
        <p:spPr>
          <a:xfrm>
            <a:off x="6433727" y="5669567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D-1 (~ 4:00 PM)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ABDF5A-C170-71D3-67BA-12A2475DA8A6}"/>
              </a:ext>
            </a:extLst>
          </p:cNvPr>
          <p:cNvSpPr txBox="1"/>
          <p:nvPr/>
        </p:nvSpPr>
        <p:spPr>
          <a:xfrm>
            <a:off x="9972464" y="1030085"/>
            <a:ext cx="1915164" cy="1702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 - Day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1E23527-8C3F-A4F4-720C-25E46FB68B35}"/>
              </a:ext>
            </a:extLst>
          </p:cNvPr>
          <p:cNvCxnSpPr>
            <a:cxnSpLocks/>
            <a:stCxn id="69" idx="3"/>
            <a:endCxn id="5" idx="1"/>
          </p:cNvCxnSpPr>
          <p:nvPr/>
        </p:nvCxnSpPr>
        <p:spPr>
          <a:xfrm flipV="1">
            <a:off x="8111311" y="1944269"/>
            <a:ext cx="2098735" cy="2929888"/>
          </a:xfrm>
          <a:prstGeom prst="bentConnector3">
            <a:avLst>
              <a:gd name="adj1" fmla="val 50000"/>
            </a:avLst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Diamond 21">
            <a:extLst>
              <a:ext uri="{FF2B5EF4-FFF2-40B4-BE49-F238E27FC236}">
                <a16:creationId xmlns:a16="http://schemas.microsoft.com/office/drawing/2014/main" id="{D27E796A-6659-0D0D-4CEC-45192BF134A3}"/>
              </a:ext>
            </a:extLst>
          </p:cNvPr>
          <p:cNvSpPr/>
          <p:nvPr/>
        </p:nvSpPr>
        <p:spPr>
          <a:xfrm>
            <a:off x="10210046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</a:t>
            </a:r>
          </a:p>
        </p:txBody>
      </p:sp>
      <p:sp>
        <p:nvSpPr>
          <p:cNvPr id="29" name="Diamond 21">
            <a:extLst>
              <a:ext uri="{FF2B5EF4-FFF2-40B4-BE49-F238E27FC236}">
                <a16:creationId xmlns:a16="http://schemas.microsoft.com/office/drawing/2014/main" id="{73EBA09C-84FC-80A7-F4F2-671335989CA8}"/>
              </a:ext>
            </a:extLst>
          </p:cNvPr>
          <p:cNvSpPr/>
          <p:nvPr/>
        </p:nvSpPr>
        <p:spPr>
          <a:xfrm>
            <a:off x="304372" y="2396431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Contact</a:t>
            </a:r>
            <a:r>
              <a:rPr kumimoji="0" lang="ko-KR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Center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B084FC-B234-D88A-1899-9F07B29F8658}"/>
              </a:ext>
            </a:extLst>
          </p:cNvPr>
          <p:cNvSpPr txBox="1"/>
          <p:nvPr/>
        </p:nvSpPr>
        <p:spPr>
          <a:xfrm>
            <a:off x="2426684" y="2844267"/>
            <a:ext cx="2643030" cy="649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ATL DMS</a:t>
            </a:r>
            <a:r>
              <a:rPr lang="ko-KR" altLang="en-US" sz="900" b="0" dirty="0">
                <a:solidFill>
                  <a:srgbClr val="006600"/>
                </a:solidFill>
              </a:rPr>
              <a:t> </a:t>
            </a:r>
            <a:r>
              <a:rPr lang="en-US" altLang="ko-KR" sz="900" b="0" dirty="0">
                <a:solidFill>
                  <a:srgbClr val="006600"/>
                </a:solidFill>
              </a:rPr>
              <a:t>slot per tech,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SVC product code check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All DMSTs’ zip code open for all ATL market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(GSFS)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1E0DB-8508-2758-695A-88405A1CD6C7}"/>
              </a:ext>
            </a:extLst>
          </p:cNvPr>
          <p:cNvSpPr txBox="1"/>
          <p:nvPr/>
        </p:nvSpPr>
        <p:spPr>
          <a:xfrm>
            <a:off x="9068891" y="5332673"/>
            <a:ext cx="3027859" cy="4864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en-US" altLang="ko-KR" sz="900" b="0" dirty="0">
                <a:solidFill>
                  <a:schemeClr val="tx1"/>
                </a:solidFill>
              </a:rPr>
              <a:t>※ ATL DMST Training</a:t>
            </a:r>
            <a:br>
              <a:rPr lang="en-US" altLang="ko-KR" sz="900" b="0" dirty="0">
                <a:solidFill>
                  <a:schemeClr val="tx1"/>
                </a:solidFill>
              </a:rPr>
            </a:br>
            <a:r>
              <a:rPr lang="en-US" altLang="ko-KR" sz="900" b="0" dirty="0">
                <a:solidFill>
                  <a:schemeClr val="tx1"/>
                </a:solidFill>
              </a:rPr>
              <a:t> - Note them this change, not to change or save until distribute the calls</a:t>
            </a:r>
            <a:br>
              <a:rPr lang="en-US" altLang="ko-KR" sz="900" b="0" dirty="0">
                <a:solidFill>
                  <a:schemeClr val="tx1"/>
                </a:solidFill>
              </a:rPr>
            </a:br>
            <a:r>
              <a:rPr lang="en-US" altLang="ko-KR" sz="900" b="0" dirty="0">
                <a:solidFill>
                  <a:schemeClr val="tx1"/>
                </a:solidFill>
              </a:rPr>
              <a:t> - Blocking them for P/S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BEEB1A-F909-1E2E-142A-90595D21D319}"/>
              </a:ext>
            </a:extLst>
          </p:cNvPr>
          <p:cNvSpPr txBox="1"/>
          <p:nvPr/>
        </p:nvSpPr>
        <p:spPr>
          <a:xfrm>
            <a:off x="6666866" y="2844267"/>
            <a:ext cx="2369555" cy="98142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DMS PTO, leave check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(check with slot count for next day)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on 3PM HSV download GSFS dispatch cases data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→ input on routing algorithm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Based on AI routing, distribute calls to each tech</a:t>
            </a:r>
          </a:p>
          <a:p>
            <a:pPr>
              <a:buNone/>
            </a:pPr>
            <a:endParaRPr lang="en-US" altLang="ko-KR" sz="900" b="0" dirty="0">
              <a:solidFill>
                <a:srgbClr val="0066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860BC-529F-7587-43C2-1F620C9D1CFE}"/>
              </a:ext>
            </a:extLst>
          </p:cNvPr>
          <p:cNvSpPr txBox="1"/>
          <p:nvPr/>
        </p:nvSpPr>
        <p:spPr>
          <a:xfrm>
            <a:off x="4548997" y="2844267"/>
            <a:ext cx="1435556" cy="3166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Light duty tech P/S for all ATL</a:t>
            </a:r>
            <a:br>
              <a:rPr lang="en-US" altLang="ko-KR" sz="900" b="0" dirty="0">
                <a:solidFill>
                  <a:srgbClr val="006600"/>
                </a:solidFill>
              </a:rPr>
            </a:br>
            <a:r>
              <a:rPr lang="en-US" altLang="ko-KR" sz="900" b="0" dirty="0">
                <a:solidFill>
                  <a:srgbClr val="006600"/>
                </a:solidFill>
              </a:rPr>
              <a:t>dispatch cases (GSFS)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C7AE4-B8C3-17D1-2A0A-1506AD23DCB7}"/>
              </a:ext>
            </a:extLst>
          </p:cNvPr>
          <p:cNvSpPr txBox="1"/>
          <p:nvPr/>
        </p:nvSpPr>
        <p:spPr>
          <a:xfrm>
            <a:off x="6671310" y="5899391"/>
            <a:ext cx="1435556" cy="4828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900" b="0" dirty="0">
                <a:solidFill>
                  <a:srgbClr val="006600"/>
                </a:solidFill>
              </a:rPr>
              <a:t>Based on Promise date, D-1 light duty tech P/S &amp; part order before 4pm</a:t>
            </a:r>
          </a:p>
        </p:txBody>
      </p:sp>
      <p:sp>
        <p:nvSpPr>
          <p:cNvPr id="25" name="Diamond 21">
            <a:extLst>
              <a:ext uri="{FF2B5EF4-FFF2-40B4-BE49-F238E27FC236}">
                <a16:creationId xmlns:a16="http://schemas.microsoft.com/office/drawing/2014/main" id="{A819B65D-52B4-10EC-3A13-35968DA58A35}"/>
              </a:ext>
            </a:extLst>
          </p:cNvPr>
          <p:cNvSpPr/>
          <p:nvPr/>
        </p:nvSpPr>
        <p:spPr>
          <a:xfrm>
            <a:off x="8348893" y="1494269"/>
            <a:ext cx="72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Algorithm</a:t>
            </a:r>
          </a:p>
        </p:txBody>
      </p:sp>
      <p:sp>
        <p:nvSpPr>
          <p:cNvPr id="34" name="Diamond 21">
            <a:extLst>
              <a:ext uri="{FF2B5EF4-FFF2-40B4-BE49-F238E27FC236}">
                <a16:creationId xmlns:a16="http://schemas.microsoft.com/office/drawing/2014/main" id="{A1756A50-BB50-ECA9-BC9F-B9F636828F54}"/>
              </a:ext>
            </a:extLst>
          </p:cNvPr>
          <p:cNvSpPr/>
          <p:nvPr/>
        </p:nvSpPr>
        <p:spPr>
          <a:xfrm>
            <a:off x="8348891" y="2396431"/>
            <a:ext cx="72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Analysis Server</a:t>
            </a: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460A5AD1-65AC-5F39-2431-8DFD2A659859}"/>
              </a:ext>
            </a:extLst>
          </p:cNvPr>
          <p:cNvCxnSpPr>
            <a:cxnSpLocks/>
            <a:stCxn id="21" idx="0"/>
            <a:endCxn id="25" idx="0"/>
          </p:cNvCxnSpPr>
          <p:nvPr/>
        </p:nvCxnSpPr>
        <p:spPr>
          <a:xfrm rot="5400000" flipH="1" flipV="1">
            <a:off x="8050102" y="835478"/>
            <a:ext cx="12700" cy="1317582"/>
          </a:xfrm>
          <a:prstGeom prst="bentConnector3">
            <a:avLst>
              <a:gd name="adj1" fmla="val 1800000"/>
            </a:avLst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280BD821-A881-D125-185C-539C38CB3A57}"/>
              </a:ext>
            </a:extLst>
          </p:cNvPr>
          <p:cNvCxnSpPr>
            <a:cxnSpLocks/>
            <a:stCxn id="34" idx="2"/>
            <a:endCxn id="21" idx="3"/>
          </p:cNvCxnSpPr>
          <p:nvPr/>
        </p:nvCxnSpPr>
        <p:spPr>
          <a:xfrm rot="5400000" flipH="1">
            <a:off x="8094020" y="1961560"/>
            <a:ext cx="632162" cy="597580"/>
          </a:xfrm>
          <a:prstGeom prst="bentConnector4">
            <a:avLst>
              <a:gd name="adj1" fmla="val -36162"/>
              <a:gd name="adj2" fmla="val 80121"/>
            </a:avLst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80C6198-0F38-8BEE-759C-6CCF455615D2}"/>
              </a:ext>
            </a:extLst>
          </p:cNvPr>
          <p:cNvSpPr txBox="1"/>
          <p:nvPr/>
        </p:nvSpPr>
        <p:spPr>
          <a:xfrm>
            <a:off x="8787686" y="2613001"/>
            <a:ext cx="2369555" cy="15042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>
              <a:buNone/>
            </a:pPr>
            <a:r>
              <a:rPr lang="en-US" altLang="ko-KR" sz="900" b="0" dirty="0">
                <a:solidFill>
                  <a:srgbClr val="006600"/>
                </a:solidFill>
              </a:rPr>
              <a:t>Routing result by DMS (Repair Route / Order)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BA2F9B-7B58-93E2-8592-AE9C581C5CD4}"/>
              </a:ext>
            </a:extLst>
          </p:cNvPr>
          <p:cNvSpPr/>
          <p:nvPr/>
        </p:nvSpPr>
        <p:spPr>
          <a:xfrm>
            <a:off x="6509084" y="946268"/>
            <a:ext cx="2753767" cy="1941311"/>
          </a:xfrm>
          <a:prstGeom prst="rect">
            <a:avLst/>
          </a:prstGeom>
          <a:solidFill>
            <a:srgbClr val="CC0066">
              <a:alpha val="30196"/>
            </a:srgbClr>
          </a:solidFill>
          <a:ln>
            <a:solidFill>
              <a:srgbClr val="CC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60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F88416-8CF9-EEF8-7B08-21B545D9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445B16-CFEE-FEEA-F035-59F54E7F12ED}"/>
              </a:ext>
            </a:extLst>
          </p:cNvPr>
          <p:cNvSpPr txBox="1"/>
          <p:nvPr/>
        </p:nvSpPr>
        <p:spPr>
          <a:xfrm>
            <a:off x="154563" y="108750"/>
            <a:ext cx="40033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US Intelligent Timetable Operation Process – I/F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F0452-F283-4740-74E9-EFBA2DE6AEAE}"/>
              </a:ext>
            </a:extLst>
          </p:cNvPr>
          <p:cNvSpPr txBox="1"/>
          <p:nvPr/>
        </p:nvSpPr>
        <p:spPr>
          <a:xfrm>
            <a:off x="304372" y="599442"/>
            <a:ext cx="973343" cy="346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【 Process 】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Narrow" panose="020B0606020202030204" pitchFamily="34" charset="0"/>
              <a:ea typeface="LG스마트체 Regular" panose="020B0600000101010101" pitchFamily="50" charset="-127"/>
              <a:cs typeface="+mn-cs"/>
            </a:endParaRPr>
          </a:p>
        </p:txBody>
      </p:sp>
      <p:sp>
        <p:nvSpPr>
          <p:cNvPr id="9" name="Diamond 21">
            <a:extLst>
              <a:ext uri="{FF2B5EF4-FFF2-40B4-BE49-F238E27FC236}">
                <a16:creationId xmlns:a16="http://schemas.microsoft.com/office/drawing/2014/main" id="{B6346829-1257-C0B1-4860-45A1F225A1D7}"/>
              </a:ext>
            </a:extLst>
          </p:cNvPr>
          <p:cNvSpPr/>
          <p:nvPr/>
        </p:nvSpPr>
        <p:spPr>
          <a:xfrm>
            <a:off x="444969" y="1752948"/>
            <a:ext cx="144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System Optimal Routing</a:t>
            </a:r>
            <a:b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900" b="1" dirty="0">
                <a:solidFill>
                  <a:prstClr val="black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DMS Reassignment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6B94C3-D2D4-C6E2-DC0E-5FB9BDF9D629}"/>
              </a:ext>
            </a:extLst>
          </p:cNvPr>
          <p:cNvSpPr txBox="1"/>
          <p:nvPr/>
        </p:nvSpPr>
        <p:spPr>
          <a:xfrm>
            <a:off x="207385" y="1288764"/>
            <a:ext cx="1915164" cy="16684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D-1 (3:00 PM)</a:t>
            </a:r>
          </a:p>
        </p:txBody>
      </p:sp>
      <p:sp>
        <p:nvSpPr>
          <p:cNvPr id="16" name="Diamond 21">
            <a:extLst>
              <a:ext uri="{FF2B5EF4-FFF2-40B4-BE49-F238E27FC236}">
                <a16:creationId xmlns:a16="http://schemas.microsoft.com/office/drawing/2014/main" id="{9B601ADD-91C3-8E4D-B98D-E4D28A8AC515}"/>
              </a:ext>
            </a:extLst>
          </p:cNvPr>
          <p:cNvSpPr/>
          <p:nvPr/>
        </p:nvSpPr>
        <p:spPr>
          <a:xfrm>
            <a:off x="444967" y="2655110"/>
            <a:ext cx="1440000" cy="180000"/>
          </a:xfrm>
          <a:prstGeom prst="rect">
            <a:avLst/>
          </a:prstGeom>
          <a:solidFill>
            <a:srgbClr val="FFFFCC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GSFS</a:t>
            </a:r>
          </a:p>
        </p:txBody>
      </p:sp>
      <p:sp>
        <p:nvSpPr>
          <p:cNvPr id="19" name="Diamond 21">
            <a:extLst>
              <a:ext uri="{FF2B5EF4-FFF2-40B4-BE49-F238E27FC236}">
                <a16:creationId xmlns:a16="http://schemas.microsoft.com/office/drawing/2014/main" id="{42AA1078-C9D3-FA2A-8385-AF544DCD7DFC}"/>
              </a:ext>
            </a:extLst>
          </p:cNvPr>
          <p:cNvSpPr/>
          <p:nvPr/>
        </p:nvSpPr>
        <p:spPr>
          <a:xfrm>
            <a:off x="2122551" y="1752948"/>
            <a:ext cx="720000" cy="90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Algorithm</a:t>
            </a:r>
          </a:p>
        </p:txBody>
      </p:sp>
      <p:sp>
        <p:nvSpPr>
          <p:cNvPr id="20" name="Diamond 21">
            <a:extLst>
              <a:ext uri="{FF2B5EF4-FFF2-40B4-BE49-F238E27FC236}">
                <a16:creationId xmlns:a16="http://schemas.microsoft.com/office/drawing/2014/main" id="{00984559-01BE-EA53-F61A-0EAAA2132395}"/>
              </a:ext>
            </a:extLst>
          </p:cNvPr>
          <p:cNvSpPr/>
          <p:nvPr/>
        </p:nvSpPr>
        <p:spPr>
          <a:xfrm>
            <a:off x="2122549" y="2655110"/>
            <a:ext cx="720000" cy="18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arrow" panose="020B0606020202030204" pitchFamily="34" charset="0"/>
                <a:ea typeface="LG스마트체 Regular" panose="020B0600000101010101" pitchFamily="50" charset="-127"/>
                <a:cs typeface="+mn-cs"/>
              </a:rPr>
              <a:t>Analysis Server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F5CD731F-020F-37B2-B458-71474006EDA0}"/>
              </a:ext>
            </a:extLst>
          </p:cNvPr>
          <p:cNvCxnSpPr>
            <a:cxnSpLocks/>
            <a:stCxn id="9" idx="0"/>
            <a:endCxn id="19" idx="0"/>
          </p:cNvCxnSpPr>
          <p:nvPr/>
        </p:nvCxnSpPr>
        <p:spPr>
          <a:xfrm rot="5400000" flipH="1" flipV="1">
            <a:off x="1823760" y="1094157"/>
            <a:ext cx="12700" cy="1317582"/>
          </a:xfrm>
          <a:prstGeom prst="bentConnector3">
            <a:avLst>
              <a:gd name="adj1" fmla="val 1800000"/>
            </a:avLst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7AFE1158-B245-5038-ADB7-3DFE3294861B}"/>
              </a:ext>
            </a:extLst>
          </p:cNvPr>
          <p:cNvCxnSpPr>
            <a:cxnSpLocks/>
            <a:stCxn id="20" idx="2"/>
            <a:endCxn id="9" idx="3"/>
          </p:cNvCxnSpPr>
          <p:nvPr/>
        </p:nvCxnSpPr>
        <p:spPr>
          <a:xfrm rot="5400000" flipH="1">
            <a:off x="1867678" y="2220239"/>
            <a:ext cx="632162" cy="597580"/>
          </a:xfrm>
          <a:prstGeom prst="bentConnector4">
            <a:avLst>
              <a:gd name="adj1" fmla="val -36162"/>
              <a:gd name="adj2" fmla="val 80121"/>
            </a:avLst>
          </a:prstGeom>
          <a:solidFill>
            <a:srgbClr val="FFFFFF"/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16A8AE42-CF83-7875-6562-1ED39C1CA0DA}"/>
              </a:ext>
            </a:extLst>
          </p:cNvPr>
          <p:cNvGrpSpPr/>
          <p:nvPr/>
        </p:nvGrpSpPr>
        <p:grpSpPr>
          <a:xfrm>
            <a:off x="5933372" y="1532880"/>
            <a:ext cx="1440000" cy="4317152"/>
            <a:chOff x="5807040" y="991458"/>
            <a:chExt cx="1440000" cy="4317152"/>
          </a:xfrm>
        </p:grpSpPr>
        <p:sp>
          <p:nvSpPr>
            <p:cNvPr id="32" name="Diamond 21">
              <a:extLst>
                <a:ext uri="{FF2B5EF4-FFF2-40B4-BE49-F238E27FC236}">
                  <a16:creationId xmlns:a16="http://schemas.microsoft.com/office/drawing/2014/main" id="{C0B4D01B-839F-EAA3-59FB-E2885193399D}"/>
                </a:ext>
              </a:extLst>
            </p:cNvPr>
            <p:cNvSpPr/>
            <p:nvPr/>
          </p:nvSpPr>
          <p:spPr>
            <a:xfrm>
              <a:off x="5807040" y="991458"/>
              <a:ext cx="1440000" cy="41354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System Optimal Routing</a:t>
              </a:r>
              <a:br>
                <a:rPr lang="en-US" altLang="ko-KR" sz="9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</a:br>
              <a:r>
                <a:rPr lang="en-US" altLang="ko-KR" sz="9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/</a:t>
              </a:r>
              <a:r>
                <a:rPr lang="ko-KR" altLang="en-US" sz="900" b="1" dirty="0">
                  <a:solidFill>
                    <a:prstClr val="black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DMS Reassignment</a:t>
              </a:r>
            </a:p>
          </p:txBody>
        </p:sp>
        <p:sp>
          <p:nvSpPr>
            <p:cNvPr id="37" name="Diamond 21">
              <a:extLst>
                <a:ext uri="{FF2B5EF4-FFF2-40B4-BE49-F238E27FC236}">
                  <a16:creationId xmlns:a16="http://schemas.microsoft.com/office/drawing/2014/main" id="{C7FFFADC-5584-5D9D-7AEA-786E0CFA417E}"/>
                </a:ext>
              </a:extLst>
            </p:cNvPr>
            <p:cNvSpPr/>
            <p:nvPr/>
          </p:nvSpPr>
          <p:spPr>
            <a:xfrm>
              <a:off x="5807040" y="5128610"/>
              <a:ext cx="1440000" cy="180000"/>
            </a:xfrm>
            <a:prstGeom prst="rect">
              <a:avLst/>
            </a:prstGeom>
            <a:solidFill>
              <a:srgbClr val="FFFFCC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GSFS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BED8633-3EC2-8E26-2F58-5113843E9B6B}"/>
              </a:ext>
            </a:extLst>
          </p:cNvPr>
          <p:cNvGrpSpPr/>
          <p:nvPr/>
        </p:nvGrpSpPr>
        <p:grpSpPr>
          <a:xfrm>
            <a:off x="9709449" y="1532880"/>
            <a:ext cx="720000" cy="4317152"/>
            <a:chOff x="8663719" y="991458"/>
            <a:chExt cx="720000" cy="4317152"/>
          </a:xfrm>
        </p:grpSpPr>
        <p:sp>
          <p:nvSpPr>
            <p:cNvPr id="36" name="Diamond 21">
              <a:extLst>
                <a:ext uri="{FF2B5EF4-FFF2-40B4-BE49-F238E27FC236}">
                  <a16:creationId xmlns:a16="http://schemas.microsoft.com/office/drawing/2014/main" id="{F6ADC740-6ECD-BF24-501D-C60AD6C4137A}"/>
                </a:ext>
              </a:extLst>
            </p:cNvPr>
            <p:cNvSpPr/>
            <p:nvPr/>
          </p:nvSpPr>
          <p:spPr>
            <a:xfrm>
              <a:off x="8663719" y="991458"/>
              <a:ext cx="720000" cy="41354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Algorithm</a:t>
              </a:r>
            </a:p>
          </p:txBody>
        </p:sp>
        <p:sp>
          <p:nvSpPr>
            <p:cNvPr id="42" name="Diamond 21">
              <a:extLst>
                <a:ext uri="{FF2B5EF4-FFF2-40B4-BE49-F238E27FC236}">
                  <a16:creationId xmlns:a16="http://schemas.microsoft.com/office/drawing/2014/main" id="{9873E2C7-F34A-4DAB-1D3F-9B0F278FD878}"/>
                </a:ext>
              </a:extLst>
            </p:cNvPr>
            <p:cNvSpPr/>
            <p:nvPr/>
          </p:nvSpPr>
          <p:spPr>
            <a:xfrm>
              <a:off x="8663719" y="5128610"/>
              <a:ext cx="720000" cy="18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 panose="020B0606020202030204" pitchFamily="34" charset="0"/>
                  <a:ea typeface="LG스마트체 Regular" panose="020B0600000101010101" pitchFamily="50" charset="-127"/>
                  <a:cs typeface="+mn-cs"/>
                </a:rPr>
                <a:t>Analysis Server</a:t>
              </a:r>
            </a:p>
          </p:txBody>
        </p:sp>
      </p:grp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C452CBE-E18C-8A62-C894-5F206DDCE129}"/>
              </a:ext>
            </a:extLst>
          </p:cNvPr>
          <p:cNvCxnSpPr>
            <a:cxnSpLocks/>
          </p:cNvCxnSpPr>
          <p:nvPr/>
        </p:nvCxnSpPr>
        <p:spPr>
          <a:xfrm flipH="1">
            <a:off x="7477626" y="3484875"/>
            <a:ext cx="2057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604A294-61B5-E6F2-A1DA-4B2ED1F80331}"/>
              </a:ext>
            </a:extLst>
          </p:cNvPr>
          <p:cNvSpPr txBox="1"/>
          <p:nvPr/>
        </p:nvSpPr>
        <p:spPr>
          <a:xfrm>
            <a:off x="7588631" y="2528031"/>
            <a:ext cx="1297150" cy="553998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2.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라우팅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데이터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요청 </a:t>
            </a:r>
            <a:b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</a:b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라우팅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id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대상 도시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날짜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E924484C-AC68-9A16-356B-3141D359CC01}"/>
              </a:ext>
            </a:extLst>
          </p:cNvPr>
          <p:cNvCxnSpPr>
            <a:cxnSpLocks/>
          </p:cNvCxnSpPr>
          <p:nvPr/>
        </p:nvCxnSpPr>
        <p:spPr>
          <a:xfrm>
            <a:off x="7477626" y="4703574"/>
            <a:ext cx="19872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BE6ADA2-71A7-67B2-4D32-BBE182B55662}"/>
              </a:ext>
            </a:extLst>
          </p:cNvPr>
          <p:cNvSpPr txBox="1"/>
          <p:nvPr/>
        </p:nvSpPr>
        <p:spPr>
          <a:xfrm>
            <a:off x="7588631" y="3755831"/>
            <a:ext cx="2049410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3.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라우팅 데이터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회신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라우팅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id/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대상 도시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/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날짜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- W/P RNN list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기사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list (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당일 </a:t>
            </a:r>
            <a:r>
              <a:rPr lang="en-US" altLang="ko-KR" sz="10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Capa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가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0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이상인 인원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)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-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기사별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Product repair flag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2A7717-88E5-73A3-804B-CB12BFE95BF1}"/>
              </a:ext>
            </a:extLst>
          </p:cNvPr>
          <p:cNvSpPr txBox="1"/>
          <p:nvPr/>
        </p:nvSpPr>
        <p:spPr>
          <a:xfrm>
            <a:off x="7265911" y="1166664"/>
            <a:ext cx="1915164" cy="16684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indent="0" fontAlgn="auto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  <a:defRPr kumimoji="0" sz="11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defRPr>
            </a:lvl1pPr>
          </a:lstStyle>
          <a:p>
            <a:pPr algn="ctr">
              <a:buNone/>
            </a:pPr>
            <a:r>
              <a:rPr lang="en-US" altLang="ko-KR" sz="1000" dirty="0">
                <a:solidFill>
                  <a:srgbClr val="C00000"/>
                </a:solidFill>
              </a:rPr>
              <a:t>D-1 (3:00 PM)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25DDEA5-E40D-DBDA-60BA-596B82F55E57}"/>
              </a:ext>
            </a:extLst>
          </p:cNvPr>
          <p:cNvSpPr txBox="1"/>
          <p:nvPr/>
        </p:nvSpPr>
        <p:spPr>
          <a:xfrm>
            <a:off x="7351051" y="3056410"/>
            <a:ext cx="218521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ex) 4/20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호출 시 주말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/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공휴일을 건너뛰고</a:t>
            </a:r>
            <a:b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</a:b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   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다음 날</a:t>
            </a: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</a:t>
            </a:r>
            <a:r>
              <a:rPr lang="ko-KR" altLang="en-US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데이터 요청</a:t>
            </a:r>
            <a:b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</a:br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   </a:t>
            </a:r>
            <a:endParaRPr lang="ko-KR" altLang="en-US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225CF32-A290-6997-4E88-B85D83A21BB5}"/>
              </a:ext>
            </a:extLst>
          </p:cNvPr>
          <p:cNvCxnSpPr>
            <a:cxnSpLocks/>
          </p:cNvCxnSpPr>
          <p:nvPr/>
        </p:nvCxnSpPr>
        <p:spPr>
          <a:xfrm>
            <a:off x="3056019" y="1528866"/>
            <a:ext cx="235818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E40F44A-EB71-6825-5227-AEB9B3A5A854}"/>
              </a:ext>
            </a:extLst>
          </p:cNvPr>
          <p:cNvCxnSpPr>
            <a:cxnSpLocks/>
          </p:cNvCxnSpPr>
          <p:nvPr/>
        </p:nvCxnSpPr>
        <p:spPr>
          <a:xfrm>
            <a:off x="3056019" y="2998724"/>
            <a:ext cx="2358189" cy="28513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F335770F-31C3-2C5C-5068-7B67B240D5C4}"/>
              </a:ext>
            </a:extLst>
          </p:cNvPr>
          <p:cNvCxnSpPr>
            <a:cxnSpLocks/>
          </p:cNvCxnSpPr>
          <p:nvPr/>
        </p:nvCxnSpPr>
        <p:spPr>
          <a:xfrm flipH="1">
            <a:off x="7477626" y="5771824"/>
            <a:ext cx="2057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BD9906C4-46C2-AF47-1FF7-4BD15F61E8A4}"/>
              </a:ext>
            </a:extLst>
          </p:cNvPr>
          <p:cNvSpPr txBox="1"/>
          <p:nvPr/>
        </p:nvSpPr>
        <p:spPr>
          <a:xfrm>
            <a:off x="7588631" y="5127826"/>
            <a:ext cx="1752403" cy="553998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4.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최적의 </a:t>
            </a:r>
            <a:r>
              <a:rPr lang="ko-KR" altLang="en-US" sz="1000" dirty="0" err="1">
                <a:latin typeface="Arial Narrow" panose="020B0606020202030204" pitchFamily="34" charset="0"/>
                <a:ea typeface="LG스마트체 Regular" panose="020B0600000101010101" pitchFamily="34" charset="-127"/>
              </a:rPr>
              <a:t>기사별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수리번호 전송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라우팅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id</a:t>
            </a:r>
          </a:p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사번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/ RNN list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47F106-0E33-60F5-D5F9-3D0CE4C8946A}"/>
              </a:ext>
            </a:extLst>
          </p:cNvPr>
          <p:cNvSpPr txBox="1"/>
          <p:nvPr/>
        </p:nvSpPr>
        <p:spPr>
          <a:xfrm>
            <a:off x="5969953" y="5078899"/>
            <a:ext cx="1367216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4. 3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번 결과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GSFS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에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update</a:t>
            </a:r>
            <a:endParaRPr lang="ko-KR" altLang="en-US" sz="10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CF90362-F42C-8322-CCA8-73951BEB45F6}"/>
              </a:ext>
            </a:extLst>
          </p:cNvPr>
          <p:cNvCxnSpPr>
            <a:cxnSpLocks/>
          </p:cNvCxnSpPr>
          <p:nvPr/>
        </p:nvCxnSpPr>
        <p:spPr>
          <a:xfrm>
            <a:off x="7477626" y="1877319"/>
            <a:ext cx="19872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CEFDE30-29A1-FF15-4FD6-CD08A9B9FE02}"/>
              </a:ext>
            </a:extLst>
          </p:cNvPr>
          <p:cNvSpPr txBox="1"/>
          <p:nvPr/>
        </p:nvSpPr>
        <p:spPr>
          <a:xfrm>
            <a:off x="7588631" y="1421309"/>
            <a:ext cx="1154483" cy="4001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1.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라우팅 준비 요청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  <a:p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 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-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34" charset="-127"/>
              </a:rPr>
              <a:t>대상 도시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13E951-D0B2-B584-8B9B-D1E2146309D2}"/>
              </a:ext>
            </a:extLst>
          </p:cNvPr>
          <p:cNvSpPr txBox="1"/>
          <p:nvPr/>
        </p:nvSpPr>
        <p:spPr>
          <a:xfrm>
            <a:off x="7327227" y="1926202"/>
            <a:ext cx="241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주마다 공휴일이 다르므로 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10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개 전략도시에 </a:t>
            </a:r>
            <a:endParaRPr lang="en-US" altLang="ko-KR" sz="1000" dirty="0">
              <a:solidFill>
                <a:srgbClr val="FF0000"/>
              </a:solidFill>
              <a:latin typeface="Arial Narrow" panose="020B0606020202030204" pitchFamily="34" charset="0"/>
              <a:ea typeface="LG스마트체 Regular" panose="020B0600000101010101" pitchFamily="34" charset="-127"/>
            </a:endParaRPr>
          </a:p>
          <a:p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대한 라우팅을 각각 따로 실행 해야함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08B742-7791-9188-128D-B19ADAD5D698}"/>
              </a:ext>
            </a:extLst>
          </p:cNvPr>
          <p:cNvSpPr txBox="1"/>
          <p:nvPr/>
        </p:nvSpPr>
        <p:spPr>
          <a:xfrm>
            <a:off x="7327227" y="5851876"/>
            <a:ext cx="247054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(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이미 라우팅을 한 기록이 있는 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RNN 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번호는</a:t>
            </a:r>
            <a:b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</a:b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기사를 변경하지 않고 고정함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.</a:t>
            </a:r>
          </a:p>
          <a:p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단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파일럿 테스트 시에는 수동으로 체크 가능</a:t>
            </a:r>
            <a:r>
              <a:rPr lang="en-US" altLang="ko-KR" sz="1000" dirty="0">
                <a:solidFill>
                  <a:srgbClr val="FF0000"/>
                </a:solidFill>
                <a:latin typeface="Arial Narrow" panose="020B0606020202030204" pitchFamily="34" charset="0"/>
                <a:ea typeface="LG스마트체 Regular" panose="020B0600000101010101" pitchFamily="34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1220829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6295b5-5de2-4756-a0a6-95b34bbe7489" xsi:nil="true"/>
    <lcf76f155ced4ddcb4097134ff3c332f xmlns="9caeb2e5-d126-42e2-8717-18fe2ea65dc5">
      <Terms xmlns="http://schemas.microsoft.com/office/infopath/2007/PartnerControls"/>
    </lcf76f155ced4ddcb4097134ff3c332f>
    <_xbc95__xc778_ xmlns="9caeb2e5-d126-42e2-8717-18fe2ea65dc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7E3DFB345DAC74393F3F09E88971F90" ma:contentTypeVersion="17" ma:contentTypeDescription="새 문서를 만듭니다." ma:contentTypeScope="" ma:versionID="d50e2acdbd873137b5531f70b23ed6ea">
  <xsd:schema xmlns:xsd="http://www.w3.org/2001/XMLSchema" xmlns:xs="http://www.w3.org/2001/XMLSchema" xmlns:p="http://schemas.microsoft.com/office/2006/metadata/properties" xmlns:ns2="9caeb2e5-d126-42e2-8717-18fe2ea65dc5" xmlns:ns3="346295b5-5de2-4756-a0a6-95b34bbe7489" targetNamespace="http://schemas.microsoft.com/office/2006/metadata/properties" ma:root="true" ma:fieldsID="20325a95580438f7e1f96955de930690" ns2:_="" ns3:_="">
    <xsd:import namespace="9caeb2e5-d126-42e2-8717-18fe2ea65dc5"/>
    <xsd:import namespace="346295b5-5de2-4756-a0a6-95b34bbe74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OCR" minOccurs="0"/>
                <xsd:element ref="ns2:MediaServiceLocation" minOccurs="0"/>
                <xsd:element ref="ns2:_xbc95__xc778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aeb2e5-d126-42e2-8717-18fe2ea65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7fbd4038-13c0-4266-8e70-5a68fe662a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_xbc95__xc778_" ma:index="23" nillable="true" ma:displayName="지역" ma:format="Dropdown" ma:internalName="_xbc95__xc778_">
      <xsd:simpleType>
        <xsd:union memberTypes="dms:Text">
          <xsd:simpleType>
            <xsd:restriction base="dms:Choice">
              <xsd:enumeration value="미국"/>
              <xsd:enumeration value="캐나다"/>
              <xsd:enumeration value="브라질"/>
              <xsd:enumeration value="인도"/>
              <xsd:enumeration value="한국"/>
              <xsd:enumeration value="북미"/>
              <xsd:enumeration value="중남미"/>
              <xsd:enumeration value="아시아"/>
              <xsd:enumeration value="유럽"/>
              <xsd:enumeration value="중아"/>
            </xsd:restriction>
          </xsd:simpleType>
        </xsd:un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295b5-5de2-4756-a0a6-95b34bbe748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ae43a0f7-8a50-4b7a-8607-fd0225027744}" ma:internalName="TaxCatchAll" ma:showField="CatchAllData" ma:web="346295b5-5de2-4756-a0a6-95b34bbe74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2C230E-E8A1-4F37-9AD3-2AA9F24B7D91}">
  <ds:schemaRefs>
    <ds:schemaRef ds:uri="http://schemas.microsoft.com/office/infopath/2007/PartnerControls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346295b5-5de2-4756-a0a6-95b34bbe7489"/>
    <ds:schemaRef ds:uri="9caeb2e5-d126-42e2-8717-18fe2ea65dc5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E535E27-5A3F-4B8F-85A6-F62C34FEC1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E539CD7-ABD9-4092-A192-702F12DE2D04}">
  <ds:schemaRefs>
    <ds:schemaRef ds:uri="346295b5-5de2-4756-a0a6-95b34bbe7489"/>
    <ds:schemaRef ds:uri="9caeb2e5-d126-42e2-8717-18fe2ea65d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41806</TotalTime>
  <Words>403</Words>
  <Application>Microsoft Office PowerPoint</Application>
  <PresentationFormat>와이드스크린</PresentationFormat>
  <Paragraphs>60</Paragraphs>
  <Slides>2</Slides>
  <Notes>0</Notes>
  <HiddenSlides>2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맑은 고딕</vt:lpstr>
      <vt:lpstr>Arial</vt:lpstr>
      <vt:lpstr>Arial Narrow</vt:lpstr>
      <vt:lpstr>Wingdings</vt:lpstr>
      <vt:lpstr>디자인 사용자 지정</vt:lpstr>
      <vt:lpstr>1_디자인 사용자 지정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Colin Choi</dc:creator>
  <cp:lastModifiedBy>박용배/책임/CC&amp;S Data Analytics팀</cp:lastModifiedBy>
  <cp:revision>824</cp:revision>
  <cp:lastPrinted>2026-03-03T09:29:00Z</cp:lastPrinted>
  <dcterms:created xsi:type="dcterms:W3CDTF">2024-11-22T04:44:58Z</dcterms:created>
  <dcterms:modified xsi:type="dcterms:W3CDTF">2026-04-21T00:01:26Z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0x01010077E3DFB345DAC74393F3F09E88971F90</vt:lpwstr>
  </property>
  <property fmtid="{D5CDD505-2E9C-101B-9397-08002B2CF9AE}" pid="3" name="MediaServiceImageTags">
    <vt:lpwstr/>
  </property>
  <property fmtid="{D5CDD505-2E9C-101B-9397-08002B2CF9AE}" pid="4" name="MSIP_Label_cc6ed9fc-fefc-4a0c-a6d6-10cf236c0d4f_SiteId">
    <vt:lpwstr>5069cde4-642a-45c0-8094-d0c2dec10be3</vt:lpwstr>
  </property>
  <property fmtid="{D5CDD505-2E9C-101B-9397-08002B2CF9AE}" pid="5" name="MSIP_Label_cc6ed9fc-fefc-4a0c-a6d6-10cf236c0d4f_Method">
    <vt:lpwstr>Standard</vt:lpwstr>
  </property>
  <property fmtid="{D5CDD505-2E9C-101B-9397-08002B2CF9AE}" pid="6" name="ClassificationContentMarkingHeaderLocations">
    <vt:lpwstr>디자인 사용자 지정:3</vt:lpwstr>
  </property>
  <property fmtid="{D5CDD505-2E9C-101B-9397-08002B2CF9AE}" pid="7" name="MSIP_Label_cc6ed9fc-fefc-4a0c-a6d6-10cf236c0d4f_ContentBits">
    <vt:lpwstr>1</vt:lpwstr>
  </property>
  <property fmtid="{D5CDD505-2E9C-101B-9397-08002B2CF9AE}" pid="8" name="MSIP_Label_cc6ed9fc-fefc-4a0c-a6d6-10cf236c0d4f_Name">
    <vt:lpwstr>Internal use only</vt:lpwstr>
  </property>
  <property fmtid="{D5CDD505-2E9C-101B-9397-08002B2CF9AE}" pid="9" name="ClassificationContentMarkingHeaderText">
    <vt:lpwstr>LGE Internal Use Only</vt:lpwstr>
  </property>
  <property fmtid="{D5CDD505-2E9C-101B-9397-08002B2CF9AE}" pid="10" name="MSIP_Label_cc6ed9fc-fefc-4a0c-a6d6-10cf236c0d4f_ActionId">
    <vt:lpwstr>f073bc25-ba4c-4083-89b8-e82ac1a41f6b</vt:lpwstr>
  </property>
  <property fmtid="{D5CDD505-2E9C-101B-9397-08002B2CF9AE}" pid="11" name="MSIP_Label_cc6ed9fc-fefc-4a0c-a6d6-10cf236c0d4f_Enabled">
    <vt:lpwstr>true</vt:lpwstr>
  </property>
  <property fmtid="{D5CDD505-2E9C-101B-9397-08002B2CF9AE}" pid="12" name="MSIP_Label_cc6ed9fc-fefc-4a0c-a6d6-10cf236c0d4f_SetDate">
    <vt:lpwstr>2025-01-14T00:13:48Z</vt:lpwstr>
  </property>
</Properties>
</file>