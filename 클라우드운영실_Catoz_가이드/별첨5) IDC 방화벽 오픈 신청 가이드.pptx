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3"/>
  </p:sldMasterIdLst>
  <p:notesMasterIdLst>
    <p:notesMasterId r:id="rId13"/>
  </p:notesMasterIdLst>
  <p:handoutMasterIdLst>
    <p:handoutMasterId r:id="rId14"/>
  </p:handoutMasterIdLst>
  <p:sldIdLst>
    <p:sldId id="920" r:id="rId4"/>
    <p:sldId id="1017" r:id="rId5"/>
    <p:sldId id="1020" r:id="rId6"/>
    <p:sldId id="998" r:id="rId7"/>
    <p:sldId id="1004" r:id="rId8"/>
    <p:sldId id="1006" r:id="rId9"/>
    <p:sldId id="1007" r:id="rId10"/>
    <p:sldId id="1019" r:id="rId11"/>
    <p:sldId id="989" r:id="rId12"/>
  </p:sldIdLst>
  <p:sldSz cx="9906000" cy="6858000" type="A4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orient="horz" pos="4110">
          <p15:clr>
            <a:srgbClr val="A4A3A4"/>
          </p15:clr>
        </p15:guide>
        <p15:guide id="4" pos="172">
          <p15:clr>
            <a:srgbClr val="A4A3A4"/>
          </p15:clr>
        </p15:guide>
        <p15:guide id="5" pos="5389">
          <p15:clr>
            <a:srgbClr val="A4A3A4"/>
          </p15:clr>
        </p15:guide>
        <p15:guide id="6" pos="671">
          <p15:clr>
            <a:srgbClr val="A4A3A4"/>
          </p15:clr>
        </p15:guide>
        <p15:guide id="7" pos="3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CC00CC"/>
    <a:srgbClr val="FFFF99"/>
    <a:srgbClr val="FF6600"/>
    <a:srgbClr val="FFFFCC"/>
    <a:srgbClr val="CCFF99"/>
    <a:srgbClr val="2F2F98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246" autoAdjust="0"/>
    <p:restoredTop sz="94526" autoAdjust="0"/>
  </p:normalViewPr>
  <p:slideViewPr>
    <p:cSldViewPr snapToGrid="0">
      <p:cViewPr>
        <p:scale>
          <a:sx n="140" d="100"/>
          <a:sy n="140" d="100"/>
        </p:scale>
        <p:origin x="1218" y="102"/>
      </p:cViewPr>
      <p:guideLst>
        <p:guide orient="horz" pos="2160"/>
        <p:guide orient="horz" pos="391"/>
        <p:guide orient="horz" pos="4110"/>
        <p:guide pos="172"/>
        <p:guide pos="5389"/>
        <p:guide pos="671"/>
        <p:guide pos="39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94"/>
    </p:cViewPr>
  </p:sorterViewPr>
  <p:notesViewPr>
    <p:cSldViewPr snapToGrid="0">
      <p:cViewPr varScale="1">
        <p:scale>
          <a:sx n="79" d="100"/>
          <a:sy n="79" d="100"/>
        </p:scale>
        <p:origin x="-3300" y="-84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8" tIns="45944" rIns="91888" bIns="45944" numCol="1" anchor="t" anchorCtr="0" compatLnSpc="1">
            <a:prstTxWarp prst="textNoShape">
              <a:avLst/>
            </a:prstTxWarp>
          </a:bodyPr>
          <a:lstStyle>
            <a:lvl1pPr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8" tIns="45944" rIns="91888" bIns="45944" numCol="1" anchor="t" anchorCtr="0" compatLnSpc="1">
            <a:prstTxWarp prst="textNoShape">
              <a:avLst/>
            </a:prstTxWarp>
          </a:bodyPr>
          <a:lstStyle>
            <a:lvl1pPr algn="r"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8" tIns="45944" rIns="91888" bIns="45944" numCol="1" anchor="b" anchorCtr="0" compatLnSpc="1">
            <a:prstTxWarp prst="textNoShape">
              <a:avLst/>
            </a:prstTxWarp>
          </a:bodyPr>
          <a:lstStyle>
            <a:lvl1pPr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8" tIns="45944" rIns="91888" bIns="45944" numCol="1" anchor="b" anchorCtr="0" compatLnSpc="1">
            <a:prstTxWarp prst="textNoShape">
              <a:avLst/>
            </a:prstTxWarp>
          </a:bodyPr>
          <a:lstStyle>
            <a:lvl1pPr algn="r"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E354592-E333-4D8C-BE60-A76DDA7993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6016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50" tIns="45476" rIns="90950" bIns="45476" numCol="1" anchor="t" anchorCtr="0" compatLnSpc="1">
            <a:prstTxWarp prst="textNoShape">
              <a:avLst/>
            </a:prstTxWarp>
          </a:bodyPr>
          <a:lstStyle>
            <a:lvl1pPr defTabSz="909309"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50" tIns="45476" rIns="90950" bIns="45476" numCol="1" anchor="t" anchorCtr="0" compatLnSpc="1">
            <a:prstTxWarp prst="textNoShape">
              <a:avLst/>
            </a:prstTxWarp>
          </a:bodyPr>
          <a:lstStyle>
            <a:lvl1pPr algn="r" defTabSz="909309"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5488" y="739775"/>
            <a:ext cx="5346700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689475"/>
            <a:ext cx="5437187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50" tIns="45476" rIns="90950" bIns="454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50" tIns="45476" rIns="90950" bIns="45476" numCol="1" anchor="b" anchorCtr="0" compatLnSpc="1">
            <a:prstTxWarp prst="textNoShape">
              <a:avLst/>
            </a:prstTxWarp>
          </a:bodyPr>
          <a:lstStyle>
            <a:lvl1pPr defTabSz="909309"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48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50" tIns="45476" rIns="90950" bIns="45476" numCol="1" anchor="b" anchorCtr="0" compatLnSpc="1">
            <a:prstTxWarp prst="textNoShape">
              <a:avLst/>
            </a:prstTxWarp>
          </a:bodyPr>
          <a:lstStyle>
            <a:lvl1pPr algn="r" defTabSz="909309" latinLnBrk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7FCE9B6-AAAB-496E-9925-46E6C5A203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33183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2406" y="142852"/>
            <a:ext cx="9001188" cy="428628"/>
          </a:xfrm>
          <a:prstGeom prst="rect">
            <a:avLst/>
          </a:prstGeo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2406" y="714356"/>
            <a:ext cx="9001188" cy="4205288"/>
          </a:xfrm>
          <a:prstGeom prst="rect">
            <a:avLst/>
          </a:prstGeom>
        </p:spPr>
        <p:txBody>
          <a:bodyPr/>
          <a:lstStyle>
            <a:lvl1pPr>
              <a:buAutoNum type="romanUcPeriod"/>
              <a:defRPr/>
            </a:lvl1pPr>
            <a:lvl2pPr>
              <a:buFont typeface="+mj-lt"/>
              <a:buAutoNum type="arabicPeriod"/>
              <a:defRPr sz="1800" b="1">
                <a:latin typeface="맑은 고딕" pitchFamily="50" charset="-127"/>
                <a:ea typeface="맑은 고딕" pitchFamily="50" charset="-127"/>
              </a:defRPr>
            </a:lvl2pPr>
            <a:lvl3pPr>
              <a:defRPr sz="1600" b="1">
                <a:latin typeface="맑은 고딕" pitchFamily="50" charset="-127"/>
                <a:ea typeface="맑은 고딕" pitchFamily="50" charset="-127"/>
              </a:defRPr>
            </a:lvl3pPr>
            <a:lvl4pPr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400" b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7480303" y="179362"/>
            <a:ext cx="2044729" cy="401624"/>
          </a:xfrm>
          <a:prstGeom prst="rect">
            <a:avLst/>
          </a:prstGeom>
        </p:spPr>
        <p:txBody>
          <a:bodyPr/>
          <a:lstStyle>
            <a:lvl1pPr algn="r">
              <a:spcBef>
                <a:spcPts val="0"/>
              </a:spcBef>
              <a:buNone/>
              <a:defRPr sz="1600" b="1">
                <a:solidFill>
                  <a:srgbClr val="C00000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73050" y="79375"/>
            <a:ext cx="9359900" cy="458788"/>
          </a:xfrm>
          <a:prstGeom prst="rect">
            <a:avLst/>
          </a:prstGeom>
        </p:spPr>
        <p:txBody>
          <a:bodyPr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73050" y="712788"/>
            <a:ext cx="4603750" cy="417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9200" y="712788"/>
            <a:ext cx="4603750" cy="417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73050" y="1282700"/>
            <a:ext cx="4603750" cy="417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282700"/>
            <a:ext cx="4603750" cy="417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/>
          <p:cNvCxnSpPr>
            <a:cxnSpLocks noChangeShapeType="1"/>
          </p:cNvCxnSpPr>
          <p:nvPr/>
        </p:nvCxnSpPr>
        <p:spPr bwMode="auto">
          <a:xfrm>
            <a:off x="38100" y="542925"/>
            <a:ext cx="9829800" cy="1588"/>
          </a:xfrm>
          <a:prstGeom prst="line">
            <a:avLst/>
          </a:prstGeom>
          <a:noFill/>
          <a:ln w="9525" algn="ctr">
            <a:solidFill>
              <a:srgbClr val="4D4D4D"/>
            </a:solidFill>
            <a:round/>
            <a:headEnd/>
            <a:tailEnd/>
          </a:ln>
        </p:spPr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6201"/>
            <a:ext cx="7772400" cy="42384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838200"/>
            <a:ext cx="64008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0" y="3500438"/>
            <a:ext cx="8775700" cy="504825"/>
            <a:chOff x="0" y="1933"/>
            <a:chExt cx="5103" cy="295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0" y="1933"/>
              <a:ext cx="2426" cy="295"/>
            </a:xfrm>
            <a:prstGeom prst="rect">
              <a:avLst/>
            </a:prstGeom>
            <a:gradFill rotWithShape="1">
              <a:gsLst>
                <a:gs pos="0">
                  <a:srgbClr val="07076A"/>
                </a:gs>
                <a:gs pos="100000">
                  <a:srgbClr val="000066"/>
                </a:gs>
              </a:gsLst>
              <a:lin ang="5400000" scaled="1"/>
            </a:gradFill>
            <a:ln>
              <a:noFill/>
            </a:ln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endParaRPr lang="ko-KR" altLang="en-US" smtClean="0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2426" y="1933"/>
              <a:ext cx="1815" cy="295"/>
            </a:xfrm>
            <a:prstGeom prst="rect">
              <a:avLst/>
            </a:prstGeom>
            <a:gradFill rotWithShape="1">
              <a:gsLst>
                <a:gs pos="0">
                  <a:srgbClr val="17A2FF"/>
                </a:gs>
                <a:gs pos="100000">
                  <a:srgbClr val="0099FF"/>
                </a:gs>
              </a:gsLst>
              <a:lin ang="5400000" scaled="1"/>
            </a:gradFill>
            <a:ln>
              <a:noFill/>
            </a:ln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endParaRPr lang="ko-KR" altLang="en-US" smtClean="0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4241" y="1933"/>
              <a:ext cx="862" cy="295"/>
            </a:xfrm>
            <a:prstGeom prst="rect">
              <a:avLst/>
            </a:prstGeom>
            <a:gradFill rotWithShape="1">
              <a:gsLst>
                <a:gs pos="0">
                  <a:srgbClr val="36CDFF"/>
                </a:gs>
                <a:gs pos="100000">
                  <a:srgbClr val="33CCFF"/>
                </a:gs>
              </a:gsLst>
              <a:lin ang="5400000" scaled="1"/>
            </a:gradFill>
            <a:ln>
              <a:noFill/>
            </a:ln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endParaRPr lang="ko-KR" altLang="en-US" smtClean="0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62120" y="2565401"/>
            <a:ext cx="8420100" cy="103822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670154" y="3905250"/>
            <a:ext cx="3745706" cy="647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latin typeface="Verdana" pitchFamily="34" charset="0"/>
              </a:defRPr>
            </a:lvl1pPr>
          </a:lstStyle>
          <a:p>
            <a:r>
              <a:rPr lang="ko-KR" altLang="en-US"/>
              <a:t>마스터 부제목 스타일 편집</a:t>
            </a:r>
          </a:p>
          <a:p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ABEDBFB-7B01-4467-8308-A659684186D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11"/>
          <p:cNvSpPr txBox="1">
            <a:spLocks noChangeArrowheads="1"/>
          </p:cNvSpPr>
          <p:nvPr/>
        </p:nvSpPr>
        <p:spPr bwMode="auto">
          <a:xfrm>
            <a:off x="5961063" y="6597650"/>
            <a:ext cx="3671887" cy="19843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r>
              <a:rPr lang="ko-KR" altLang="en-US" sz="70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두산그룹을 위한 </a:t>
            </a:r>
            <a:r>
              <a:rPr lang="en-US" altLang="ko-KR" sz="70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RMS </a:t>
            </a:r>
            <a:r>
              <a:rPr lang="ko-KR" altLang="en-US" sz="700" smtClea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구축 제안</a:t>
            </a:r>
            <a:endParaRPr lang="en-US" altLang="ko-KR" sz="700" smtClean="0">
              <a:solidFill>
                <a:srgbClr val="FFFF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27" name="직사각형 8"/>
          <p:cNvSpPr>
            <a:spLocks noChangeArrowheads="1"/>
          </p:cNvSpPr>
          <p:nvPr/>
        </p:nvSpPr>
        <p:spPr bwMode="auto">
          <a:xfrm>
            <a:off x="0" y="6500813"/>
            <a:ext cx="1166813" cy="3571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lIns="90000" tIns="46800" rIns="90000" bIns="46800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 smtClean="0">
              <a:solidFill>
                <a:srgbClr val="000000"/>
              </a:solidFill>
            </a:endParaRPr>
          </a:p>
        </p:txBody>
      </p:sp>
      <p:pic>
        <p:nvPicPr>
          <p:cNvPr id="1028" name="Picture 68" descr="그레이바탕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6478588"/>
            <a:ext cx="9906000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Text Box 69"/>
          <p:cNvSpPr txBox="1">
            <a:spLocks noChangeArrowheads="1"/>
          </p:cNvSpPr>
          <p:nvPr/>
        </p:nvSpPr>
        <p:spPr bwMode="auto">
          <a:xfrm>
            <a:off x="0" y="6500813"/>
            <a:ext cx="9906000" cy="2952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lnSpc>
                <a:spcPct val="101000"/>
              </a:lnSpc>
              <a:spcBef>
                <a:spcPct val="50000"/>
              </a:spcBef>
              <a:defRPr/>
            </a:pPr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7DB54939-B6CE-4371-9CEF-F751789AB1FF}" type="slidenum"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latinLnBrk="0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-</a:t>
            </a:r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 flipV="1">
            <a:off x="117475" y="617538"/>
            <a:ext cx="9748838" cy="0"/>
          </a:xfrm>
          <a:prstGeom prst="line">
            <a:avLst/>
          </a:prstGeom>
          <a:noFill/>
          <a:ln w="25400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FontTx/>
              <a:buChar char="•"/>
              <a:defRPr/>
            </a:pPr>
            <a:endParaRPr lang="ko-KR" altLang="en-US">
              <a:latin typeface="가는둥근제목체" pitchFamily="18" charset="-127"/>
              <a:ea typeface="가는둥근제목체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  <p:sldLayoutId id="2147484620" r:id="rId3"/>
    <p:sldLayoutId id="2147484621" r:id="rId4"/>
    <p:sldLayoutId id="2147484622" r:id="rId5"/>
    <p:sldLayoutId id="2147484623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Lucida Sans Unicode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Lucida Sans Unicode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Lucida Sans Unicode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Lucida Sans Unicode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457200" indent="-457200" algn="l" rtl="0" eaLnBrk="0" fontAlgn="base" latinLnBrk="1" hangingPunct="0">
        <a:spcBef>
          <a:spcPct val="20000"/>
        </a:spcBef>
        <a:spcAft>
          <a:spcPct val="0"/>
        </a:spcAft>
        <a:buAutoNum type="romanUcPeriod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1168400" indent="-7112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j-lt"/>
          <a:ea typeface="+mj-ea"/>
        </a:defRPr>
      </a:lvl2pPr>
      <a:lvl3pPr marL="1524000" indent="-609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j-lt"/>
          <a:ea typeface="+mj-ea"/>
        </a:defRPr>
      </a:lvl3pPr>
      <a:lvl4pPr marL="1879600" indent="-5080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j-lt"/>
          <a:ea typeface="+mj-ea"/>
        </a:defRPr>
      </a:lvl4pPr>
      <a:lvl5pPr marL="2336800" indent="-508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5pPr>
      <a:lvl6pPr marL="2794000" indent="-508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6pPr>
      <a:lvl7pPr marL="3251200" indent="-508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7pPr>
      <a:lvl8pPr marL="3708400" indent="-508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8pPr>
      <a:lvl9pPr marL="4165600" indent="-508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1650" y="2500313"/>
            <a:ext cx="86423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3200" b="1" dirty="0" smtClean="0">
                <a:latin typeface="+mj-lt"/>
                <a:ea typeface="+mj-ea"/>
              </a:rPr>
              <a:t>IDC </a:t>
            </a:r>
            <a:r>
              <a:rPr lang="ko-KR" altLang="en-US" sz="3200" b="1" smtClean="0">
                <a:latin typeface="+mj-lt"/>
                <a:ea typeface="+mj-ea"/>
              </a:rPr>
              <a:t>방화벽 오픈 신청 가이드 </a:t>
            </a:r>
            <a:endParaRPr lang="ko-KR" altLang="en-US" sz="3200" b="1" dirty="0">
              <a:latin typeface="+mj-lt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1125" y="3316288"/>
            <a:ext cx="72151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dirty="0" smtClean="0">
                <a:latin typeface="+mj-ea"/>
                <a:ea typeface="+mj-ea"/>
              </a:rPr>
              <a:t>2019. </a:t>
            </a:r>
            <a:r>
              <a:rPr lang="en-US" altLang="ko-KR" sz="2000" dirty="0" smtClean="0">
                <a:latin typeface="+mj-ea"/>
                <a:ea typeface="+mj-ea"/>
              </a:rPr>
              <a:t>12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방화벽 등록 요청 신청서 선택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1.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EP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  <a:sym typeface="Wingdings" panose="05000000000000000000" pitchFamily="2" charset="2"/>
              </a:rPr>
              <a:t>Request 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  <a:sym typeface="Wingdings" panose="05000000000000000000" pitchFamily="2" charset="2"/>
              </a:rPr>
              <a:t>방화벽 검색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2. </a:t>
            </a:r>
            <a:r>
              <a:rPr kumimoji="0" lang="ko-KR" altLang="en-US" sz="105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신청 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&gt;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메뉴를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 선택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및 확장하여 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“</a:t>
            </a:r>
            <a:r>
              <a:rPr kumimoji="0" lang="ko-KR" altLang="en-US" sz="105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방화벽 </a:t>
            </a:r>
            <a:r>
              <a:rPr kumimoji="0" lang="ko-KR" altLang="en-US" sz="105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정책 등록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요청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”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항목을 선택합니다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▶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 등록 요청 신청을 위하여 신청서를 선택합니다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  <a:endParaRPr kumimoji="0" lang="ko-KR" altLang="en-US" sz="1100" dirty="0" smtClean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01" y="1653536"/>
            <a:ext cx="4431711" cy="3471507"/>
          </a:xfrm>
          <a:prstGeom prst="rect">
            <a:avLst/>
          </a:prstGeom>
        </p:spPr>
      </p:pic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293301" y="2811439"/>
            <a:ext cx="2695225" cy="205719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29" name="Oval 25"/>
          <p:cNvSpPr>
            <a:spLocks noChangeAspect="1" noChangeArrowheads="1"/>
          </p:cNvSpPr>
          <p:nvPr/>
        </p:nvSpPr>
        <p:spPr bwMode="auto">
          <a:xfrm>
            <a:off x="1068247" y="2691474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방화벽 등록 요청 보안동의서 확인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1.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보안동의서 내용을 확인합니다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2. 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“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동의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”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버튼을 클릭하여 신청서 화면으로 이동합니다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▶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 등록 요청 신청을 위하여 </a:t>
            </a:r>
            <a:r>
              <a:rPr kumimoji="0" lang="ko-KR" altLang="en-US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보안동의서를 확인합니다</a:t>
            </a: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  <a:endParaRPr kumimoji="0" lang="ko-KR" altLang="en-US" sz="1100" dirty="0" smtClean="0"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pic>
        <p:nvPicPr>
          <p:cNvPr id="11" name="그림 10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8000" y="1594800"/>
            <a:ext cx="5812320" cy="2698775"/>
          </a:xfrm>
          <a:prstGeom prst="rect">
            <a:avLst/>
          </a:prstGeom>
        </p:spPr>
      </p:pic>
      <p:sp>
        <p:nvSpPr>
          <p:cNvPr id="12" name="Oval 25"/>
          <p:cNvSpPr>
            <a:spLocks noChangeAspect="1" noChangeArrowheads="1"/>
          </p:cNvSpPr>
          <p:nvPr/>
        </p:nvSpPr>
        <p:spPr bwMode="auto">
          <a:xfrm>
            <a:off x="622981" y="3279366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3074928" y="3764187"/>
            <a:ext cx="402672" cy="20380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4" name="Oval 25"/>
          <p:cNvSpPr>
            <a:spLocks noChangeAspect="1" noChangeArrowheads="1"/>
          </p:cNvSpPr>
          <p:nvPr/>
        </p:nvSpPr>
        <p:spPr bwMode="auto">
          <a:xfrm>
            <a:off x="2950612" y="3619230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2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53" y="1619416"/>
            <a:ext cx="5351651" cy="4182900"/>
          </a:xfrm>
          <a:prstGeom prst="rect">
            <a:avLst/>
          </a:prstGeom>
        </p:spPr>
      </p:pic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방화벽 등록 요청 신청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신청서 제목을 입력합니다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2.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결재라인을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변경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r>
              <a:rPr kumimoji="0" lang="en-US" altLang="ko-KR" sz="1050" dirty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  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 (</a:t>
            </a:r>
            <a:r>
              <a:rPr kumimoji="0" lang="ko-KR" altLang="en-US" sz="100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결재자는 시스템관리팀 담당자와 확인하여 변경 필요</a:t>
            </a:r>
            <a:r>
              <a:rPr kumimoji="0" lang="en-US" altLang="ko-KR" sz="100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.)</a:t>
            </a:r>
            <a:endParaRPr kumimoji="0" lang="en-US" altLang="ko-KR" sz="1000" dirty="0" smtClean="0">
              <a:solidFill>
                <a:srgbClr val="FF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3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신청하는 사유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, </a:t>
            </a:r>
            <a:r>
              <a:rPr kumimoji="0" lang="ko-KR" altLang="en-US" sz="105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목적 등을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입력합니다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ko-KR" altLang="en-US" sz="1050" dirty="0" smtClean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▶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 등록 요청을 위한 신청서를 작성합니다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  <a:endParaRPr kumimoji="0" lang="ko-KR" altLang="en-US" sz="1100" dirty="0" smtClean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sp>
        <p:nvSpPr>
          <p:cNvPr id="39" name="Oval 25"/>
          <p:cNvSpPr>
            <a:spLocks noChangeAspect="1" noChangeArrowheads="1"/>
          </p:cNvSpPr>
          <p:nvPr/>
        </p:nvSpPr>
        <p:spPr bwMode="auto">
          <a:xfrm>
            <a:off x="679268" y="1947429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41" name="Oval 25"/>
          <p:cNvSpPr>
            <a:spLocks noChangeAspect="1" noChangeArrowheads="1"/>
          </p:cNvSpPr>
          <p:nvPr/>
        </p:nvSpPr>
        <p:spPr bwMode="auto">
          <a:xfrm>
            <a:off x="679268" y="2240205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2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3" name="Oval 25"/>
          <p:cNvSpPr>
            <a:spLocks noChangeAspect="1" noChangeArrowheads="1"/>
          </p:cNvSpPr>
          <p:nvPr/>
        </p:nvSpPr>
        <p:spPr bwMode="auto">
          <a:xfrm>
            <a:off x="679268" y="2569373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2"/>
                </a:solidFill>
                <a:latin typeface="Tahoma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방화벽 등록 요청 신청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5.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 등록 요청에 대한 사용기간을 설정합니다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캘린더 이미지를 클릭하여 생성되는 팝업에서 일자를 선택할 수 있습니다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 </a:t>
            </a: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(</a:t>
            </a:r>
            <a:r>
              <a:rPr kumimoji="0" lang="ko-KR" altLang="en-US" sz="105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최장 </a:t>
            </a:r>
            <a:r>
              <a:rPr kumimoji="0" lang="en-US" altLang="ko-KR" sz="105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1</a:t>
            </a:r>
            <a:r>
              <a:rPr kumimoji="0" lang="ko-KR" altLang="en-US" sz="105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년 동안 신청 가능하며</a:t>
            </a:r>
            <a:r>
              <a:rPr kumimoji="0" lang="en-US" altLang="ko-KR" sz="105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, </a:t>
            </a:r>
            <a:r>
              <a:rPr kumimoji="0" lang="ko-KR" altLang="en-US" sz="105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이후 연장 신청 팔요</a:t>
            </a:r>
            <a:r>
              <a:rPr kumimoji="0" lang="en-US" altLang="ko-KR" sz="1050" dirty="0" smtClean="0">
                <a:solidFill>
                  <a:srgbClr val="FF0000"/>
                </a:solidFill>
                <a:latin typeface="+mn-lt"/>
                <a:ea typeface="맑은 고딕" pitchFamily="50" charset="-127"/>
                <a:cs typeface="Tahoma" pitchFamily="34" charset="0"/>
              </a:rPr>
              <a:t>)</a:t>
            </a:r>
            <a:endParaRPr kumimoji="0" lang="en-US" altLang="ko-KR" sz="1050" dirty="0" smtClean="0">
              <a:solidFill>
                <a:srgbClr val="FF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6. Source IP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를 입력합니다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7. </a:t>
            </a:r>
            <a:r>
              <a:rPr kumimoji="0" lang="en-US" altLang="ko-KR" sz="1050" dirty="0" err="1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Desination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 IP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를 입력합니다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8. Port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정보를 입력합니다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맑은 고딕"/>
              <a:ea typeface="맑은 고딕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/>
                <a:cs typeface="Tahoma" pitchFamily="34" charset="0"/>
              </a:rPr>
              <a:t>9.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/>
                <a:cs typeface="Tahoma" pitchFamily="34" charset="0"/>
              </a:rPr>
              <a:t>실 요청자에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/>
                <a:cs typeface="Tahoma" pitchFamily="34" charset="0"/>
              </a:rPr>
              <a:t>대한 정보를 입력합니다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/>
                <a:cs typeface="Tahoma" pitchFamily="34" charset="0"/>
              </a:rPr>
              <a:t>.</a:t>
            </a:r>
            <a:endParaRPr kumimoji="0" lang="en-US" altLang="ko-KR" sz="1050" dirty="0" smtClean="0">
              <a:solidFill>
                <a:srgbClr val="000000"/>
              </a:solidFill>
              <a:latin typeface="맑은 고딕"/>
              <a:ea typeface="맑은 고딕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맑은 고딕"/>
              <a:ea typeface="맑은 고딕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10.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첨부파일을 </a:t>
            </a:r>
            <a:r>
              <a:rPr kumimoji="0" lang="ko-KR" altLang="en-US" sz="105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첨부합니다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.(10</a:t>
            </a:r>
            <a:r>
              <a:rPr kumimoji="0" lang="ko-KR" altLang="en-US" sz="105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건이상 다량등록시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)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맑은 고딕"/>
              <a:ea typeface="맑은 고딕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11.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방화벽 등록 요청에 대한 입력사항들을 확인하고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”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 버튼을 클릭합니다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맑은 고딕"/>
                <a:ea typeface="맑은 고딕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맑은 고딕"/>
              <a:ea typeface="맑은 고딕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ko-KR" altLang="en-US" sz="1050" dirty="0" smtClean="0"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▶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 등록 요청</a:t>
            </a:r>
            <a:r>
              <a:rPr kumimoji="0" lang="ko-KR" altLang="en-US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을 위한 신청서를 작성합니다</a:t>
            </a: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  <a:endParaRPr kumimoji="0" lang="ko-KR" altLang="en-US" sz="1100" dirty="0" smtClean="0"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pic>
        <p:nvPicPr>
          <p:cNvPr id="18" name="그림 17" descr="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8000" y="1594800"/>
            <a:ext cx="5803200" cy="4406235"/>
          </a:xfrm>
          <a:prstGeom prst="rect">
            <a:avLst/>
          </a:prstGeom>
        </p:spPr>
      </p:pic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5498848" y="5217051"/>
            <a:ext cx="402672" cy="185954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24" name="Oval 25"/>
          <p:cNvSpPr>
            <a:spLocks noChangeAspect="1" noChangeArrowheads="1"/>
          </p:cNvSpPr>
          <p:nvPr/>
        </p:nvSpPr>
        <p:spPr bwMode="auto">
          <a:xfrm>
            <a:off x="5374533" y="5072095"/>
            <a:ext cx="180000" cy="172759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11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8" name="Oval 25"/>
          <p:cNvSpPr>
            <a:spLocks noChangeAspect="1" noChangeArrowheads="1"/>
          </p:cNvSpPr>
          <p:nvPr/>
        </p:nvSpPr>
        <p:spPr bwMode="auto">
          <a:xfrm>
            <a:off x="526580" y="4586970"/>
            <a:ext cx="180000" cy="172759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10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31" name="Oval 25"/>
          <p:cNvSpPr>
            <a:spLocks noChangeAspect="1" noChangeArrowheads="1"/>
          </p:cNvSpPr>
          <p:nvPr/>
        </p:nvSpPr>
        <p:spPr bwMode="auto">
          <a:xfrm>
            <a:off x="524238" y="3939713"/>
            <a:ext cx="180000" cy="172759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9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30" name="Oval 25"/>
          <p:cNvSpPr>
            <a:spLocks noChangeAspect="1" noChangeArrowheads="1"/>
          </p:cNvSpPr>
          <p:nvPr/>
        </p:nvSpPr>
        <p:spPr bwMode="auto">
          <a:xfrm>
            <a:off x="524238" y="3657673"/>
            <a:ext cx="180000" cy="172759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8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9" name="Oval 25"/>
          <p:cNvSpPr>
            <a:spLocks noChangeAspect="1" noChangeArrowheads="1"/>
          </p:cNvSpPr>
          <p:nvPr/>
        </p:nvSpPr>
        <p:spPr bwMode="auto">
          <a:xfrm>
            <a:off x="529096" y="3390875"/>
            <a:ext cx="180000" cy="172759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7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9" name="Oval 25"/>
          <p:cNvSpPr>
            <a:spLocks noChangeAspect="1" noChangeArrowheads="1"/>
          </p:cNvSpPr>
          <p:nvPr/>
        </p:nvSpPr>
        <p:spPr bwMode="auto">
          <a:xfrm>
            <a:off x="524104" y="3180510"/>
            <a:ext cx="187544" cy="180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6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1" name="Oval 25"/>
          <p:cNvSpPr>
            <a:spLocks noChangeAspect="1" noChangeArrowheads="1"/>
          </p:cNvSpPr>
          <p:nvPr/>
        </p:nvSpPr>
        <p:spPr bwMode="auto">
          <a:xfrm>
            <a:off x="526580" y="2977741"/>
            <a:ext cx="180000" cy="172759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5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pic>
        <p:nvPicPr>
          <p:cNvPr id="32" name="그림 31" descr="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3436" y="1631918"/>
            <a:ext cx="3027973" cy="1762804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4" cstate="print">
            <a:lum bright="4000" contrast="-92000"/>
          </a:blip>
          <a:srcRect/>
          <a:stretch>
            <a:fillRect/>
          </a:stretch>
        </p:blipFill>
        <p:spPr bwMode="auto">
          <a:xfrm rot="9659422" flipH="1" flipV="1">
            <a:off x="2246007" y="2510957"/>
            <a:ext cx="1257148" cy="771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방화벽 등록 요청 신청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12.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결재자를 확인 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13. </a:t>
            </a:r>
            <a:r>
              <a:rPr kumimoji="0" lang="ko-KR" altLang="en-US" sz="105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하단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테이블에서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방화벽 등록 요청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신청에 대한 입력 사항을 확인합니다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  <a:endParaRPr kumimoji="0" lang="en-US" altLang="ko-KR" sz="1050" dirty="0" smtClean="0"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14.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해당 정보가 이상이 없을 경우 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“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결재요청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” </a:t>
            </a:r>
            <a:r>
              <a:rPr kumimoji="0" lang="ko-KR" altLang="en-US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버튼을 클릭하여 방화벽 등록 요청 신청을 요청합니다</a:t>
            </a:r>
            <a:r>
              <a:rPr kumimoji="0" lang="en-US" altLang="ko-KR" sz="105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</a:p>
          <a:p>
            <a:pPr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▶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방화벽 등록 요청 신청을 위하여 신청서를 확인 후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,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결재요청을 합니다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  <a:endParaRPr kumimoji="0" lang="ko-KR" altLang="en-US" sz="1100" dirty="0" smtClean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pic>
        <p:nvPicPr>
          <p:cNvPr id="13" name="그림 12" descr="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8000" y="1594800"/>
            <a:ext cx="5803200" cy="4560840"/>
          </a:xfrm>
          <a:prstGeom prst="rect">
            <a:avLst/>
          </a:prstGeom>
        </p:spPr>
      </p:pic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585680" y="5368008"/>
            <a:ext cx="5754847" cy="41945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28" name="Oval 25"/>
          <p:cNvSpPr>
            <a:spLocks noChangeAspect="1" noChangeArrowheads="1"/>
          </p:cNvSpPr>
          <p:nvPr/>
        </p:nvSpPr>
        <p:spPr bwMode="auto">
          <a:xfrm>
            <a:off x="527676" y="5284490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13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3488270" y="5837152"/>
            <a:ext cx="402672" cy="20133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30" name="Oval 25"/>
          <p:cNvSpPr>
            <a:spLocks noChangeAspect="1" noChangeArrowheads="1"/>
          </p:cNvSpPr>
          <p:nvPr/>
        </p:nvSpPr>
        <p:spPr bwMode="auto">
          <a:xfrm>
            <a:off x="3808571" y="5935476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14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6" name="Oval 25"/>
          <p:cNvSpPr>
            <a:spLocks noChangeAspect="1" noChangeArrowheads="1"/>
          </p:cNvSpPr>
          <p:nvPr/>
        </p:nvSpPr>
        <p:spPr bwMode="auto">
          <a:xfrm>
            <a:off x="640203" y="2116038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12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887481" y="2169446"/>
            <a:ext cx="5042471" cy="41945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조회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228600" indent="-228600"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조회 목록에서 해당 사용자가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결재요청한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신청서를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확인할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수 있으며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해당 신청서의 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제목을 클릭하여 신청서의 상세 정보를 확인 할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수 있습니다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▶ [</a:t>
            </a:r>
            <a:r>
              <a:rPr kumimoji="0" lang="ko-KR" altLang="en-US" sz="1100" b="1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조회</a:t>
            </a: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] </a:t>
            </a:r>
            <a:r>
              <a:rPr kumimoji="0" lang="ko-KR" altLang="en-US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메뉴에서</a:t>
            </a: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, </a:t>
            </a:r>
            <a:r>
              <a:rPr kumimoji="0" lang="ko-KR" altLang="en-US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신청 정보 및 상태를 확인할 수 있습니다</a:t>
            </a: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 </a:t>
            </a:r>
            <a:endParaRPr kumimoji="0" lang="ko-KR" altLang="en-US" sz="1100" dirty="0" smtClean="0"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pic>
        <p:nvPicPr>
          <p:cNvPr id="9" name="그림 8" descr="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0531" y="1612556"/>
            <a:ext cx="5803200" cy="3016663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27155" y="4226630"/>
            <a:ext cx="5201173" cy="159389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1" name="Oval 25"/>
          <p:cNvSpPr>
            <a:spLocks noChangeAspect="1" noChangeArrowheads="1"/>
          </p:cNvSpPr>
          <p:nvPr/>
        </p:nvSpPr>
        <p:spPr bwMode="auto">
          <a:xfrm>
            <a:off x="969560" y="4105666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03238" y="1487488"/>
            <a:ext cx="9013825" cy="4840287"/>
          </a:xfrm>
          <a:prstGeom prst="rect">
            <a:avLst/>
          </a:prstGeom>
          <a:noFill/>
          <a:ln w="3175" algn="ctr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latinLnBrk="0">
              <a:buClr>
                <a:srgbClr val="000000"/>
              </a:buClr>
              <a:buSzPct val="100000"/>
            </a:pPr>
            <a:endParaRPr kumimoji="0"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xfrm>
            <a:off x="452438" y="142875"/>
            <a:ext cx="9001125" cy="428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조회</a:t>
            </a:r>
            <a:r>
              <a:rPr lang="en-US" altLang="ko-KR" dirty="0" smtClean="0"/>
              <a:t>(</a:t>
            </a:r>
            <a:r>
              <a:rPr lang="ko-KR" altLang="en-US" dirty="0" smtClean="0"/>
              <a:t>상세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6438900" y="1639888"/>
            <a:ext cx="3078163" cy="44672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89997" tIns="46798" rIns="89997" bIns="46798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228600" indent="-228600"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1.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상세 페이지에서는 해당 신청서에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대한 신청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정보 및 상세 신청 정보를 확인 할 수 있습니다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marL="228600" indent="-228600"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2.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결재정보 및 결재진행 현황을 확인 할 수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있습니다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  <a:p>
            <a:pPr marL="228600" indent="-228600" eaLnBrk="1" latinLnBrk="0" hangingPunct="1"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3.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접수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처리 정보 및 접수 및 처리에 대한 진행 </a:t>
            </a:r>
            <a:endParaRPr kumimoji="0" lang="en-US" altLang="ko-KR" sz="1050" dirty="0" smtClean="0">
              <a:solidFill>
                <a:srgbClr val="000000"/>
              </a:solidFill>
              <a:latin typeface="+mn-lt"/>
              <a:ea typeface="맑은 고딕" pitchFamily="50" charset="-127"/>
              <a:cs typeface="Tahoma" pitchFamily="34" charset="0"/>
            </a:endParaRPr>
          </a:p>
          <a:p>
            <a:pPr marL="228600" indent="-228600" eaLnBrk="1" latinLnBrk="0" hangingPunct="1"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현황을 확인 할 수 있습니다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+mn-lt"/>
                <a:ea typeface="맑은 고딕" pitchFamily="50" charset="-127"/>
                <a:cs typeface="Tahoma" pitchFamily="34" charset="0"/>
              </a:rPr>
              <a:t>.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4825" y="796925"/>
            <a:ext cx="9012238" cy="619125"/>
          </a:xfrm>
          <a:prstGeom prst="rect">
            <a:avLst/>
          </a:prstGeom>
          <a:solidFill>
            <a:srgbClr val="99CCFF">
              <a:alpha val="30196"/>
            </a:srgbClr>
          </a:solidFill>
          <a:ln w="3175" algn="ctr">
            <a:solidFill>
              <a:schemeClr val="accent2"/>
            </a:solidFill>
            <a:miter lim="800000"/>
            <a:headEnd/>
            <a:tailEnd/>
          </a:ln>
        </p:spPr>
        <p:txBody>
          <a:bodyPr lIns="89997" tIns="46798" rIns="89997" bIns="46798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▶ </a:t>
            </a:r>
            <a:r>
              <a:rPr kumimoji="0" lang="ko-KR" altLang="en-US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조회 페이지의 목록을 클릭하면 해당 신청서의 상세 페이지로 접근 할 수 있습니다</a:t>
            </a:r>
            <a:r>
              <a:rPr kumimoji="0" lang="en-US" altLang="ko-KR" sz="1100" dirty="0" smtClean="0">
                <a:solidFill>
                  <a:srgbClr val="000000"/>
                </a:solidFill>
                <a:ea typeface="맑은 고딕" pitchFamily="50" charset="-127"/>
                <a:cs typeface="Tahoma" pitchFamily="34" charset="0"/>
              </a:rPr>
              <a:t>.</a:t>
            </a:r>
          </a:p>
        </p:txBody>
      </p:sp>
      <p:cxnSp>
        <p:nvCxnSpPr>
          <p:cNvPr id="7174" name="Straight Connector 105"/>
          <p:cNvCxnSpPr>
            <a:cxnSpLocks noChangeShapeType="1"/>
          </p:cNvCxnSpPr>
          <p:nvPr/>
        </p:nvCxnSpPr>
        <p:spPr bwMode="auto">
          <a:xfrm>
            <a:off x="6416675" y="1639888"/>
            <a:ext cx="0" cy="4586287"/>
          </a:xfrm>
          <a:prstGeom prst="line">
            <a:avLst/>
          </a:prstGeom>
          <a:noFill/>
          <a:ln w="15875" cap="rnd" algn="ctr">
            <a:solidFill>
              <a:srgbClr val="B3B3B3"/>
            </a:solidFill>
            <a:prstDash val="sysDot"/>
            <a:round/>
            <a:headEnd/>
            <a:tailEnd/>
          </a:ln>
        </p:spPr>
      </p:cxnSp>
      <p:pic>
        <p:nvPicPr>
          <p:cNvPr id="16" name="그림 15" descr="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8000" y="1594800"/>
            <a:ext cx="5574443" cy="4736420"/>
          </a:xfrm>
          <a:prstGeom prst="rect">
            <a:avLst/>
          </a:prstGeom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53468" y="1576251"/>
            <a:ext cx="5559097" cy="212110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9" name="Oval 25"/>
          <p:cNvSpPr>
            <a:spLocks noChangeAspect="1" noChangeArrowheads="1"/>
          </p:cNvSpPr>
          <p:nvPr/>
        </p:nvSpPr>
        <p:spPr bwMode="auto">
          <a:xfrm>
            <a:off x="491672" y="1798519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1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56591" y="3747051"/>
            <a:ext cx="5555974" cy="85476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53454" y="4661452"/>
            <a:ext cx="5559112" cy="163995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0000" tIns="46800" rIns="90000" bIns="46800"/>
          <a:lstStyle/>
          <a:p>
            <a:endParaRPr lang="ko-KR" altLang="en-US"/>
          </a:p>
        </p:txBody>
      </p:sp>
      <p:sp>
        <p:nvSpPr>
          <p:cNvPr id="13" name="Oval 25"/>
          <p:cNvSpPr>
            <a:spLocks noChangeAspect="1" noChangeArrowheads="1"/>
          </p:cNvSpPr>
          <p:nvPr/>
        </p:nvSpPr>
        <p:spPr bwMode="auto">
          <a:xfrm>
            <a:off x="487318" y="3797228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2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14" name="Oval 25"/>
          <p:cNvSpPr>
            <a:spLocks noChangeAspect="1" noChangeArrowheads="1"/>
          </p:cNvSpPr>
          <p:nvPr/>
        </p:nvSpPr>
        <p:spPr bwMode="auto">
          <a:xfrm>
            <a:off x="491665" y="4881491"/>
            <a:ext cx="225054" cy="216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2"/>
                </a:solidFill>
                <a:latin typeface="Tahoma" pitchFamily="34" charset="0"/>
              </a:rPr>
              <a:t>3</a:t>
            </a:r>
            <a:endParaRPr lang="en-US" altLang="ko-KR" sz="1000" dirty="0">
              <a:solidFill>
                <a:schemeClr val="tx2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1650" y="2500313"/>
            <a:ext cx="86423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3200" b="1" dirty="0">
                <a:latin typeface="+mj-lt"/>
                <a:ea typeface="+mj-ea"/>
              </a:rPr>
              <a:t>감사합니다</a:t>
            </a:r>
            <a:r>
              <a:rPr lang="en-US" altLang="ko-KR" sz="3200" b="1" dirty="0">
                <a:latin typeface="+mj-lt"/>
                <a:ea typeface="+mj-ea"/>
              </a:rPr>
              <a:t>.</a:t>
            </a:r>
            <a:endParaRPr lang="ko-KR" altLang="en-US" sz="3200" b="1" dirty="0">
              <a:latin typeface="+mj-lt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목차 슬라이드">
  <a:themeElements>
    <a:clrScheme name="목차 슬라이드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0000" tIns="46800" rIns="90000" bIns="468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목차 슬라이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목차 슬라이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목차 슬라이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목차 슬라이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목차 슬라이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목차 슬라이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목차 슬라이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목차 슬라이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목차 슬라이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목차 슬라이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목차 슬라이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목차 슬라이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83457D08B852C47ACAE8D78BDAF3D1E" ma:contentTypeVersion="0" ma:contentTypeDescription="새 문서를 만듭니다." ma:contentTypeScope="" ma:versionID="fe944d4648f6d22729a18613c9aa7066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258CB3C0-3A4E-4F31-9629-495630B3F0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4C337E-F0EC-40F8-A1EB-89EC78FBA3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37399</TotalTime>
  <Words>396</Words>
  <Application>Microsoft Office PowerPoint</Application>
  <PresentationFormat>A4 용지(210x297mm)</PresentationFormat>
  <Paragraphs>79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HY헤드라인M</vt:lpstr>
      <vt:lpstr>가는둥근제목체</vt:lpstr>
      <vt:lpstr>굴림</vt:lpstr>
      <vt:lpstr>맑은 고딕</vt:lpstr>
      <vt:lpstr>Lucida Sans Unicode</vt:lpstr>
      <vt:lpstr>Tahoma</vt:lpstr>
      <vt:lpstr>Verdana</vt:lpstr>
      <vt:lpstr>Wingdings</vt:lpstr>
      <vt:lpstr>1_목차 슬라이드</vt:lpstr>
      <vt:lpstr>PowerPoint 프레젠테이션</vt:lpstr>
      <vt:lpstr>방화벽 등록 요청 신청서 선택</vt:lpstr>
      <vt:lpstr>방화벽 등록 요청 보안동의서 확인</vt:lpstr>
      <vt:lpstr>방화벽 등록 요청 신청</vt:lpstr>
      <vt:lpstr>방화벽 등록 요청 신청</vt:lpstr>
      <vt:lpstr>방화벽 등록 요청 신청</vt:lpstr>
      <vt:lpstr>조회</vt:lpstr>
      <vt:lpstr>조회(상세)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자산 관리 시스템 </dc:title>
  <dc:creator>SungwookK</dc:creator>
  <cp:lastModifiedBy>최태원/책임/클라우드센터 서비스플랫폼담당 시스템관리팀(wonie.choi@lge.com)</cp:lastModifiedBy>
  <cp:revision>2496</cp:revision>
  <dcterms:created xsi:type="dcterms:W3CDTF">2006-03-29T19:46:19Z</dcterms:created>
  <dcterms:modified xsi:type="dcterms:W3CDTF">2019-12-31T00:09:31Z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0x010100583457D08B852C47ACAE8D78BDAF3D1E</vt:lpwstr>
  </property>
</Properties>
</file>