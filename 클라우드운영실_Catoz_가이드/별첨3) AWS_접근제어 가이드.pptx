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</p:sldMasterIdLst>
  <p:notesMasterIdLst>
    <p:notesMasterId r:id="rId13"/>
  </p:notesMasterIdLst>
  <p:handoutMasterIdLst>
    <p:handoutMasterId r:id="rId14"/>
  </p:handoutMasterIdLst>
  <p:sldIdLst>
    <p:sldId id="472" r:id="rId2"/>
    <p:sldId id="459" r:id="rId3"/>
    <p:sldId id="467" r:id="rId4"/>
    <p:sldId id="468" r:id="rId5"/>
    <p:sldId id="462" r:id="rId6"/>
    <p:sldId id="465" r:id="rId7"/>
    <p:sldId id="461" r:id="rId8"/>
    <p:sldId id="477" r:id="rId9"/>
    <p:sldId id="478" r:id="rId10"/>
    <p:sldId id="479" r:id="rId11"/>
    <p:sldId id="476" r:id="rId12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4319">
          <p15:clr>
            <a:srgbClr val="A4A3A4"/>
          </p15:clr>
        </p15:guide>
        <p15:guide id="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B9"/>
    <a:srgbClr val="FF9393"/>
    <a:srgbClr val="FFE1E1"/>
    <a:srgbClr val="FFFFFF"/>
    <a:srgbClr val="FFFF99"/>
    <a:srgbClr val="777777"/>
    <a:srgbClr val="DDDDDD"/>
    <a:srgbClr val="EAEAEA"/>
    <a:srgbClr val="969696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0" autoAdjust="0"/>
    <p:restoredTop sz="84227" autoAdjust="0"/>
  </p:normalViewPr>
  <p:slideViewPr>
    <p:cSldViewPr showGuides="1">
      <p:cViewPr varScale="1">
        <p:scale>
          <a:sx n="161" d="100"/>
          <a:sy n="161" d="100"/>
        </p:scale>
        <p:origin x="3804" y="138"/>
      </p:cViewPr>
      <p:guideLst>
        <p:guide orient="horz"/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4" d="100"/>
          <a:sy n="84" d="100"/>
        </p:scale>
        <p:origin x="3072" y="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pPr>
              <a:defRPr/>
            </a:pPr>
            <a:fld id="{97710741-CB76-491C-8051-A1535C02B95D}" type="datetimeFigureOut">
              <a:rPr lang="ko-KR" altLang="en-US"/>
              <a:pPr>
                <a:defRPr/>
              </a:pPr>
              <a:t>2024-01-24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pPr>
              <a:defRPr/>
            </a:pPr>
            <a:fld id="{E18DAEE5-4785-4148-B29C-F529FE8DC5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65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5" y="4715192"/>
            <a:ext cx="5437506" cy="4466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3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3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3" y="9428800"/>
            <a:ext cx="2945448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656D385-3D2E-4CFC-B470-C2302F945F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4244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924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8428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47403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6198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8428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4454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8428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9670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912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5974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56D385-3D2E-4CFC-B470-C2302F945F21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72153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654347" y="6523038"/>
            <a:ext cx="569913" cy="277812"/>
          </a:xfrm>
          <a:prstGeom prst="rect">
            <a:avLst/>
          </a:prstGeom>
          <a:ln/>
        </p:spPr>
        <p:txBody>
          <a:bodyPr/>
          <a:lstStyle>
            <a:lvl1pPr algn="ctr">
              <a:defRPr sz="1000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fld id="{34C39BB4-A66D-43B2-B13B-B1D493A6F59C}" type="slidenum">
              <a:rPr kumimoji="0" lang="en-US" altLang="ko-KR" kern="0" smtClean="0">
                <a:solidFill>
                  <a:sysClr val="windowText" lastClr="000000"/>
                </a:solidFill>
              </a:rPr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kern="0" dirty="0">
                <a:solidFill>
                  <a:sysClr val="windowText" lastClr="000000"/>
                </a:solidFill>
              </a:rPr>
              <a:t>/11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/>
          <a:lstStyle/>
          <a:p>
            <a:fld id="{04F9D21F-9257-4F16-BD46-5CA55931E033}" type="datetimeFigureOut">
              <a:rPr lang="ko-KR" altLang="en-US" smtClean="0"/>
              <a:pPr/>
              <a:t>2024-01-24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9691-A8E8-4AA2-8107-14433578AC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390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Line 21"/>
          <p:cNvSpPr>
            <a:spLocks noChangeShapeType="1"/>
          </p:cNvSpPr>
          <p:nvPr/>
        </p:nvSpPr>
        <p:spPr bwMode="auto">
          <a:xfrm>
            <a:off x="0" y="64531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pic>
        <p:nvPicPr>
          <p:cNvPr id="6147" name="Picture 2" descr="D:\●2012\업무계획수립\과제별\슬로건 변경안\신규 Visual파일들\LGE Slogan 2012_Text_PPT용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050" y="6600825"/>
            <a:ext cx="2879725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Line 14"/>
          <p:cNvSpPr>
            <a:spLocks noChangeShapeType="1"/>
          </p:cNvSpPr>
          <p:nvPr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pic>
        <p:nvPicPr>
          <p:cNvPr id="6149" name="Picture 9"/>
          <p:cNvPicPr>
            <a:picLocks noChangeAspect="1" noChangeArrowheads="1"/>
          </p:cNvPicPr>
          <p:nvPr/>
        </p:nvPicPr>
        <p:blipFill>
          <a:blip r:embed="rId5" cstate="print"/>
          <a:srcRect b="6294"/>
          <a:stretch>
            <a:fillRect/>
          </a:stretch>
        </p:blipFill>
        <p:spPr bwMode="auto">
          <a:xfrm>
            <a:off x="9064625" y="34925"/>
            <a:ext cx="7620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Text Box 168"/>
          <p:cNvSpPr txBox="1">
            <a:spLocks noChangeArrowheads="1"/>
          </p:cNvSpPr>
          <p:nvPr/>
        </p:nvSpPr>
        <p:spPr bwMode="auto">
          <a:xfrm>
            <a:off x="4089400" y="153988"/>
            <a:ext cx="1716088" cy="284162"/>
          </a:xfrm>
          <a:prstGeom prst="rect">
            <a:avLst/>
          </a:prstGeom>
          <a:noFill/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>
                <a:solidFill>
                  <a:srgbClr val="C0C0C0"/>
                </a:solidFill>
                <a:latin typeface="Arial" charset="0"/>
                <a:ea typeface="맑은 고딕" pitchFamily="50" charset="-127"/>
              </a:rPr>
              <a:t>LGE Internal Use Only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4654347" y="6523038"/>
            <a:ext cx="569913" cy="277812"/>
          </a:xfrm>
          <a:prstGeom prst="rect">
            <a:avLst/>
          </a:prstGeom>
          <a:ln/>
        </p:spPr>
        <p:txBody>
          <a:bodyPr/>
          <a:lstStyle>
            <a:lvl1pPr algn="ctr">
              <a:defRPr sz="1000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fld id="{34C39BB4-A66D-43B2-B13B-B1D493A6F59C}" type="slidenum">
              <a:rPr kumimoji="0" lang="en-US" altLang="ko-KR" kern="0" smtClean="0">
                <a:solidFill>
                  <a:sysClr val="windowText" lastClr="000000"/>
                </a:solidFill>
              </a:rPr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en-US" altLang="ko-KR" kern="0" dirty="0">
                <a:solidFill>
                  <a:sysClr val="windowText" lastClr="000000"/>
                </a:solidFill>
              </a:rPr>
              <a:t>/11</a:t>
            </a:r>
          </a:p>
        </p:txBody>
      </p:sp>
      <p:sp>
        <p:nvSpPr>
          <p:cNvPr id="3" name="MSIPCMContentMarking" descr="{&quot;HashCode&quot;:966751382,&quot;Placement&quot;:&quot;Header&quot;,&quot;Top&quot;:0.0,&quot;Left&quot;:323.954651,&quot;SlideWidth&quot;:780,&quot;SlideHeight&quot;:540}"/>
          <p:cNvSpPr txBox="1"/>
          <p:nvPr userDrawn="1"/>
        </p:nvSpPr>
        <p:spPr>
          <a:xfrm>
            <a:off x="4114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88900" indent="-88900" algn="ctr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200" smtClean="0">
                <a:solidFill>
                  <a:srgbClr val="000000"/>
                </a:solidFill>
                <a:latin typeface="Calibri" panose="020F0502020204030204" pitchFamily="34" charset="0"/>
                <a:ea typeface="돋움" pitchFamily="50" charset="-127"/>
              </a:rPr>
              <a:t>LGE Internal Use Only</a:t>
            </a:r>
            <a:endParaRPr lang="ko-KR" altLang="en-US" sz="1200" dirty="0" smtClean="0">
              <a:solidFill>
                <a:srgbClr val="000000"/>
              </a:solidFill>
              <a:latin typeface="Calibri" panose="020F0502020204030204" pitchFamily="34" charset="0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3">
            <a:extLst>
              <a:ext uri="{FF2B5EF4-FFF2-40B4-BE49-F238E27FC236}">
                <a16:creationId xmlns="" xmlns:a16="http://schemas.microsoft.com/office/drawing/2014/main" id="{07654991-FF71-4E61-B7E0-DE0E33306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063" y="1255799"/>
            <a:ext cx="39645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defRPr kumimoji="1" sz="1600" b="1">
                <a:solidFill>
                  <a:schemeClr val="tx1"/>
                </a:solidFill>
                <a:latin typeface="Arial" charset="0"/>
                <a:ea typeface="돋움" pitchFamily="50" charset="-127"/>
                <a:cs typeface="Arial" charset="0"/>
              </a:defRPr>
            </a:lvl1pPr>
            <a:lvl2pPr marL="742950" indent="-285750" algn="l" eaLnBrk="0" hangingPunct="0">
              <a:spcBef>
                <a:spcPct val="20000"/>
              </a:spcBef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2pPr>
            <a:lvl3pPr marL="1143000" indent="-228600" algn="l" eaLnBrk="0" hangingPunct="0">
              <a:spcBef>
                <a:spcPct val="20000"/>
              </a:spcBef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3pPr>
            <a:lvl4pPr marL="1600200" indent="-228600" algn="l" eaLnBrk="0" hangingPunct="0">
              <a:spcBef>
                <a:spcPct val="20000"/>
              </a:spcBef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  <a:cs typeface="굴림" charset="-127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3200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AWS </a:t>
            </a:r>
            <a:r>
              <a:rPr lang="ko-KR" altLang="en-US" sz="3200" dirty="0" smtClean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접근제어 가이드</a:t>
            </a:r>
            <a:endParaRPr lang="ko-KR" altLang="en-US" sz="3200" dirty="0">
              <a:solidFill>
                <a:prstClr val="black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 Box 16">
            <a:extLst>
              <a:ext uri="{FF2B5EF4-FFF2-40B4-BE49-F238E27FC236}">
                <a16:creationId xmlns="" xmlns:a16="http://schemas.microsoft.com/office/drawing/2014/main" id="{F3F72D01-5028-448D-8CD2-7072F0910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067" y="2780928"/>
            <a:ext cx="3063134" cy="1765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36000" rIns="36000" bIns="36000">
            <a:spAutoFit/>
          </a:bodyPr>
          <a:lstStyle>
            <a:lvl1pPr marL="182563" indent="-182563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marL="0" indent="0" eaLnBrk="1" hangingPunct="1">
              <a:spcBef>
                <a:spcPts val="1200"/>
              </a:spcBef>
            </a:pP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0. AWS 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(EC2)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접근 제어 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개요</a:t>
            </a:r>
            <a:endParaRPr lang="en-US" altLang="ko-KR" sz="1400" dirty="0">
              <a:solidFill>
                <a:prstClr val="black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66700" indent="-26670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AWS Hub 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생성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</a:t>
            </a:r>
          </a:p>
          <a:p>
            <a:pPr marL="266700" indent="-26670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 계정 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요청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endParaRPr lang="en-US" altLang="ko-KR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66700" indent="-26670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통한 </a:t>
            </a: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endParaRPr lang="en-US" altLang="ko-KR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66700" indent="-266700" eaLnBrk="1" hangingPunct="1">
              <a:spcBef>
                <a:spcPts val="1200"/>
              </a:spcBef>
              <a:buFont typeface="+mj-lt"/>
              <a:buAutoNum type="arabicPeriod"/>
            </a:pP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</a:t>
            </a:r>
            <a:r>
              <a:rPr lang="ko-KR" altLang="en-US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endParaRPr lang="en-US" altLang="ko-KR" sz="14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="" xmlns:a16="http://schemas.microsoft.com/office/drawing/2014/main" id="{F677231C-8D68-43C4-9FC3-2E66533EA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320" y="2254764"/>
            <a:ext cx="792036" cy="32316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162000" rIns="162000" anchor="ctr">
            <a:spAutoFit/>
          </a:bodyPr>
          <a:lstStyle>
            <a:lvl1pPr marL="177800" indent="-1778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defTabSz="914400"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ko-KR" altLang="en-US" sz="1500" u="sng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  차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47562" y="5252979"/>
            <a:ext cx="1497526" cy="366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ko-KR" altLang="en-US" sz="1600" b="1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플랫폼</a:t>
            </a:r>
            <a:r>
              <a:rPr lang="ko-KR" altLang="en-US" sz="1600" b="1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인프라팀</a:t>
            </a:r>
            <a:endParaRPr lang="ko-KR" altLang="en-US" sz="1600" b="1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2802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왼쪽/오른쪽 화살표 1052"/>
          <p:cNvSpPr/>
          <p:nvPr/>
        </p:nvSpPr>
        <p:spPr>
          <a:xfrm>
            <a:off x="2604633" y="5205093"/>
            <a:ext cx="1788779" cy="368102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4663065" y="958353"/>
            <a:ext cx="2417231" cy="1511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 계정만 허용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시스템을 통한 자동생성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통한 시스템 접근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LGE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패스워드 관리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Rule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적용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최대 사용기간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90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만료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일전경고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영문자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숫자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특수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 포함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8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자이상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직전 패스워드 사용불가 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계정으로 유추가능한 패스워드 사용불가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19691-A8E8-4AA2-8107-14433578ACF5}" type="slidenum">
              <a:rPr lang="ko-KR" altLang="en-US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pPr/>
              <a:t>1</a:t>
            </a:fld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5" name="Picture 365" descr="user_gra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8334" y="2901770"/>
            <a:ext cx="640325" cy="53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14122" y="3512594"/>
            <a:ext cx="1027845" cy="8104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개발자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시스템운영자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서비스운영자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상암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서울스퀘어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서울대연구소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강서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트윈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서초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464" y="188640"/>
            <a:ext cx="31790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AWS 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</a:t>
            </a: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(EC2)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접근 </a:t>
            </a:r>
            <a:r>
              <a:rPr lang="ko-KR" altLang="en-US" sz="16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제어 </a:t>
            </a:r>
            <a:r>
              <a:rPr lang="ko-KR" altLang="en-US" sz="16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개요</a:t>
            </a:r>
            <a:endParaRPr lang="en-US" altLang="ko-KR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079046" y="2869253"/>
            <a:ext cx="1083951" cy="601184"/>
            <a:chOff x="1677730" y="2915470"/>
            <a:chExt cx="1083951" cy="601184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1712640" y="2915470"/>
              <a:ext cx="1030606" cy="60118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84"/>
            <a:stretch/>
          </p:blipFill>
          <p:spPr bwMode="auto">
            <a:xfrm>
              <a:off x="1776410" y="2945768"/>
              <a:ext cx="800326" cy="436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1677730" y="3340516"/>
              <a:ext cx="1083951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lnSpc>
                  <a:spcPts val="600"/>
                </a:lnSpc>
                <a:spcBef>
                  <a:spcPts val="400"/>
                </a:spcBef>
                <a:defRPr sz="800" b="1">
                  <a:solidFill>
                    <a:schemeClr val="bg1">
                      <a:lumMod val="50000"/>
                    </a:schemeClr>
                  </a:solidFill>
                  <a:latin typeface="LG스마트체 Light" panose="020B0600000101010101" pitchFamily="50" charset="-127"/>
                  <a:ea typeface="LG스마트체 Light" panose="020B0600000101010101" pitchFamily="50" charset="-127"/>
                </a:defRPr>
              </a:lvl1pPr>
            </a:lstStyle>
            <a:p>
              <a:r>
                <a:rPr lang="en-US" altLang="ko-KR">
                  <a:latin typeface="LG스마트체2.0 Regular" panose="020B0600000101010101" pitchFamily="50" charset="-127"/>
                  <a:ea typeface="LG스마트체2.0 Regular" panose="020B0600000101010101" pitchFamily="50" charset="-127"/>
                </a:rPr>
                <a:t>LGE ACS (GateOne)</a:t>
              </a:r>
            </a:p>
          </p:txBody>
        </p:sp>
      </p:grpSp>
      <p:cxnSp>
        <p:nvCxnSpPr>
          <p:cNvPr id="10" name="직선 화살표 연결선 9"/>
          <p:cNvCxnSpPr>
            <a:stCxn id="5" idx="3"/>
            <a:endCxn id="21" idx="1"/>
          </p:cNvCxnSpPr>
          <p:nvPr/>
        </p:nvCxnSpPr>
        <p:spPr bwMode="auto">
          <a:xfrm>
            <a:off x="1148659" y="3168978"/>
            <a:ext cx="965297" cy="867"/>
          </a:xfrm>
          <a:prstGeom prst="straightConnector1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81469" y="3020969"/>
            <a:ext cx="84510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HTTPS (443)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698" y="2636912"/>
            <a:ext cx="899605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</a:t>
            </a:r>
          </a:p>
          <a:p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접속계정신청</a:t>
            </a:r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1472351" y="2639330"/>
            <a:ext cx="8161169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551409" y="3020969"/>
            <a:ext cx="99738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SSH ( 101010 )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15403" y="3205345"/>
            <a:ext cx="958917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접근통제시스템 </a:t>
            </a:r>
            <a:endParaRPr lang="en-US" altLang="ko-KR" sz="90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로그인</a:t>
            </a:r>
            <a:r>
              <a:rPr lang="en-US" altLang="ko-KR" sz="9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(ID/PW)</a:t>
            </a:r>
          </a:p>
        </p:txBody>
      </p:sp>
      <p:cxnSp>
        <p:nvCxnSpPr>
          <p:cNvPr id="108" name="직선 화살표 연결선 107"/>
          <p:cNvCxnSpPr>
            <a:stCxn id="21" idx="3"/>
            <a:endCxn id="112" idx="1"/>
          </p:cNvCxnSpPr>
          <p:nvPr/>
        </p:nvCxnSpPr>
        <p:spPr bwMode="auto">
          <a:xfrm flipV="1">
            <a:off x="3144562" y="3168977"/>
            <a:ext cx="1624135" cy="868"/>
          </a:xfrm>
          <a:prstGeom prst="straightConnector1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2" name="모서리가 둥근 직사각형 111"/>
          <p:cNvSpPr/>
          <p:nvPr/>
        </p:nvSpPr>
        <p:spPr>
          <a:xfrm>
            <a:off x="4768697" y="2868385"/>
            <a:ext cx="1030606" cy="601184"/>
          </a:xfrm>
          <a:prstGeom prst="roundRect">
            <a:avLst/>
          </a:prstGeom>
          <a:solidFill>
            <a:srgbClr val="FFB9B9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348884" y="620688"/>
            <a:ext cx="1305165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ko-KR" altLang="en-US" sz="9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생성 관리 정책</a:t>
            </a:r>
            <a:endParaRPr lang="en-US" altLang="ko-KR" sz="9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3603952" y="3188869"/>
            <a:ext cx="50206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en-US" altLang="ko-KR" sz="9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LINUX</a:t>
            </a:r>
          </a:p>
        </p:txBody>
      </p:sp>
      <p:sp>
        <p:nvSpPr>
          <p:cNvPr id="1028" name="모서리가 둥근 직사각형 1027"/>
          <p:cNvSpPr/>
          <p:nvPr/>
        </p:nvSpPr>
        <p:spPr>
          <a:xfrm>
            <a:off x="4647411" y="2763955"/>
            <a:ext cx="1305463" cy="804059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38" name="Picture 7"/>
          <p:cNvPicPr>
            <a:picLocks noChangeAspect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3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597" y="2897657"/>
            <a:ext cx="452201" cy="54264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4967155" y="2908736"/>
            <a:ext cx="647934" cy="5437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</a:t>
            </a:r>
          </a:p>
          <a:p>
            <a:pPr>
              <a:lnSpc>
                <a:spcPct val="100000"/>
              </a:lnSpc>
            </a:pPr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HOST</a:t>
            </a:r>
          </a:p>
        </p:txBody>
      </p:sp>
      <p:sp>
        <p:nvSpPr>
          <p:cNvPr id="1029" name="타원 1028"/>
          <p:cNvSpPr/>
          <p:nvPr/>
        </p:nvSpPr>
        <p:spPr>
          <a:xfrm>
            <a:off x="4595094" y="3115876"/>
            <a:ext cx="108000" cy="108000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31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733" y="3128811"/>
            <a:ext cx="428625" cy="32385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" name="TextBox 191"/>
          <p:cNvSpPr txBox="1"/>
          <p:nvPr/>
        </p:nvSpPr>
        <p:spPr>
          <a:xfrm>
            <a:off x="4592960" y="816572"/>
            <a:ext cx="7312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algn="l"/>
            <a:r>
              <a:rPr lang="en-US" altLang="ko-KR" sz="9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HOST</a:t>
            </a:r>
          </a:p>
        </p:txBody>
      </p:sp>
      <p:cxnSp>
        <p:nvCxnSpPr>
          <p:cNvPr id="200" name="직선 연결선 199"/>
          <p:cNvCxnSpPr>
            <a:cxnSpLocks/>
          </p:cNvCxnSpPr>
          <p:nvPr/>
        </p:nvCxnSpPr>
        <p:spPr>
          <a:xfrm>
            <a:off x="3457308" y="2636912"/>
            <a:ext cx="0" cy="3072237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2746983" y="5330439"/>
            <a:ext cx="70884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algn="l"/>
            <a:r>
              <a:rPr lang="ko-KR" altLang="en-US" sz="1100" b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상암 </a:t>
            </a:r>
            <a:r>
              <a:rPr lang="en-US" altLang="ko-KR" sz="1100" b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IDC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457308" y="5329552"/>
            <a:ext cx="865943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algn="l"/>
            <a:r>
              <a:rPr lang="en-US" altLang="ko-KR" sz="1100" b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AWS(VPC)</a:t>
            </a:r>
          </a:p>
        </p:txBody>
      </p:sp>
      <p:sp>
        <p:nvSpPr>
          <p:cNvPr id="241" name="모서리가 둥근 직사각형 240"/>
          <p:cNvSpPr/>
          <p:nvPr/>
        </p:nvSpPr>
        <p:spPr>
          <a:xfrm>
            <a:off x="8124877" y="2763955"/>
            <a:ext cx="1126656" cy="2864840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8248274" y="5222873"/>
            <a:ext cx="891590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ts val="800"/>
              </a:lnSpc>
            </a:pPr>
            <a:r>
              <a:rPr lang="en-US" altLang="ko-KR" sz="11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</a:t>
            </a:r>
          </a:p>
          <a:p>
            <a:pPr>
              <a:lnSpc>
                <a:spcPts val="800"/>
              </a:lnSpc>
            </a:pPr>
            <a:r>
              <a:rPr lang="en-US" altLang="ko-KR" sz="11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HOST(EC2)</a:t>
            </a:r>
          </a:p>
        </p:txBody>
      </p:sp>
      <p:cxnSp>
        <p:nvCxnSpPr>
          <p:cNvPr id="247" name="직선 화살표 연결선 246"/>
          <p:cNvCxnSpPr>
            <a:cxnSpLocks/>
          </p:cNvCxnSpPr>
          <p:nvPr/>
        </p:nvCxnSpPr>
        <p:spPr bwMode="auto">
          <a:xfrm>
            <a:off x="5600736" y="3732865"/>
            <a:ext cx="2492862" cy="278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1" name="직선 화살표 연결선 250"/>
          <p:cNvCxnSpPr/>
          <p:nvPr/>
        </p:nvCxnSpPr>
        <p:spPr bwMode="auto">
          <a:xfrm>
            <a:off x="5607862" y="3468283"/>
            <a:ext cx="0" cy="264582"/>
          </a:xfrm>
          <a:prstGeom prst="straightConnector1">
            <a:avLst/>
          </a:prstGeom>
          <a:noFill/>
          <a:ln w="254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2" name="TextBox 261"/>
          <p:cNvSpPr txBox="1"/>
          <p:nvPr/>
        </p:nvSpPr>
        <p:spPr>
          <a:xfrm>
            <a:off x="2038849" y="3468663"/>
            <a:ext cx="1239442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 </a:t>
            </a:r>
            <a:r>
              <a:rPr lang="ko-KR" altLang="en-US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 로그인 기록 저장</a:t>
            </a:r>
          </a:p>
        </p:txBody>
      </p:sp>
      <p:pic>
        <p:nvPicPr>
          <p:cNvPr id="269" name="Picture 68"/>
          <p:cNvPicPr>
            <a:picLocks noChangeAspect="1"/>
          </p:cNvPicPr>
          <p:nvPr/>
        </p:nvPicPr>
        <p:blipFill>
          <a:blip r:embed="rId8" cstate="print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801" y="2965243"/>
            <a:ext cx="415152" cy="430528"/>
          </a:xfrm>
          <a:prstGeom prst="rect">
            <a:avLst/>
          </a:prstGeom>
        </p:spPr>
      </p:pic>
      <p:pic>
        <p:nvPicPr>
          <p:cNvPr id="270" name="Picture 68"/>
          <p:cNvPicPr>
            <a:picLocks noChangeAspect="1"/>
          </p:cNvPicPr>
          <p:nvPr/>
        </p:nvPicPr>
        <p:blipFill>
          <a:blip r:embed="rId10" cstate="print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935" y="3515219"/>
            <a:ext cx="415152" cy="430528"/>
          </a:xfrm>
          <a:prstGeom prst="rect">
            <a:avLst/>
          </a:prstGeom>
        </p:spPr>
      </p:pic>
      <p:sp>
        <p:nvSpPr>
          <p:cNvPr id="271" name="TextBox 270"/>
          <p:cNvSpPr txBox="1"/>
          <p:nvPr/>
        </p:nvSpPr>
        <p:spPr>
          <a:xfrm>
            <a:off x="8406178" y="3010708"/>
            <a:ext cx="431529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SVC1</a:t>
            </a:r>
          </a:p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WEB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417930" y="3556747"/>
            <a:ext cx="431529" cy="348813"/>
          </a:xfrm>
          <a:prstGeom prst="rect">
            <a:avLst/>
          </a:prstGeom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SVC1</a:t>
            </a:r>
          </a:p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WAS</a:t>
            </a:r>
          </a:p>
        </p:txBody>
      </p:sp>
      <p:pic>
        <p:nvPicPr>
          <p:cNvPr id="277" name="Picture 68"/>
          <p:cNvPicPr>
            <a:picLocks noChangeAspect="1"/>
          </p:cNvPicPr>
          <p:nvPr/>
        </p:nvPicPr>
        <p:blipFill>
          <a:blip r:embed="rId10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803" y="4052965"/>
            <a:ext cx="415152" cy="430528"/>
          </a:xfrm>
          <a:prstGeom prst="rect">
            <a:avLst/>
          </a:prstGeom>
        </p:spPr>
      </p:pic>
      <p:pic>
        <p:nvPicPr>
          <p:cNvPr id="278" name="Picture 68"/>
          <p:cNvPicPr>
            <a:picLocks noChangeAspect="1"/>
          </p:cNvPicPr>
          <p:nvPr/>
        </p:nvPicPr>
        <p:blipFill>
          <a:blip r:embed="rId10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478" y="4598796"/>
            <a:ext cx="415152" cy="430528"/>
          </a:xfrm>
          <a:prstGeom prst="rect">
            <a:avLst/>
          </a:prstGeom>
        </p:spPr>
      </p:pic>
      <p:sp>
        <p:nvSpPr>
          <p:cNvPr id="279" name="TextBox 278"/>
          <p:cNvSpPr txBox="1"/>
          <p:nvPr/>
        </p:nvSpPr>
        <p:spPr>
          <a:xfrm>
            <a:off x="8413180" y="4098430"/>
            <a:ext cx="431529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SVC2</a:t>
            </a:r>
          </a:p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WEB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409473" y="4640324"/>
            <a:ext cx="431529" cy="348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SVC2</a:t>
            </a:r>
          </a:p>
          <a:p>
            <a:pPr>
              <a:lnSpc>
                <a:spcPts val="800"/>
              </a:lnSpc>
            </a:pPr>
            <a:r>
              <a:rPr lang="en-US" altLang="ko-KR">
                <a:solidFill>
                  <a:schemeClr val="bg1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WAS</a:t>
            </a:r>
          </a:p>
        </p:txBody>
      </p:sp>
      <p:cxnSp>
        <p:nvCxnSpPr>
          <p:cNvPr id="289" name="직선 화살표 연결선 288"/>
          <p:cNvCxnSpPr>
            <a:cxnSpLocks/>
            <a:endCxn id="271" idx="1"/>
          </p:cNvCxnSpPr>
          <p:nvPr/>
        </p:nvCxnSpPr>
        <p:spPr>
          <a:xfrm flipV="1">
            <a:off x="7596893" y="3185115"/>
            <a:ext cx="809285" cy="922346"/>
          </a:xfrm>
          <a:prstGeom prst="straightConnector1">
            <a:avLst/>
          </a:prstGeom>
          <a:ln w="6350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" name="직선 화살표 연결선 295"/>
          <p:cNvCxnSpPr>
            <a:cxnSpLocks/>
            <a:endCxn id="279" idx="1"/>
          </p:cNvCxnSpPr>
          <p:nvPr/>
        </p:nvCxnSpPr>
        <p:spPr>
          <a:xfrm>
            <a:off x="7596893" y="4107460"/>
            <a:ext cx="816287" cy="165377"/>
          </a:xfrm>
          <a:prstGeom prst="straightConnector1">
            <a:avLst/>
          </a:prstGeom>
          <a:ln w="6350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8" name="TextBox 317"/>
          <p:cNvSpPr txBox="1"/>
          <p:nvPr/>
        </p:nvSpPr>
        <p:spPr>
          <a:xfrm>
            <a:off x="7592994" y="3916900"/>
            <a:ext cx="3577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sz="15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○</a:t>
            </a:r>
            <a:endParaRPr lang="en-US" altLang="ko-KR" sz="1500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19" name="Picture 18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968" y="4076084"/>
            <a:ext cx="162801" cy="162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1" name="직사각형 320"/>
          <p:cNvSpPr/>
          <p:nvPr/>
        </p:nvSpPr>
        <p:spPr>
          <a:xfrm>
            <a:off x="7024988" y="954026"/>
            <a:ext cx="2143730" cy="1511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 계정 생성 및 사용하지 않음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</a:t>
            </a:r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Vault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통해 사용자 인증 및 </a:t>
            </a:r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부여된 권한으로 </a:t>
            </a:r>
            <a:r>
              <a:rPr lang="ko-KR" altLang="en-US" sz="90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</a:t>
            </a:r>
            <a:r>
              <a:rPr lang="ko-KR" altLang="en-US" sz="90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접근 허용</a:t>
            </a:r>
            <a:endParaRPr lang="en-US" altLang="ko-KR" sz="900" dirty="0" smtClean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계정은 패스워드 정책 </a:t>
            </a:r>
            <a:r>
              <a:rPr lang="ko-KR" altLang="en-US" sz="900" dirty="0" smtClean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예외</a:t>
            </a:r>
            <a:endParaRPr lang="en-US" altLang="ko-KR" sz="900" dirty="0" smtClean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6948532" y="821168"/>
            <a:ext cx="93807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algn="l"/>
            <a:r>
              <a:rPr lang="en-US" altLang="ko-KR" sz="900" u="sng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 HOST</a:t>
            </a:r>
          </a:p>
        </p:txBody>
      </p:sp>
      <p:cxnSp>
        <p:nvCxnSpPr>
          <p:cNvPr id="154" name="직선 화살표 연결선 153">
            <a:extLst>
              <a:ext uri="{FF2B5EF4-FFF2-40B4-BE49-F238E27FC236}">
                <a16:creationId xmlns="" xmlns:a16="http://schemas.microsoft.com/office/drawing/2014/main" id="{035B0726-4688-4C5D-B628-9F3927D27B69}"/>
              </a:ext>
            </a:extLst>
          </p:cNvPr>
          <p:cNvCxnSpPr>
            <a:cxnSpLocks/>
            <a:endCxn id="270" idx="1"/>
          </p:cNvCxnSpPr>
          <p:nvPr/>
        </p:nvCxnSpPr>
        <p:spPr>
          <a:xfrm flipV="1">
            <a:off x="7596893" y="3730483"/>
            <a:ext cx="827042" cy="376977"/>
          </a:xfrm>
          <a:prstGeom prst="straightConnector1">
            <a:avLst/>
          </a:prstGeom>
          <a:ln w="6350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="" xmlns:a16="http://schemas.microsoft.com/office/drawing/2014/main" id="{3CE88943-141E-4A43-ABDD-CC83E8B2F858}"/>
              </a:ext>
            </a:extLst>
          </p:cNvPr>
          <p:cNvCxnSpPr>
            <a:cxnSpLocks/>
            <a:endCxn id="280" idx="1"/>
          </p:cNvCxnSpPr>
          <p:nvPr/>
        </p:nvCxnSpPr>
        <p:spPr>
          <a:xfrm>
            <a:off x="7588778" y="4290677"/>
            <a:ext cx="820695" cy="524054"/>
          </a:xfrm>
          <a:prstGeom prst="straightConnector1">
            <a:avLst/>
          </a:prstGeom>
          <a:ln w="635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="" xmlns:a16="http://schemas.microsoft.com/office/drawing/2014/main" id="{5721C2BA-E6BB-4CDE-B785-93A858E1C487}"/>
              </a:ext>
            </a:extLst>
          </p:cNvPr>
          <p:cNvSpPr txBox="1"/>
          <p:nvPr/>
        </p:nvSpPr>
        <p:spPr>
          <a:xfrm>
            <a:off x="7600663" y="4292842"/>
            <a:ext cx="3577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r>
              <a:rPr lang="ko-KR" altLang="en-US" sz="1500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○</a:t>
            </a:r>
            <a:endParaRPr lang="en-US" altLang="ko-KR" sz="1500" dirty="0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="" xmlns:a16="http://schemas.microsoft.com/office/drawing/2014/main" id="{DF62F38E-B27A-4006-B84B-3C0AE860B78A}"/>
              </a:ext>
            </a:extLst>
          </p:cNvPr>
          <p:cNvCxnSpPr>
            <a:cxnSpLocks/>
            <a:endCxn id="272" idx="1"/>
          </p:cNvCxnSpPr>
          <p:nvPr/>
        </p:nvCxnSpPr>
        <p:spPr>
          <a:xfrm flipV="1">
            <a:off x="7588778" y="3731154"/>
            <a:ext cx="829152" cy="559524"/>
          </a:xfrm>
          <a:prstGeom prst="straightConnector1">
            <a:avLst/>
          </a:prstGeom>
          <a:ln w="635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="" xmlns:a16="http://schemas.microsoft.com/office/drawing/2014/main" id="{761E265B-51AA-40BF-AA63-047C040E3955}"/>
              </a:ext>
            </a:extLst>
          </p:cNvPr>
          <p:cNvCxnSpPr>
            <a:cxnSpLocks/>
            <a:endCxn id="279" idx="1"/>
          </p:cNvCxnSpPr>
          <p:nvPr/>
        </p:nvCxnSpPr>
        <p:spPr>
          <a:xfrm flipV="1">
            <a:off x="7588778" y="4272837"/>
            <a:ext cx="824402" cy="17840"/>
          </a:xfrm>
          <a:prstGeom prst="straightConnector1">
            <a:avLst/>
          </a:prstGeom>
          <a:ln w="6350">
            <a:solidFill>
              <a:schemeClr val="accent6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직사각형 169">
            <a:extLst>
              <a:ext uri="{FF2B5EF4-FFF2-40B4-BE49-F238E27FC236}">
                <a16:creationId xmlns="" xmlns:a16="http://schemas.microsoft.com/office/drawing/2014/main" id="{F3E4D918-B473-40CD-BFD3-582F9C784F2C}"/>
              </a:ext>
            </a:extLst>
          </p:cNvPr>
          <p:cNvSpPr/>
          <p:nvPr/>
        </p:nvSpPr>
        <p:spPr>
          <a:xfrm>
            <a:off x="892694" y="958353"/>
            <a:ext cx="2316764" cy="8010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통해서만 서버 접속이 가능함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는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통해서 접근 제어 됨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등록을 위한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필요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EC2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접속을 위한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필요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="" xmlns:a16="http://schemas.microsoft.com/office/drawing/2014/main" id="{B96CD0FF-1BC3-4685-9B4E-BD58F63B0012}"/>
              </a:ext>
            </a:extLst>
          </p:cNvPr>
          <p:cNvSpPr txBox="1"/>
          <p:nvPr/>
        </p:nvSpPr>
        <p:spPr>
          <a:xfrm>
            <a:off x="701141" y="620688"/>
            <a:ext cx="105990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l"/>
            </a:pPr>
            <a:r>
              <a:rPr lang="ko-KR" altLang="en-US" sz="9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접근 제어 정책</a:t>
            </a:r>
            <a:endParaRPr lang="en-US" altLang="ko-KR" sz="9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="" xmlns:a16="http://schemas.microsoft.com/office/drawing/2014/main" id="{DA360828-5488-45EE-9736-91FE768CB324}"/>
              </a:ext>
            </a:extLst>
          </p:cNvPr>
          <p:cNvSpPr txBox="1"/>
          <p:nvPr/>
        </p:nvSpPr>
        <p:spPr>
          <a:xfrm>
            <a:off x="822588" y="816572"/>
            <a:ext cx="120577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lnSpc>
                <a:spcPts val="600"/>
              </a:lnSpc>
              <a:spcBef>
                <a:spcPts val="400"/>
              </a:spcBef>
              <a:defRPr sz="800" b="1">
                <a:solidFill>
                  <a:schemeClr val="bg1">
                    <a:lumMod val="50000"/>
                  </a:schemeClr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defRPr>
            </a:lvl1pPr>
          </a:lstStyle>
          <a:p>
            <a:pPr algn="l"/>
            <a:r>
              <a:rPr lang="en-US" altLang="ko-KR" sz="9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</a:t>
            </a:r>
            <a:r>
              <a:rPr lang="ko-KR" altLang="en-US" sz="9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통한 접근제어</a:t>
            </a:r>
            <a:endParaRPr lang="en-US" altLang="ko-KR" sz="900" u="sng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8815" y="3893203"/>
            <a:ext cx="502246" cy="48364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080297" y="4398772"/>
            <a:ext cx="45076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9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Vault</a:t>
            </a:r>
            <a:endParaRPr lang="ko-KR" altLang="en-US" sz="9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077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2903359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개인계정 생성 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(EP</a:t>
            </a:r>
            <a:r>
              <a:rPr lang="ko-KR" altLang="en-US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신청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en-US" altLang="ko-KR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28464" y="812875"/>
            <a:ext cx="1657826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3-1. HUB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 계정 생성</a:t>
            </a:r>
            <a:endParaRPr lang="en-US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2155CA5E-2EA6-4AC8-8F42-15573F4B8FFA}"/>
              </a:ext>
            </a:extLst>
          </p:cNvPr>
          <p:cNvSpPr/>
          <p:nvPr/>
        </p:nvSpPr>
        <p:spPr>
          <a:xfrm>
            <a:off x="216024" y="1342764"/>
            <a:ext cx="2653290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1) EP &gt;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Next-</a:t>
            </a:r>
            <a:r>
              <a:rPr lang="en-US" altLang="ko-KR" sz="1100" b="1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SpoC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&gt;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인프라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</a:t>
            </a:r>
            <a:endParaRPr lang="ko-KR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b="45229"/>
          <a:stretch/>
        </p:blipFill>
        <p:spPr>
          <a:xfrm>
            <a:off x="488504" y="1638230"/>
            <a:ext cx="7113240" cy="186277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CCA27547-56D0-4EED-A929-19E183AC582C}"/>
              </a:ext>
            </a:extLst>
          </p:cNvPr>
          <p:cNvSpPr/>
          <p:nvPr/>
        </p:nvSpPr>
        <p:spPr>
          <a:xfrm>
            <a:off x="216024" y="3796474"/>
            <a:ext cx="603312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LGE/HLDS/LGD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전용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 OS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관리</a:t>
            </a:r>
            <a:endParaRPr lang="ko-KR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b="39019"/>
          <a:stretch/>
        </p:blipFill>
        <p:spPr>
          <a:xfrm>
            <a:off x="488504" y="4105508"/>
            <a:ext cx="6681192" cy="202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2903359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개인계정 생성 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(EP</a:t>
            </a:r>
            <a:r>
              <a:rPr lang="ko-KR" altLang="en-US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신청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en-US" altLang="ko-KR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2155CA5E-2EA6-4AC8-8F42-15573F4B8FFA}"/>
              </a:ext>
            </a:extLst>
          </p:cNvPr>
          <p:cNvSpPr/>
          <p:nvPr/>
        </p:nvSpPr>
        <p:spPr>
          <a:xfrm>
            <a:off x="216024" y="764704"/>
            <a:ext cx="242887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필수 입력 정보에 해당 하는 것 입력</a:t>
            </a:r>
            <a:endParaRPr lang="ko-KR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CCA27547-56D0-4EED-A929-19E183AC582C}"/>
              </a:ext>
            </a:extLst>
          </p:cNvPr>
          <p:cNvSpPr/>
          <p:nvPr/>
        </p:nvSpPr>
        <p:spPr>
          <a:xfrm>
            <a:off x="216024" y="4271259"/>
            <a:ext cx="6033120" cy="182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5)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요청 유형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[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신규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 </a:t>
            </a:r>
            <a:r>
              <a:rPr lang="ko-KR" altLang="ko-KR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선택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신규 생성일 경우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ko-KR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6)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승인 유형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클라우드플랫폼연구소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 </a:t>
            </a:r>
            <a:r>
              <a:rPr lang="ko-KR" altLang="ko-KR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선택</a:t>
            </a:r>
            <a:endParaRPr lang="ko-KR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7)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사용자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성명 입력 후 본인 선택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8)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Servers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추가 버튼 누르고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IP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 </a:t>
            </a:r>
            <a:r>
              <a:rPr lang="ko-KR" altLang="ko-KR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접속할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</a:t>
            </a:r>
            <a:r>
              <a:rPr lang="ko-KR" altLang="ko-KR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검색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및 선택</a:t>
            </a:r>
            <a:endParaRPr lang="en-US" altLang="ko-KR" sz="1100" b="1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9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사용기간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: </a:t>
            </a:r>
            <a:r>
              <a:rPr lang="ko-KR" altLang="ko-KR" sz="1100" b="1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자동입력내용</a:t>
            </a:r>
            <a:r>
              <a:rPr lang="ko-KR" altLang="ko-KR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ko-KR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유지</a:t>
            </a:r>
            <a:endParaRPr lang="en-US" altLang="ko-KR" sz="1100" b="1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10)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IP :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본인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PC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 로컬 사내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IP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주소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Cloud PC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사내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IP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주소</a:t>
            </a:r>
            <a:endParaRPr lang="en-US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11)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용도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 목적 기입</a:t>
            </a:r>
            <a:endParaRPr lang="en-US" altLang="ko-KR" sz="1100" b="1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b="16848"/>
          <a:stretch/>
        </p:blipFill>
        <p:spPr>
          <a:xfrm>
            <a:off x="488503" y="1090010"/>
            <a:ext cx="7980149" cy="284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1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3938899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6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 </a:t>
            </a:r>
            <a:r>
              <a:rPr lang="ko-KR" altLang="en-US" sz="16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접속 요청 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CSR (</a:t>
            </a:r>
            <a:r>
              <a:rPr lang="en-US" altLang="ko-KR" sz="1600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Catoz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신청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en-US" altLang="ko-KR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836712"/>
            <a:ext cx="9238721" cy="365218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10062" y="4339090"/>
            <a:ext cx="639763" cy="1375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93784" y="1332894"/>
            <a:ext cx="3356638" cy="371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12617" y="1332894"/>
            <a:ext cx="614271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53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제목 작성</a:t>
            </a:r>
          </a:p>
        </p:txBody>
      </p:sp>
      <p:sp>
        <p:nvSpPr>
          <p:cNvPr id="15" name="타원 14"/>
          <p:cNvSpPr/>
          <p:nvPr/>
        </p:nvSpPr>
        <p:spPr>
          <a:xfrm>
            <a:off x="210567" y="4227121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1728871" y="1233146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1713121" y="1729328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28367" y="1722517"/>
            <a:ext cx="2028119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53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원하는 서버 및 </a:t>
            </a:r>
            <a:r>
              <a:rPr lang="en-US" altLang="ko-KR" sz="853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OS</a:t>
            </a:r>
            <a:r>
              <a:rPr lang="ko-KR" altLang="en-US" sz="853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선택 후 </a:t>
            </a:r>
            <a:r>
              <a:rPr lang="en-US" altLang="ko-KR" sz="853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Add</a:t>
            </a:r>
            <a:endParaRPr lang="ko-KR" altLang="en-US" sz="853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3877163" y="2075844"/>
            <a:ext cx="105939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/>
          <p:cNvSpPr/>
          <p:nvPr/>
        </p:nvSpPr>
        <p:spPr>
          <a:xfrm>
            <a:off x="2104745" y="2933733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4241" y="2926781"/>
            <a:ext cx="893193" cy="223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53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요청 </a:t>
            </a:r>
            <a:r>
              <a:rPr lang="en-US" altLang="ko-KR" sz="853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Form </a:t>
            </a:r>
            <a:r>
              <a:rPr lang="ko-KR" altLang="en-US" sz="853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작성</a:t>
            </a:r>
          </a:p>
        </p:txBody>
      </p:sp>
      <p:sp>
        <p:nvSpPr>
          <p:cNvPr id="23" name="타원 22"/>
          <p:cNvSpPr/>
          <p:nvPr/>
        </p:nvSpPr>
        <p:spPr>
          <a:xfrm>
            <a:off x="7222420" y="3540093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444894" y="3639840"/>
            <a:ext cx="1998649" cy="20543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8749096" y="1110419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9039300" y="1087442"/>
            <a:ext cx="404243" cy="2454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11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3140968"/>
            <a:ext cx="3841062" cy="2852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464" y="908720"/>
            <a:ext cx="9361040" cy="156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3-2. ACS (http://</a:t>
            </a:r>
            <a:r>
              <a:rPr lang="en-US" altLang="ko-KR" sz="1100" b="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acs.lge.com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페이지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및 프로그램 설치</a:t>
            </a:r>
            <a:endParaRPr lang="en-US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-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HUB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계정 생성 완료 메일이 송부된 후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페이지 접근을 위한 계정이 생성되며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기존 사용자 제외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시간 이내 접속 가능</a:t>
            </a:r>
            <a:endParaRPr lang="en-US" altLang="ko-KR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buFontTx/>
              <a:buChar char="-"/>
            </a:pP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ID/PW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는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메일주소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메일주소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이며 초기 접속 후 반드시 변경 해야함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buFontTx/>
              <a:buChar char="-"/>
            </a:pPr>
            <a:r>
              <a:rPr lang="ko-KR" altLang="en-US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로그인 완료되면 왼쪽 하단의 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                        눌러 프로그램 설치</a:t>
            </a:r>
            <a:endParaRPr lang="en-US" altLang="ko-KR" sz="11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buFontTx/>
              <a:buChar char="-"/>
            </a:pPr>
            <a:r>
              <a:rPr lang="ko-KR" altLang="en-US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바탕 화면의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Web Viewer 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프로그램으로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acs.lge.com 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endParaRPr lang="en-US" altLang="ko-KR" sz="11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171450" indent="-171450">
              <a:lnSpc>
                <a:spcPct val="120000"/>
              </a:lnSpc>
              <a:spcBef>
                <a:spcPts val="400"/>
              </a:spcBef>
              <a:buFontTx/>
              <a:buChar char="-"/>
            </a:pPr>
            <a:r>
              <a:rPr lang="ko-KR" altLang="en-US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로그인 된 후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리스트 화면 조회</a:t>
            </a:r>
            <a:endParaRPr lang="en-US" altLang="ko-KR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424607" y="4010860"/>
            <a:ext cx="1028531" cy="86409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968" y="3140968"/>
            <a:ext cx="4239566" cy="2277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DB7A655-B79B-4EEA-8D94-038FAE6C3D09}"/>
              </a:ext>
            </a:extLst>
          </p:cNvPr>
          <p:cNvSpPr txBox="1"/>
          <p:nvPr/>
        </p:nvSpPr>
        <p:spPr>
          <a:xfrm>
            <a:off x="128464" y="188640"/>
            <a:ext cx="232467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</a:t>
            </a:r>
            <a:r>
              <a:rPr lang="ko-KR" altLang="en-US" sz="16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</a:t>
            </a:r>
            <a:r>
              <a:rPr lang="ko-KR" altLang="en-US" sz="16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통한 </a:t>
            </a:r>
            <a:r>
              <a:rPr lang="en-US" altLang="ko-KR" sz="16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 sz="16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endParaRPr lang="en-US" altLang="ko-KR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716" y="1637792"/>
            <a:ext cx="1181100" cy="3619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864" y="1998516"/>
            <a:ext cx="67627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0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2307042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l"/>
              <a:defRPr sz="160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ACS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28464" y="836712"/>
            <a:ext cx="7034298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개인 계정 </a:t>
            </a:r>
            <a:r>
              <a:rPr lang="ko-KR" altLang="en-US" sz="11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생성 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및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Vault SSH Role </a:t>
            </a:r>
            <a:r>
              <a:rPr lang="ko-KR" altLang="en-US" sz="11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부여 되면 </a:t>
            </a:r>
            <a:r>
              <a:rPr lang="en-US" altLang="ko-KR" sz="11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ACS 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페이지를 통하여 </a:t>
            </a:r>
            <a:r>
              <a:rPr lang="en-US" altLang="ko-KR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AWS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내 </a:t>
            </a:r>
            <a:r>
              <a:rPr lang="en-US" altLang="ko-KR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EC2</a:t>
            </a:r>
            <a:r>
              <a:rPr lang="en-US" altLang="ko-KR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인스턴스로</a:t>
            </a:r>
            <a:r>
              <a:rPr lang="ko-KR" altLang="en-US" sz="11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접근이 가능함</a:t>
            </a:r>
            <a:endParaRPr lang="en-US" altLang="ko-KR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00" y="1342660"/>
            <a:ext cx="8715896" cy="1654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60" y="3891768"/>
            <a:ext cx="5010804" cy="1553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40" y="3676503"/>
            <a:ext cx="2857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97828" y="3611356"/>
            <a:ext cx="1696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ko-KR" altLang="en-US" sz="10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버튼클릭  → </a:t>
            </a:r>
            <a:r>
              <a:rPr lang="en-US" altLang="ko-KR" sz="10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Putty </a:t>
            </a:r>
            <a:r>
              <a:rPr lang="ko-KR" altLang="en-US" sz="10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자동실행</a:t>
            </a:r>
            <a:endParaRPr lang="en-US" altLang="ko-KR" sz="10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346" y="3369393"/>
            <a:ext cx="1215397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1) </a:t>
            </a:r>
            <a:r>
              <a:rPr lang="en-US" altLang="ko-KR" sz="1100" b="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SSH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방법</a:t>
            </a:r>
            <a:endParaRPr lang="en-US" altLang="ko-KR" sz="11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44DD19A-C00C-4E7F-9659-83B6F2699B38}"/>
              </a:ext>
            </a:extLst>
          </p:cNvPr>
          <p:cNvSpPr/>
          <p:nvPr/>
        </p:nvSpPr>
        <p:spPr>
          <a:xfrm>
            <a:off x="4292228" y="2107078"/>
            <a:ext cx="288032" cy="222752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60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187102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l"/>
              <a:defRPr sz="160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접속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2850" y="768256"/>
            <a:ext cx="710002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1) ACS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 통해 </a:t>
            </a: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HUB </a:t>
            </a:r>
            <a:r>
              <a:rPr lang="ko-KR" altLang="en-US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접속 </a:t>
            </a:r>
            <a:r>
              <a:rPr lang="ko-KR" altLang="en-US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후 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Vault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로그인</a:t>
            </a:r>
            <a: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                      </a:t>
            </a: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vault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login -method=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ldap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-namespace=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xxxxxx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username=</a:t>
            </a:r>
            <a:r>
              <a:rPr lang="en-US" altLang="ko-KR" sz="1400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xxxxxxx</a:t>
            </a:r>
            <a:endParaRPr lang="en-US" altLang="ko-KR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5109935" y="1446537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566189" y="1446537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3600" y="1535355"/>
            <a:ext cx="1535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 Name</a:t>
            </a:r>
            <a:b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THINQ_Taste</a:t>
            </a:r>
            <a:endParaRPr lang="ko-KR" altLang="en-US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25647" y="1673776"/>
            <a:ext cx="3778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Email </a:t>
            </a:r>
            <a:r>
              <a:rPr lang="ko-KR" altLang="en-US" sz="140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주소 앞부분</a:t>
            </a:r>
            <a:endParaRPr lang="en-US" altLang="ko-KR" sz="1400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en-US" altLang="ko-KR" sz="1400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xxxxxx@lge.com or xxxxxx@lgepartner.com </a:t>
            </a:r>
            <a:endParaRPr lang="ko-KR" altLang="en-US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l="11721" t="25334" r="22867" b="42369"/>
          <a:stretch/>
        </p:blipFill>
        <p:spPr>
          <a:xfrm>
            <a:off x="705933" y="2278656"/>
            <a:ext cx="8527329" cy="1664397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848544" y="2532353"/>
            <a:ext cx="633871" cy="12178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20" name="직선 화살표 연결선 19"/>
          <p:cNvCxnSpPr>
            <a:stCxn id="13" idx="1"/>
          </p:cNvCxnSpPr>
          <p:nvPr/>
        </p:nvCxnSpPr>
        <p:spPr>
          <a:xfrm flipH="1">
            <a:off x="1099518" y="1796965"/>
            <a:ext cx="2334082" cy="86075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357" y="4045098"/>
            <a:ext cx="5156826" cy="2037038"/>
          </a:xfrm>
          <a:prstGeom prst="rect">
            <a:avLst/>
          </a:prstGeom>
        </p:spPr>
      </p:pic>
      <p:sp>
        <p:nvSpPr>
          <p:cNvPr id="23" name="타원 22"/>
          <p:cNvSpPr/>
          <p:nvPr/>
        </p:nvSpPr>
        <p:spPr>
          <a:xfrm>
            <a:off x="2674087" y="3977068"/>
            <a:ext cx="199496" cy="1994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endParaRPr lang="ko-KR" altLang="en-US" sz="975" b="1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78187" y="3950748"/>
            <a:ext cx="1223412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AD Password </a:t>
            </a:r>
            <a:r>
              <a:rPr lang="ko-KR" altLang="en-US" sz="1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입력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403832" y="4922039"/>
            <a:ext cx="4554690" cy="10992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5122842" y="5038968"/>
            <a:ext cx="199496" cy="1994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endParaRPr lang="ko-KR" altLang="en-US" sz="975" b="1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61734" y="5034089"/>
            <a:ext cx="35076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정상 로그인 확인</a:t>
            </a:r>
            <a:endParaRPr lang="en-US" altLang="ko-KR" sz="10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en-US" altLang="ko-KR" sz="10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Identity_policies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. policies </a:t>
            </a:r>
            <a:r>
              <a:rPr lang="ko-KR" altLang="en-US" sz="1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 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Request</a:t>
            </a:r>
            <a:r>
              <a:rPr lang="ko-KR" altLang="en-US" sz="1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 </a:t>
            </a:r>
            <a:r>
              <a:rPr lang="en-US" altLang="ko-KR" sz="1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Role</a:t>
            </a:r>
            <a:r>
              <a:rPr lang="ko-KR" altLang="en-US" sz="100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있는지 확인 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465168" y="2484542"/>
            <a:ext cx="1922479" cy="2404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30" name="직선 화살표 연결선 29"/>
          <p:cNvCxnSpPr>
            <a:stCxn id="28" idx="0"/>
            <a:endCxn id="29" idx="2"/>
          </p:cNvCxnSpPr>
          <p:nvPr/>
        </p:nvCxnSpPr>
        <p:spPr>
          <a:xfrm flipV="1">
            <a:off x="7115580" y="2725013"/>
            <a:ext cx="310828" cy="2309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53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187102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l"/>
              <a:defRPr sz="160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접속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2850" y="768256"/>
            <a:ext cx="85170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2) Vault CLI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서버 접속</a:t>
            </a:r>
            <a: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0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4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                     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vault 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ssh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-role 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xxxxxxxx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-namespace=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xxxxxxx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-mode </a:t>
            </a:r>
            <a:r>
              <a:rPr lang="en-US" altLang="ko-KR" sz="14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otp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midadm@10.154.29.113</a:t>
            </a:r>
          </a:p>
        </p:txBody>
      </p:sp>
      <p:sp>
        <p:nvSpPr>
          <p:cNvPr id="19" name="타원 18"/>
          <p:cNvSpPr/>
          <p:nvPr/>
        </p:nvSpPr>
        <p:spPr>
          <a:xfrm>
            <a:off x="3388050" y="1468815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4686935" y="1468815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40401" y="1702038"/>
            <a:ext cx="1194558" cy="404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 Name</a:t>
            </a:r>
            <a:b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73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THINQ_Taste</a:t>
            </a:r>
            <a:endParaRPr lang="ko-KR" altLang="en-US" sz="73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rcRect l="49617" t="25334" r="22867" b="63134"/>
          <a:stretch/>
        </p:blipFill>
        <p:spPr>
          <a:xfrm>
            <a:off x="2843700" y="2424745"/>
            <a:ext cx="3587096" cy="594278"/>
          </a:xfrm>
          <a:prstGeom prst="rect">
            <a:avLst/>
          </a:prstGeom>
        </p:spPr>
      </p:pic>
      <p:cxnSp>
        <p:nvCxnSpPr>
          <p:cNvPr id="33" name="직선 화살표 연결선 32"/>
          <p:cNvCxnSpPr>
            <a:stCxn id="31" idx="2"/>
            <a:endCxn id="39" idx="0"/>
          </p:cNvCxnSpPr>
          <p:nvPr/>
        </p:nvCxnSpPr>
        <p:spPr>
          <a:xfrm flipH="1">
            <a:off x="3355548" y="2106892"/>
            <a:ext cx="1982132" cy="54293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3676008" y="2649826"/>
            <a:ext cx="1841932" cy="21319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35" name="직선 화살표 연결선 34"/>
          <p:cNvCxnSpPr>
            <a:stCxn id="34" idx="0"/>
            <a:endCxn id="38" idx="2"/>
          </p:cNvCxnSpPr>
          <p:nvPr/>
        </p:nvCxnSpPr>
        <p:spPr>
          <a:xfrm flipH="1" flipV="1">
            <a:off x="3770078" y="2093064"/>
            <a:ext cx="826896" cy="55676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/>
          <p:cNvSpPr/>
          <p:nvPr/>
        </p:nvSpPr>
        <p:spPr>
          <a:xfrm>
            <a:off x="6539396" y="1468814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7456893" y="1468813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20752" y="1688210"/>
            <a:ext cx="2098651" cy="404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Role Name</a:t>
            </a:r>
            <a:b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73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ssh-an2-thinqtaste-stg-was_user-midadm</a:t>
            </a:r>
            <a:endParaRPr lang="ko-KR" altLang="en-US" sz="73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035088" y="2649826"/>
            <a:ext cx="640920" cy="213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28109" y="1690560"/>
            <a:ext cx="1372492" cy="404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 Account</a:t>
            </a:r>
          </a:p>
          <a:p>
            <a:r>
              <a:rPr lang="en-US" altLang="ko-KR" sz="73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</a:t>
            </a:r>
            <a:r>
              <a:rPr lang="en-US" altLang="ko-KR" sz="73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midadm</a:t>
            </a:r>
            <a:endParaRPr lang="ko-KR" altLang="en-US" sz="73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5096170" y="2613635"/>
            <a:ext cx="421769" cy="28557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42" name="직선 화살표 연결선 41"/>
          <p:cNvCxnSpPr>
            <a:stCxn id="40" idx="2"/>
            <a:endCxn id="41" idx="0"/>
          </p:cNvCxnSpPr>
          <p:nvPr/>
        </p:nvCxnSpPr>
        <p:spPr>
          <a:xfrm flipH="1">
            <a:off x="5307055" y="2095414"/>
            <a:ext cx="1407300" cy="518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456894" y="1701485"/>
            <a:ext cx="84830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Server IP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9" y="3862796"/>
            <a:ext cx="9372005" cy="18186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852780" y="5158772"/>
            <a:ext cx="39917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Command </a:t>
            </a:r>
            <a:r>
              <a:rPr lang="ko-KR" altLang="en-US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입력 후 바로 서버 접속 완료</a:t>
            </a:r>
            <a:endParaRPr lang="ko-KR" altLang="en-US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2744682" y="4199467"/>
            <a:ext cx="6727931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77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187102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l"/>
              <a:defRPr sz="160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접속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2850" y="768256"/>
            <a:ext cx="994183" cy="62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lang="en-US" altLang="ko-KR" sz="1100" b="1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scp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00" b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사용법</a:t>
            </a:r>
            <a: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100" b="1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10" y="4275104"/>
            <a:ext cx="8768358" cy="164068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79421" y="1394109"/>
            <a:ext cx="8955104" cy="282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endParaRPr lang="en-US" altLang="ko-KR" dirty="0" smtClean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/>
            </a:r>
            <a:b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- OTP </a:t>
            </a:r>
            <a:r>
              <a:rPr lang="ko-KR" altLang="en-US" sz="1138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생성 </a:t>
            </a: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vault write -namespace=</a:t>
            </a:r>
            <a:r>
              <a:rPr lang="en-US" altLang="ko-KR" sz="1138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THINQ_Taste</a:t>
            </a: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38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ssh</a:t>
            </a: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/creds/</a:t>
            </a:r>
            <a:r>
              <a:rPr lang="en-US" altLang="ko-KR" sz="1138" dirty="0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ssh-an2-thinqtaste-stg-was_user-midadm</a:t>
            </a: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138" dirty="0" err="1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ip</a:t>
            </a:r>
            <a:r>
              <a:rPr lang="en-US" altLang="ko-KR" sz="1138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=10.154.29.100</a:t>
            </a: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lvl="1"/>
            <a:r>
              <a:rPr lang="en-US" altLang="ko-KR" sz="1138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 </a:t>
            </a:r>
            <a:r>
              <a:rPr lang="en-US" altLang="ko-KR" sz="1138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scp</a:t>
            </a:r>
            <a:r>
              <a:rPr lang="en-US" altLang="ko-KR" sz="1138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138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사용 </a:t>
            </a:r>
            <a:r>
              <a:rPr lang="en-US" altLang="ko-KR" sz="1138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lang="en-US" altLang="ko-KR" sz="1138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scp</a:t>
            </a:r>
            <a:r>
              <a:rPr lang="en-US" altLang="ko-KR" sz="1138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-P 40022 test.txt midadm@10.154.29.100:/home/</a:t>
            </a:r>
            <a:r>
              <a:rPr lang="en-US" altLang="ko-KR" sz="1138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midadm</a:t>
            </a:r>
            <a:endParaRPr lang="en-US" altLang="ko-KR" sz="1138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5139556" y="2047485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2757816" y="2068220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91224" y="2281197"/>
            <a:ext cx="1194558" cy="404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Service Name</a:t>
            </a:r>
            <a:b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73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THINQ_Taste</a:t>
            </a:r>
            <a:endParaRPr lang="ko-KR" altLang="en-US" sz="73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4"/>
          <a:srcRect l="49617" t="25334" r="22867" b="63134"/>
          <a:stretch/>
        </p:blipFill>
        <p:spPr>
          <a:xfrm>
            <a:off x="2099507" y="3043437"/>
            <a:ext cx="3587096" cy="594278"/>
          </a:xfrm>
          <a:prstGeom prst="rect">
            <a:avLst/>
          </a:prstGeom>
        </p:spPr>
      </p:pic>
      <p:cxnSp>
        <p:nvCxnSpPr>
          <p:cNvPr id="30" name="직선 화살표 연결선 29"/>
          <p:cNvCxnSpPr>
            <a:stCxn id="28" idx="2"/>
            <a:endCxn id="51" idx="0"/>
          </p:cNvCxnSpPr>
          <p:nvPr/>
        </p:nvCxnSpPr>
        <p:spPr>
          <a:xfrm flipH="1">
            <a:off x="2611355" y="2686051"/>
            <a:ext cx="577148" cy="58246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2931815" y="3268518"/>
            <a:ext cx="1841932" cy="21319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48" name="직선 화살표 연결선 47"/>
          <p:cNvCxnSpPr>
            <a:stCxn id="47" idx="0"/>
            <a:endCxn id="50" idx="2"/>
          </p:cNvCxnSpPr>
          <p:nvPr/>
        </p:nvCxnSpPr>
        <p:spPr>
          <a:xfrm flipV="1">
            <a:off x="3852781" y="2692303"/>
            <a:ext cx="2192033" cy="57621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/>
          <p:cNvSpPr/>
          <p:nvPr/>
        </p:nvSpPr>
        <p:spPr>
          <a:xfrm>
            <a:off x="7927551" y="2090439"/>
            <a:ext cx="199496" cy="19949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75" b="1" dirty="0">
                <a:solidFill>
                  <a:srgbClr val="FFFF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endParaRPr lang="ko-KR" altLang="en-US" sz="975" b="1">
              <a:solidFill>
                <a:srgbClr val="FFFF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995488" y="2287449"/>
            <a:ext cx="2098651" cy="4048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Role Name</a:t>
            </a:r>
            <a:b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sz="73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ex) ssh-an2-thinqtaste-stg-was_user-midadm</a:t>
            </a:r>
            <a:endParaRPr lang="ko-KR" altLang="en-US" sz="73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290895" y="3268518"/>
            <a:ext cx="640920" cy="2131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927551" y="2309277"/>
            <a:ext cx="84830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Server IP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131" y="4881655"/>
            <a:ext cx="225592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One Time Password </a:t>
            </a:r>
            <a:r>
              <a:rPr lang="ko-KR" altLang="en-US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발급 </a:t>
            </a:r>
            <a:r>
              <a:rPr lang="en-US" altLang="ko-KR" dirty="0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(1</a:t>
            </a:r>
            <a:r>
              <a:rPr lang="ko-KR" altLang="en-US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분 뒤에 </a:t>
            </a:r>
            <a:r>
              <a:rPr lang="en-US" altLang="ko-KR" dirty="0" smtClean="0">
                <a:solidFill>
                  <a:srgbClr val="FF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expire)</a:t>
            </a:r>
            <a:endParaRPr lang="ko-KR" altLang="en-US">
              <a:solidFill>
                <a:srgbClr val="FF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cxnSp>
        <p:nvCxnSpPr>
          <p:cNvPr id="54" name="직선 연결선 53"/>
          <p:cNvCxnSpPr/>
          <p:nvPr/>
        </p:nvCxnSpPr>
        <p:spPr>
          <a:xfrm>
            <a:off x="3079306" y="4411278"/>
            <a:ext cx="622293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3079306" y="5690396"/>
            <a:ext cx="3504164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4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8464" y="188640"/>
            <a:ext cx="1871025" cy="387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20000"/>
              </a:lnSpc>
              <a:spcBef>
                <a:spcPts val="400"/>
              </a:spcBef>
              <a:buFont typeface="Wingdings" panose="05000000000000000000" pitchFamily="2" charset="2"/>
              <a:buChar char="l"/>
              <a:defRPr sz="1600">
                <a:latin typeface="LG스마트체 Bold" panose="020B0600000101010101" pitchFamily="50" charset="-127"/>
                <a:ea typeface="LG스마트체 Bold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en-US" altLang="ko-KR" dirty="0" smtClean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서버 접속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14" y="1880682"/>
            <a:ext cx="3429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640934" y="1846015"/>
            <a:ext cx="1806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ko-KR" altLang="en-US" sz="1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버튼클릭  → </a:t>
            </a:r>
            <a:r>
              <a:rPr lang="en-US" altLang="ko-KR" sz="1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FileZilla </a:t>
            </a:r>
            <a:r>
              <a:rPr lang="ko-KR" altLang="en-US" sz="10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자동실행</a:t>
            </a:r>
            <a:endParaRPr lang="en-US" altLang="ko-KR" sz="1000" b="1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02" y="2103567"/>
            <a:ext cx="3864212" cy="150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5">
            <a:extLst>
              <a:ext uri="{FF2B5EF4-FFF2-40B4-BE49-F238E27FC236}">
                <a16:creationId xmlns="" xmlns:a16="http://schemas.microsoft.com/office/drawing/2014/main" id="{914ECC69-B811-45AD-B237-0CE2F8136F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161" b="51376"/>
          <a:stretch/>
        </p:blipFill>
        <p:spPr bwMode="auto">
          <a:xfrm>
            <a:off x="344488" y="1052736"/>
            <a:ext cx="5302656" cy="80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0FC45E8E-E426-451D-A485-19C4CFA323CE}"/>
              </a:ext>
            </a:extLst>
          </p:cNvPr>
          <p:cNvSpPr/>
          <p:nvPr/>
        </p:nvSpPr>
        <p:spPr>
          <a:xfrm>
            <a:off x="4201115" y="1597749"/>
            <a:ext cx="288032" cy="222752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2850" y="768256"/>
            <a:ext cx="1313180" cy="295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altLang="ko-KR" sz="11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4) SFTP </a:t>
            </a:r>
            <a:r>
              <a:rPr lang="ko-KR" altLang="en-US" sz="1100" b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접속 방법 </a:t>
            </a:r>
            <a:endParaRPr lang="en-US" altLang="ko-KR" sz="11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9530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6350">
          <a:solidFill>
            <a:srgbClr val="080808"/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88900" indent="-88900">
          <a:lnSpc>
            <a:spcPct val="120000"/>
          </a:lnSpc>
          <a:spcBef>
            <a:spcPts val="400"/>
          </a:spcBef>
          <a:buFont typeface="Wingdings" pitchFamily="2" charset="2"/>
          <a:buChar char="§"/>
          <a:defRPr sz="1100" dirty="0" smtClean="0">
            <a:latin typeface="돋움" pitchFamily="50" charset="-127"/>
            <a:ea typeface="돋움" pitchFamily="50" charset="-127"/>
          </a:defRPr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27768</TotalTime>
  <Words>634</Words>
  <Application>Microsoft Office PowerPoint</Application>
  <PresentationFormat>A4 용지(210x297mm)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LG스마트체2.0 Regular</vt:lpstr>
      <vt:lpstr>굴림</vt:lpstr>
      <vt:lpstr>돋움</vt:lpstr>
      <vt:lpstr>맑은 고딕</vt:lpstr>
      <vt:lpstr>Arial</vt:lpstr>
      <vt:lpstr>Calibri</vt:lpstr>
      <vt:lpstr>Wingdings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C.K.Jeong</dc:creator>
  <cp:lastModifiedBy>이형곤/책임연구원/클라우드운영실 클라우드인프라운영파트(goni.lee@lge.com)</cp:lastModifiedBy>
  <cp:revision>1696</cp:revision>
  <dcterms:created xsi:type="dcterms:W3CDTF">2008-11-26T05:44:28Z</dcterms:created>
  <dcterms:modified xsi:type="dcterms:W3CDTF">2024-01-24T00:14:48Z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2024-01-24T00:14:47Z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2a5d5584-3c6c-456c-8d53-6a59e7e51e51</vt:lpwstr>
  </property>
  <property fmtid="{D5CDD505-2E9C-101B-9397-08002B2CF9AE}" pid="8" name="MSIP_Label_cc6ed9fc-fefc-4a0c-a6d6-10cf236c0d4f_ContentBits">
    <vt:lpwstr>1</vt:lpwstr>
  </property>
</Properties>
</file>