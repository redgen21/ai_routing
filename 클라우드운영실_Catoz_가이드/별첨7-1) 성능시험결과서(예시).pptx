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3" r:id="rId1"/>
  </p:sldMasterIdLst>
  <p:notesMasterIdLst>
    <p:notesMasterId r:id="rId26"/>
  </p:notesMasterIdLst>
  <p:sldIdLst>
    <p:sldId id="1234" r:id="rId2"/>
    <p:sldId id="1273" r:id="rId3"/>
    <p:sldId id="1282" r:id="rId4"/>
    <p:sldId id="1279" r:id="rId5"/>
    <p:sldId id="1287" r:id="rId6"/>
    <p:sldId id="1288" r:id="rId7"/>
    <p:sldId id="1290" r:id="rId8"/>
    <p:sldId id="1291" r:id="rId9"/>
    <p:sldId id="1293" r:id="rId10"/>
    <p:sldId id="1289" r:id="rId11"/>
    <p:sldId id="1292" r:id="rId12"/>
    <p:sldId id="1294" r:id="rId13"/>
    <p:sldId id="1295" r:id="rId14"/>
    <p:sldId id="1296" r:id="rId15"/>
    <p:sldId id="1309" r:id="rId16"/>
    <p:sldId id="1298" r:id="rId17"/>
    <p:sldId id="1299" r:id="rId18"/>
    <p:sldId id="1310" r:id="rId19"/>
    <p:sldId id="1311" r:id="rId20"/>
    <p:sldId id="1314" r:id="rId21"/>
    <p:sldId id="1315" r:id="rId22"/>
    <p:sldId id="1313" r:id="rId23"/>
    <p:sldId id="1312" r:id="rId24"/>
    <p:sldId id="1304" r:id="rId25"/>
  </p:sldIdLst>
  <p:sldSz cx="9906000" cy="6858000" type="A4"/>
  <p:notesSz cx="9939338" cy="68072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1pPr>
    <a:lvl2pPr marL="4524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2pPr>
    <a:lvl3pPr marL="9096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3pPr>
    <a:lvl4pPr marL="13668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4pPr>
    <a:lvl5pPr marL="1824038" indent="1588" algn="l" rtl="0" fontAlgn="base" latinLnBrk="1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2000" b="1" kern="1200">
        <a:solidFill>
          <a:schemeClr val="tx1"/>
        </a:solidFill>
        <a:latin typeface="Trebuchet MS" pitchFamily="34" charset="0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550" userDrawn="1">
          <p15:clr>
            <a:srgbClr val="A4A3A4"/>
          </p15:clr>
        </p15:guide>
        <p15:guide id="5" orient="horz" pos="4280">
          <p15:clr>
            <a:srgbClr val="A4A3A4"/>
          </p15:clr>
        </p15:guide>
        <p15:guide id="6" pos="3120">
          <p15:clr>
            <a:srgbClr val="A4A3A4"/>
          </p15:clr>
        </p15:guide>
        <p15:guide id="7" pos="6046" userDrawn="1">
          <p15:clr>
            <a:srgbClr val="A4A3A4"/>
          </p15:clr>
        </p15:guide>
        <p15:guide id="9" pos="1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7C80"/>
    <a:srgbClr val="FFCC00"/>
    <a:srgbClr val="008080"/>
    <a:srgbClr val="FFCCCC"/>
    <a:srgbClr val="FF7D7D"/>
    <a:srgbClr val="CC0099"/>
    <a:srgbClr val="FF3399"/>
    <a:srgbClr val="66CCFF"/>
    <a:srgbClr val="5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9755" autoAdjust="0"/>
  </p:normalViewPr>
  <p:slideViewPr>
    <p:cSldViewPr snapToGrid="0">
      <p:cViewPr varScale="1">
        <p:scale>
          <a:sx n="104" d="100"/>
          <a:sy n="104" d="100"/>
        </p:scale>
        <p:origin x="1620" y="108"/>
      </p:cViewPr>
      <p:guideLst>
        <p:guide orient="horz" pos="550"/>
        <p:guide orient="horz" pos="4280"/>
        <p:guide pos="3120"/>
        <p:guide pos="6046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2028" y="90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965" y="0"/>
            <a:ext cx="4309056" cy="3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7375" y="512763"/>
            <a:ext cx="3684588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9" y="3234535"/>
            <a:ext cx="7950543" cy="30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65808"/>
            <a:ext cx="4309056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b" anchorCtr="0" compatLnSpc="1">
            <a:prstTxWarp prst="textNoShape">
              <a:avLst/>
            </a:prstTxWarp>
          </a:bodyPr>
          <a:lstStyle>
            <a:lvl1pPr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965" y="6465808"/>
            <a:ext cx="4309056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59" tIns="45779" rIns="91559" bIns="45779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5B59AD7-3550-43A6-8588-4001886BFFE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6737" cy="3403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0215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24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096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668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40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4889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66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844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820" algn="l" defTabSz="9139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59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4520953" y="6457890"/>
            <a:ext cx="86409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47784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Rectangle 9"/>
          <p:cNvSpPr txBox="1">
            <a:spLocks noChangeArrowheads="1"/>
          </p:cNvSpPr>
          <p:nvPr userDrawn="1"/>
        </p:nvSpPr>
        <p:spPr bwMode="auto">
          <a:xfrm>
            <a:off x="44907" y="59196"/>
            <a:ext cx="2396957" cy="353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300" b="1" baseline="0">
                <a:solidFill>
                  <a:schemeClr val="tx2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6600" indent="-2809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11382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3pPr>
            <a:lvl4pPr marL="1593850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20526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2513376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6pPr>
            <a:lvl7pPr marL="2970357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7pPr>
            <a:lvl8pPr marL="3427333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8pPr>
            <a:lvl9pPr marL="3884309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</a:rPr>
              <a:t>Privacy Site </a:t>
            </a: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</a:rPr>
              <a:t>구축 프로젝트</a:t>
            </a:r>
          </a:p>
        </p:txBody>
      </p:sp>
      <p:sp>
        <p:nvSpPr>
          <p:cNvPr id="7" name="TextBox 31"/>
          <p:cNvSpPr txBox="1">
            <a:spLocks noChangeArrowheads="1"/>
          </p:cNvSpPr>
          <p:nvPr userDrawn="1"/>
        </p:nvSpPr>
        <p:spPr bwMode="auto">
          <a:xfrm>
            <a:off x="4556986" y="6488237"/>
            <a:ext cx="792163" cy="25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/>
          <a:p>
            <a:pPr algn="ctr"/>
            <a:fld id="{C2FF7F26-5816-44A5-B40E-F13FFC6C90F3}" type="slidenum">
              <a:rPr lang="en-US" altLang="ko-KR" sz="105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pPr algn="ctr"/>
              <a:t>‹#›</a:t>
            </a:fld>
            <a:r>
              <a:rPr lang="en-US" altLang="ko-KR" sz="1050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/ 23</a:t>
            </a:r>
            <a:endParaRPr lang="ko-KR" altLang="en-US" sz="1030" b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Rectangle 9"/>
          <p:cNvSpPr txBox="1">
            <a:spLocks noChangeArrowheads="1"/>
          </p:cNvSpPr>
          <p:nvPr userDrawn="1"/>
        </p:nvSpPr>
        <p:spPr bwMode="auto">
          <a:xfrm>
            <a:off x="8042449" y="69881"/>
            <a:ext cx="1863551" cy="353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300" b="1" baseline="0">
                <a:solidFill>
                  <a:schemeClr val="tx2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6600" indent="-2809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11382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3pPr>
            <a:lvl4pPr marL="1593850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20526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2513376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6pPr>
            <a:lvl7pPr marL="2970357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7pPr>
            <a:lvl8pPr marL="3427333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8pPr>
            <a:lvl9pPr marL="3884309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pPr algn="r"/>
            <a:r>
              <a:rPr lang="ko-KR" altLang="en-US" sz="1200" kern="0" dirty="0" smtClean="0">
                <a:latin typeface="맑은 고딕" pitchFamily="50" charset="-127"/>
                <a:ea typeface="맑은 고딕" pitchFamily="50" charset="-127"/>
              </a:rPr>
              <a:t>성능</a:t>
            </a:r>
            <a:r>
              <a:rPr lang="en-US" altLang="ko-KR" sz="1200" kern="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 smtClean="0">
                <a:latin typeface="맑은 고딕" pitchFamily="50" charset="-127"/>
                <a:ea typeface="맑은 고딕" pitchFamily="50" charset="-127"/>
              </a:rPr>
              <a:t>테스트 </a:t>
            </a:r>
            <a:r>
              <a:rPr lang="ko-KR" altLang="en-US" sz="1200" kern="0" dirty="0" err="1" smtClean="0">
                <a:latin typeface="맑은 고딕" pitchFamily="50" charset="-127"/>
                <a:ea typeface="맑은 고딕" pitchFamily="50" charset="-127"/>
              </a:rPr>
              <a:t>결과서</a:t>
            </a:r>
            <a:endParaRPr lang="ko-KR" altLang="en-US" sz="1200" kern="0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114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4"/>
          <p:cNvSpPr>
            <a:spLocks noChangeShapeType="1"/>
          </p:cNvSpPr>
          <p:nvPr userDrawn="1"/>
        </p:nvSpPr>
        <p:spPr bwMode="auto">
          <a:xfrm>
            <a:off x="0" y="47784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" name="Rectangle 9"/>
          <p:cNvSpPr txBox="1">
            <a:spLocks noChangeArrowheads="1"/>
          </p:cNvSpPr>
          <p:nvPr userDrawn="1"/>
        </p:nvSpPr>
        <p:spPr bwMode="auto">
          <a:xfrm>
            <a:off x="44907" y="59196"/>
            <a:ext cx="9501188" cy="353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300" b="1" baseline="0">
                <a:solidFill>
                  <a:schemeClr val="tx2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6600" indent="-2809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11382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3pPr>
            <a:lvl4pPr marL="1593850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20526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2513376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6pPr>
            <a:lvl7pPr marL="2970357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7pPr>
            <a:lvl8pPr marL="3427333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8pPr>
            <a:lvl9pPr marL="3884309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</a:rPr>
              <a:t>Privacy Site </a:t>
            </a: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</a:rPr>
              <a:t>구축 프로젝트</a:t>
            </a:r>
          </a:p>
        </p:txBody>
      </p:sp>
      <p:sp>
        <p:nvSpPr>
          <p:cNvPr id="6" name="TextBox 31"/>
          <p:cNvSpPr txBox="1">
            <a:spLocks noChangeArrowheads="1"/>
          </p:cNvSpPr>
          <p:nvPr userDrawn="1"/>
        </p:nvSpPr>
        <p:spPr bwMode="auto">
          <a:xfrm>
            <a:off x="4556986" y="6488237"/>
            <a:ext cx="792163" cy="261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/>
          <a:p>
            <a:pPr algn="ctr"/>
            <a:fld id="{C2FF7F26-5816-44A5-B40E-F13FFC6C90F3}" type="slidenum">
              <a:rPr lang="en-US" altLang="ko-KR" sz="105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pPr algn="ctr"/>
              <a:t>‹#›</a:t>
            </a:fld>
            <a:r>
              <a:rPr lang="en-US" altLang="ko-KR" sz="1050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/ 23</a:t>
            </a:r>
            <a:endParaRPr lang="ko-KR" altLang="en-US" sz="1030" b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 userDrawn="1"/>
        </p:nvSpPr>
        <p:spPr bwMode="auto">
          <a:xfrm>
            <a:off x="8042449" y="69881"/>
            <a:ext cx="1863551" cy="353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300" b="1" baseline="0">
                <a:solidFill>
                  <a:schemeClr val="tx2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6600" indent="-2809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+mn-ea"/>
                <a:ea typeface="+mn-ea"/>
              </a:defRPr>
            </a:lvl2pPr>
            <a:lvl3pPr marL="11382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3pPr>
            <a:lvl4pPr marL="1593850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2052638" indent="-2238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2513376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6pPr>
            <a:lvl7pPr marL="2970357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7pPr>
            <a:lvl8pPr marL="3427333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8pPr>
            <a:lvl9pPr marL="3884309" indent="-228489" algn="l" rtl="0" fontAlgn="base" latinLnBrk="1">
              <a:spcBef>
                <a:spcPct val="2000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pPr algn="r"/>
            <a:r>
              <a:rPr lang="ko-KR" altLang="en-US" sz="1200" kern="0" dirty="0" smtClean="0">
                <a:latin typeface="맑은 고딕" pitchFamily="50" charset="-127"/>
                <a:ea typeface="맑은 고딕" pitchFamily="50" charset="-127"/>
              </a:rPr>
              <a:t>성능</a:t>
            </a:r>
            <a:r>
              <a:rPr lang="en-US" altLang="ko-KR" sz="1200" kern="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 smtClean="0">
                <a:latin typeface="맑은 고딕" pitchFamily="50" charset="-127"/>
                <a:ea typeface="맑은 고딕" pitchFamily="50" charset="-127"/>
              </a:rPr>
              <a:t>테스트 </a:t>
            </a:r>
            <a:r>
              <a:rPr lang="ko-KR" altLang="en-US" sz="1200" kern="0" dirty="0" err="1" smtClean="0">
                <a:latin typeface="맑은 고딕" pitchFamily="50" charset="-127"/>
                <a:ea typeface="맑은 고딕" pitchFamily="50" charset="-127"/>
              </a:rPr>
              <a:t>결과서</a:t>
            </a:r>
            <a:endParaRPr lang="ko-KR" altLang="en-US" sz="1200" kern="0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5916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7" y="765175"/>
            <a:ext cx="9501188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93" tIns="45698" rIns="91393" bIns="45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TextBox 31"/>
          <p:cNvSpPr txBox="1">
            <a:spLocks noChangeArrowheads="1"/>
          </p:cNvSpPr>
          <p:nvPr userDrawn="1"/>
        </p:nvSpPr>
        <p:spPr bwMode="auto">
          <a:xfrm>
            <a:off x="4556986" y="6488237"/>
            <a:ext cx="792163" cy="261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/>
          <a:p>
            <a:pPr algn="ctr"/>
            <a:fld id="{C2FF7F26-5816-44A5-B40E-F13FFC6C90F3}" type="slidenum">
              <a:rPr lang="en-US" altLang="ko-KR" sz="105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pPr algn="ctr"/>
              <a:t>‹#›</a:t>
            </a:fld>
            <a:r>
              <a:rPr lang="en-US" altLang="ko-KR" sz="1050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/ 6</a:t>
            </a:r>
            <a:endParaRPr lang="ko-KR" altLang="en-US" sz="1030" b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14"/>
          <p:cNvSpPr>
            <a:spLocks noChangeShapeType="1"/>
          </p:cNvSpPr>
          <p:nvPr userDrawn="1"/>
        </p:nvSpPr>
        <p:spPr bwMode="auto">
          <a:xfrm>
            <a:off x="0" y="47784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40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1300" b="1">
          <a:solidFill>
            <a:srgbClr val="BFBFB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1300" b="1">
          <a:solidFill>
            <a:srgbClr val="BFBFBF"/>
          </a:solidFill>
          <a:latin typeface="Arial" pitchFamily="34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1300" b="1">
          <a:solidFill>
            <a:srgbClr val="BFBFBF"/>
          </a:solidFill>
          <a:latin typeface="Arial" pitchFamily="34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1300" b="1">
          <a:solidFill>
            <a:srgbClr val="BFBFBF"/>
          </a:solidFill>
          <a:latin typeface="Arial" pitchFamily="34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1300" b="1">
          <a:solidFill>
            <a:srgbClr val="BFBFBF"/>
          </a:solidFill>
          <a:latin typeface="Arial" pitchFamily="34" charset="0"/>
          <a:ea typeface="굴림" pitchFamily="50" charset="-127"/>
        </a:defRPr>
      </a:lvl5pPr>
      <a:lvl6pPr marL="456979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6pPr>
      <a:lvl7pPr marL="913957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7pPr>
      <a:lvl8pPr marL="1370932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8pPr>
      <a:lvl9pPr marL="1827912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defRPr kumimoji="1" sz="1300" b="1">
          <a:solidFill>
            <a:schemeClr val="tx1"/>
          </a:solidFill>
          <a:latin typeface="+mn-lt"/>
          <a:ea typeface="+mn-ea"/>
          <a:cs typeface="+mn-cs"/>
        </a:defRPr>
      </a:lvl1pPr>
      <a:lvl2pPr marL="736600" indent="-280988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ea"/>
          <a:ea typeface="+mn-ea"/>
        </a:defRPr>
      </a:lvl2pPr>
      <a:lvl3pPr marL="1138238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3pPr>
      <a:lvl4pPr marL="1593850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4pPr>
      <a:lvl5pPr marL="2052638" indent="-223838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5pPr>
      <a:lvl6pPr marL="2513376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6pPr>
      <a:lvl7pPr marL="2970357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7pPr>
      <a:lvl8pPr marL="3427333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8pPr>
      <a:lvl9pPr marL="3884309" indent="-228489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9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57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32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12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89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66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44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820" algn="l" defTabSz="913957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0" descr="그림1"/>
          <p:cNvPicPr>
            <a:picLocks noChangeAspect="1" noChangeArrowheads="1"/>
          </p:cNvPicPr>
          <p:nvPr/>
        </p:nvPicPr>
        <p:blipFill>
          <a:blip r:embed="rId2" cstate="print"/>
          <a:srcRect l="1187" b="1280"/>
          <a:stretch>
            <a:fillRect/>
          </a:stretch>
        </p:blipFill>
        <p:spPr bwMode="auto">
          <a:xfrm>
            <a:off x="7" y="3268709"/>
            <a:ext cx="3729038" cy="359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Line 1261"/>
          <p:cNvSpPr>
            <a:spLocks noChangeShapeType="1"/>
          </p:cNvSpPr>
          <p:nvPr/>
        </p:nvSpPr>
        <p:spPr bwMode="auto">
          <a:xfrm>
            <a:off x="560515" y="2619648"/>
            <a:ext cx="8832032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맑은 고딕" pitchFamily="50" charset="-127"/>
            </a:endParaRPr>
          </a:p>
        </p:txBody>
      </p:sp>
      <p:sp>
        <p:nvSpPr>
          <p:cNvPr id="23" name="Text Box 1262"/>
          <p:cNvSpPr txBox="1">
            <a:spLocks noChangeArrowheads="1"/>
          </p:cNvSpPr>
          <p:nvPr/>
        </p:nvSpPr>
        <p:spPr bwMode="auto">
          <a:xfrm>
            <a:off x="560515" y="2060848"/>
            <a:ext cx="883203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rIns="72000">
            <a:no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ko-KR" sz="2800" dirty="0" smtClean="0">
                <a:latin typeface="맑은 고딕" pitchFamily="50" charset="-127"/>
                <a:ea typeface="맑은 고딕" pitchFamily="50" charset="-127"/>
              </a:rPr>
              <a:t>Privacy Site </a:t>
            </a:r>
            <a:r>
              <a:rPr lang="ko-KR" altLang="en-US" sz="2800" dirty="0" smtClean="0">
                <a:latin typeface="맑은 고딕" pitchFamily="50" charset="-127"/>
                <a:ea typeface="맑은 고딕" pitchFamily="50" charset="-127"/>
              </a:rPr>
              <a:t>성능시험 결과서</a:t>
            </a:r>
            <a:endParaRPr lang="ko-KR" altLang="en-US" sz="2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텍스트 개체 틀 11"/>
          <p:cNvSpPr txBox="1">
            <a:spLocks/>
          </p:cNvSpPr>
          <p:nvPr/>
        </p:nvSpPr>
        <p:spPr>
          <a:xfrm>
            <a:off x="4182636" y="888524"/>
            <a:ext cx="5209913" cy="400110"/>
          </a:xfrm>
          <a:prstGeom prst="rect">
            <a:avLst/>
          </a:prstGeom>
        </p:spPr>
        <p:txBody>
          <a:bodyPr wrap="square" lIns="72000" rIns="72000" anchor="ctr">
            <a:noAutofit/>
          </a:bodyPr>
          <a:lstStyle>
            <a:lvl1pPr marL="0" indent="0"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 eaLnBrk="0" hangingPunct="0">
              <a:spcBef>
                <a:spcPct val="20000"/>
              </a:spcBef>
              <a:tabLst>
                <a:tab pos="268288" algn="l"/>
              </a:tabLst>
            </a:pPr>
            <a:r>
              <a:rPr lang="en-US" altLang="ko-KR" kern="0" dirty="0" smtClean="0">
                <a:solidFill>
                  <a:schemeClr val="tx1"/>
                </a:solidFill>
              </a:rPr>
              <a:t>Privacy Site</a:t>
            </a:r>
            <a:r>
              <a:rPr lang="ko-KR" altLang="en-US" kern="0" dirty="0" smtClean="0">
                <a:solidFill>
                  <a:schemeClr val="tx1"/>
                </a:solidFill>
              </a:rPr>
              <a:t> 구축 프로젝트</a:t>
            </a:r>
          </a:p>
        </p:txBody>
      </p:sp>
      <p:sp>
        <p:nvSpPr>
          <p:cNvPr id="8" name="텍스트 개체 틀 11"/>
          <p:cNvSpPr txBox="1">
            <a:spLocks/>
          </p:cNvSpPr>
          <p:nvPr/>
        </p:nvSpPr>
        <p:spPr>
          <a:xfrm>
            <a:off x="6694679" y="2634843"/>
            <a:ext cx="2689633" cy="276999"/>
          </a:xfrm>
          <a:prstGeom prst="rect">
            <a:avLst/>
          </a:prstGeom>
        </p:spPr>
        <p:txBody>
          <a:bodyPr wrap="square" lIns="72000" rIns="72000" anchor="ctr">
            <a:noAutofit/>
          </a:bodyPr>
          <a:lstStyle>
            <a:lvl1pPr marL="0" indent="0" algn="r">
              <a:buNone/>
              <a:defRPr sz="1200" b="1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4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 eaLnBrk="0" hangingPunct="0">
              <a:spcBef>
                <a:spcPct val="20000"/>
              </a:spcBef>
              <a:tabLst>
                <a:tab pos="268288" algn="l"/>
              </a:tabLst>
              <a:defRPr/>
            </a:pP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Version 1.00  </a:t>
            </a:r>
            <a:r>
              <a:rPr lang="en-US" altLang="ko-KR" sz="900" kern="0" dirty="0">
                <a:solidFill>
                  <a:srgbClr val="000000"/>
                </a:solidFill>
              </a:rPr>
              <a:t>( 2018. </a:t>
            </a:r>
            <a:r>
              <a:rPr lang="en-US" altLang="ko-KR" sz="900" kern="0" dirty="0" smtClean="0">
                <a:solidFill>
                  <a:srgbClr val="000000"/>
                </a:solidFill>
              </a:rPr>
              <a:t>05. 31 )</a:t>
            </a:r>
            <a:endParaRPr lang="ko-KR" altLang="en-US" sz="900" kern="0" dirty="0">
              <a:solidFill>
                <a:srgbClr val="00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49" y="270576"/>
            <a:ext cx="1514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401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266902"/>
              </p:ext>
            </p:extLst>
          </p:nvPr>
        </p:nvGraphicFramePr>
        <p:xfrm>
          <a:off x="470018" y="1050048"/>
          <a:ext cx="9007268" cy="2841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026">
                  <a:extLst>
                    <a:ext uri="{9D8B030D-6E8A-4147-A177-3AD203B41FA5}">
                      <a16:colId xmlns:a16="http://schemas.microsoft.com/office/drawing/2014/main" xmlns="" val="782886115"/>
                    </a:ext>
                  </a:extLst>
                </a:gridCol>
                <a:gridCol w="6843576">
                  <a:extLst>
                    <a:ext uri="{9D8B030D-6E8A-4147-A177-3AD203B41FA5}">
                      <a16:colId xmlns:a16="http://schemas.microsoft.com/office/drawing/2014/main" xmlns="" val="2395737006"/>
                    </a:ext>
                  </a:extLst>
                </a:gridCol>
                <a:gridCol w="879147">
                  <a:extLst>
                    <a:ext uri="{9D8B030D-6E8A-4147-A177-3AD203B41FA5}">
                      <a16:colId xmlns:a16="http://schemas.microsoft.com/office/drawing/2014/main" xmlns="" val="4177846536"/>
                    </a:ext>
                  </a:extLst>
                </a:gridCol>
                <a:gridCol w="626519">
                  <a:extLst>
                    <a:ext uri="{9D8B030D-6E8A-4147-A177-3AD203B41FA5}">
                      <a16:colId xmlns:a16="http://schemas.microsoft.com/office/drawing/2014/main" xmlns="" val="1820478134"/>
                    </a:ext>
                  </a:extLst>
                </a:gridCol>
              </a:tblGrid>
              <a:tr h="355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내용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1687058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작성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2018.05.31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목연권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41728995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39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98902323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43352214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39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86131812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77782214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9872827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05431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0018" y="716431"/>
            <a:ext cx="853771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  <a:endParaRPr lang="en-US" altLang="ko-KR" sz="12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27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07229" y="1375406"/>
            <a:ext cx="624840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algn="ctr"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 차</a:t>
            </a:r>
            <a:endParaRPr lang="ko-KR" altLang="en-US" u="sng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AutoShape 13"/>
          <p:cNvSpPr>
            <a:spLocks noChangeArrowheads="1"/>
          </p:cNvSpPr>
          <p:nvPr/>
        </p:nvSpPr>
        <p:spPr bwMode="auto">
          <a:xfrm>
            <a:off x="3551282" y="2020184"/>
            <a:ext cx="2849527" cy="3583172"/>
          </a:xfrm>
          <a:prstGeom prst="flowChartAlternateProcess">
            <a:avLst/>
          </a:prstGeom>
          <a:gradFill rotWithShape="0">
            <a:gsLst>
              <a:gs pos="65000">
                <a:srgbClr val="DCDCDC"/>
              </a:gs>
              <a:gs pos="100000">
                <a:schemeClr val="bg1"/>
              </a:gs>
            </a:gsLst>
            <a:lin ang="0" scaled="1"/>
          </a:gradFill>
          <a:ln w="6350">
            <a:noFill/>
            <a:miter lim="800000"/>
            <a:headEnd/>
            <a:tailEnd/>
          </a:ln>
          <a:effectLst>
            <a:outerShdw dist="35921" dir="2700000" algn="ctr" rotWithShape="0">
              <a:srgbClr val="DDDDDD"/>
            </a:outerShdw>
          </a:effectLst>
        </p:spPr>
        <p:txBody>
          <a:bodyPr wrap="none" lIns="252000" anchor="ctr"/>
          <a:lstStyle/>
          <a:p>
            <a:pPr marL="342900" indent="-342900">
              <a:lnSpc>
                <a:spcPct val="110000"/>
              </a:lnSpc>
              <a:buAutoNum type="arabicPeriod"/>
              <a:defRPr/>
            </a:pPr>
            <a:r>
              <a:rPr lang="ko-KR" altLang="en-US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성능시험 개요</a:t>
            </a:r>
            <a:endParaRPr lang="en-US" altLang="ko-KR" sz="1400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AutoNum type="arabicPeriod"/>
              <a:defRPr/>
            </a:pPr>
            <a:endParaRPr lang="en-US" altLang="ko-KR" sz="1400" dirty="0">
              <a:latin typeface="HY헤드라인M" pitchFamily="18" charset="-127"/>
              <a:ea typeface="HY헤드라인M" pitchFamily="18" charset="-127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ko-KR" altLang="en-US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시험환경 및 측정구간</a:t>
            </a:r>
            <a:endParaRPr lang="en-US" altLang="ko-KR" sz="1400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endParaRPr lang="en-US" altLang="ko-KR" sz="1400" dirty="0">
              <a:latin typeface="HY헤드라인M" pitchFamily="18" charset="-127"/>
              <a:ea typeface="HY헤드라인M" pitchFamily="18" charset="-127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ko-KR" altLang="en-US" sz="1400" b="1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측정대상 기능</a:t>
            </a:r>
            <a:endParaRPr lang="en-US" altLang="ko-KR" sz="1400" b="1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endParaRPr lang="en-US" altLang="ko-KR" sz="1400" b="1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TC(Test Case)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endParaRPr lang="en-US" altLang="ko-KR" sz="1400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ko-KR" altLang="en-US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시험일정 및 </a:t>
            </a:r>
            <a:r>
              <a:rPr lang="en-US" altLang="ko-KR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R&amp;R</a:t>
            </a:r>
            <a:endParaRPr lang="en-US" altLang="ko-KR" sz="1400" dirty="0" smtClean="0">
              <a:latin typeface="HY헤드라인M" pitchFamily="18" charset="-127"/>
              <a:ea typeface="HY헤드라인M" pitchFamily="18" charset="-127"/>
            </a:endParaRPr>
          </a:p>
          <a:p>
            <a:pPr lvl="0">
              <a:lnSpc>
                <a:spcPct val="110000"/>
              </a:lnSpc>
              <a:defRPr/>
            </a:pPr>
            <a:endParaRPr lang="en-US" altLang="ko-KR" sz="1400" dirty="0" smtClean="0">
              <a:solidFill>
                <a:srgbClr val="000000"/>
              </a:solidFill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  <a:p>
            <a:pPr marL="342900" indent="-342900">
              <a:lnSpc>
                <a:spcPct val="110000"/>
              </a:lnSpc>
              <a:buFont typeface="+mj-lt"/>
              <a:buAutoNum type="arabicPeriod" startAt="6"/>
              <a:defRPr/>
            </a:pPr>
            <a:r>
              <a:rPr lang="ko-KR" altLang="en-US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성능시험</a:t>
            </a:r>
            <a:r>
              <a:rPr lang="en-US" altLang="ko-KR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  </a:t>
            </a:r>
            <a:r>
              <a:rPr lang="ko-KR" altLang="en-US" sz="1400" dirty="0" smtClean="0">
                <a:latin typeface="Times New Roman" pitchFamily="18" charset="0"/>
                <a:ea typeface="HY헤드라인M" pitchFamily="18" charset="-127"/>
                <a:cs typeface="Times New Roman" pitchFamily="18" charset="0"/>
              </a:rPr>
              <a:t>결과</a:t>
            </a:r>
            <a:endParaRPr lang="en-US" altLang="ko-KR" sz="1400" dirty="0" smtClean="0">
              <a:latin typeface="Times New Roman" pitchFamily="18" charset="0"/>
              <a:ea typeface="HY헤드라인M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65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0713" y="627259"/>
            <a:ext cx="1733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성능시험 개요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Privacy Site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신규 구축에 따라 해당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서비스에 대한 성능 확인이 필요함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72480" y="1543340"/>
            <a:ext cx="2849562" cy="349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추진 배경</a:t>
            </a:r>
            <a:endParaRPr lang="ko-KR" altLang="en-US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cxnSp>
        <p:nvCxnSpPr>
          <p:cNvPr id="16" name="직선 연결선 15"/>
          <p:cNvCxnSpPr/>
          <p:nvPr/>
        </p:nvCxnSpPr>
        <p:spPr bwMode="auto">
          <a:xfrm>
            <a:off x="344488" y="1892009"/>
            <a:ext cx="3672408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08390" y="1990208"/>
            <a:ext cx="4146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AWS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에 구축된 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Privacy Site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시스템의 성능 및 안정성에</a:t>
            </a:r>
            <a:endParaRPr lang="en-US" altLang="ko-KR" sz="12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대한 점검 필요</a:t>
            </a:r>
            <a:endParaRPr lang="en-US" altLang="ko-KR" sz="12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2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Privacy Site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목표 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TPS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1TPS 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미만이므로 안정성 위주의 서비스 품질향상 지표 추출을 목표로 함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905821" y="1531543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목적</a:t>
            </a:r>
            <a:endParaRPr lang="ko-KR" altLang="en-US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13169" y="1987424"/>
            <a:ext cx="4678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적정 성능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(TPS)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기준 부합 여부 확인</a:t>
            </a:r>
            <a:endParaRPr lang="en-US" altLang="ko-KR" sz="12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최대 성능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(TPS) 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측정 및 자원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사용율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확인</a:t>
            </a:r>
            <a:endParaRPr lang="en-US" altLang="ko-KR" sz="12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적정 성능</a:t>
            </a:r>
            <a:r>
              <a:rPr lang="en-US" altLang="ko-KR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(TPS) </a:t>
            </a:r>
            <a:r>
              <a:rPr lang="ko-KR" altLang="en-US" sz="12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기준에서 안정적인 동작 여부 확인</a:t>
            </a:r>
            <a:endParaRPr lang="en-US" altLang="ko-KR" sz="12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293746" y="3590610"/>
            <a:ext cx="3785666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성능 점검 항목</a:t>
            </a:r>
            <a:endParaRPr lang="ko-KR" altLang="en-US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98777" y="5333650"/>
            <a:ext cx="1500198" cy="759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Resource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Usage &gt;</a:t>
            </a: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CPU Usage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Memory Usage</a:t>
            </a:r>
          </a:p>
          <a:p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(Memory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부족 여부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6282" y="4111104"/>
            <a:ext cx="1375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Memory </a:t>
            </a:r>
            <a:r>
              <a:rPr lang="ko-KR" altLang="en-US" sz="10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누수 여부</a:t>
            </a:r>
            <a:endParaRPr lang="en-US" altLang="ko-KR" sz="1000" b="0" u="sng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GC Pattern</a:t>
            </a:r>
            <a:endParaRPr lang="ko-KR" altLang="en-US" sz="1000" b="0" u="sng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" name="직선 화살표 연결선 27"/>
          <p:cNvCxnSpPr/>
          <p:nvPr/>
        </p:nvCxnSpPr>
        <p:spPr bwMode="auto">
          <a:xfrm>
            <a:off x="6471092" y="4812628"/>
            <a:ext cx="1184350" cy="31111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76" y="4401200"/>
            <a:ext cx="647619" cy="8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Box 29"/>
          <p:cNvSpPr txBox="1"/>
          <p:nvPr/>
        </p:nvSpPr>
        <p:spPr>
          <a:xfrm>
            <a:off x="3243642" y="5133595"/>
            <a:ext cx="421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ALB</a:t>
            </a:r>
            <a:endParaRPr lang="ko-KR" altLang="en-US" sz="10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1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395" y="4485760"/>
            <a:ext cx="544781" cy="6537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45579" y="5133595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WAS</a:t>
            </a:r>
            <a:endParaRPr lang="ko-KR" altLang="en-US" sz="10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46443" y="5367521"/>
            <a:ext cx="362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58" y="4766406"/>
            <a:ext cx="521366" cy="6028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8030" y="5144228"/>
            <a:ext cx="1533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algn="ctr"/>
            <a:r>
              <a:rPr lang="ko-KR" altLang="en-US" dirty="0" smtClean="0"/>
              <a:t>부하발생기</a:t>
            </a:r>
            <a:r>
              <a:rPr lang="en-US" altLang="ko-KR" dirty="0" smtClean="0"/>
              <a:t>(</a:t>
            </a:r>
            <a:r>
              <a:rPr lang="en-US" altLang="ko-KR" dirty="0" err="1"/>
              <a:t>nGrinder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6" name="직선 화살표 연결선 35"/>
          <p:cNvCxnSpPr/>
          <p:nvPr/>
        </p:nvCxnSpPr>
        <p:spPr bwMode="auto">
          <a:xfrm>
            <a:off x="4175956" y="4812628"/>
            <a:ext cx="1080120" cy="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직선 화살표 연결선 36"/>
          <p:cNvCxnSpPr/>
          <p:nvPr/>
        </p:nvCxnSpPr>
        <p:spPr bwMode="auto">
          <a:xfrm>
            <a:off x="1655676" y="4812628"/>
            <a:ext cx="1080120" cy="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8" name="그림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748" y="4520007"/>
            <a:ext cx="603734" cy="603734"/>
          </a:xfrm>
          <a:prstGeom prst="rect">
            <a:avLst/>
          </a:prstGeom>
        </p:spPr>
      </p:pic>
      <p:cxnSp>
        <p:nvCxnSpPr>
          <p:cNvPr id="39" name="직선 연결선 38"/>
          <p:cNvCxnSpPr/>
          <p:nvPr/>
        </p:nvCxnSpPr>
        <p:spPr bwMode="auto">
          <a:xfrm>
            <a:off x="4995896" y="1891424"/>
            <a:ext cx="3672408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7430807" y="5592476"/>
            <a:ext cx="1500198" cy="759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Resource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Usage &gt;</a:t>
            </a: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CPU Usage Rate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Memory Usage Rate</a:t>
            </a:r>
          </a:p>
          <a:p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(Memory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부족 여부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69001" y="4226205"/>
            <a:ext cx="12747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TPS(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최고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평균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응답속도</a:t>
            </a: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성공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실패 개수</a:t>
            </a:r>
          </a:p>
        </p:txBody>
      </p:sp>
      <p:grpSp>
        <p:nvGrpSpPr>
          <p:cNvPr id="44" name="그룹 45"/>
          <p:cNvGrpSpPr>
            <a:grpSpLocks/>
          </p:cNvGrpSpPr>
          <p:nvPr/>
        </p:nvGrpSpPr>
        <p:grpSpPr bwMode="auto">
          <a:xfrm>
            <a:off x="7611865" y="3416629"/>
            <a:ext cx="692151" cy="705108"/>
            <a:chOff x="65554" y="5528386"/>
            <a:chExt cx="851350" cy="758557"/>
          </a:xfrm>
        </p:grpSpPr>
        <p:pic>
          <p:nvPicPr>
            <p:cNvPr id="45" name="Picture 15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46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47" name="직선 화살표 연결선 46"/>
          <p:cNvCxnSpPr/>
          <p:nvPr/>
        </p:nvCxnSpPr>
        <p:spPr bwMode="auto">
          <a:xfrm flipV="1">
            <a:off x="6471092" y="4073983"/>
            <a:ext cx="959715" cy="656609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0" name="그룹 45"/>
          <p:cNvGrpSpPr>
            <a:grpSpLocks/>
          </p:cNvGrpSpPr>
          <p:nvPr/>
        </p:nvGrpSpPr>
        <p:grpSpPr bwMode="auto">
          <a:xfrm>
            <a:off x="7764265" y="3569029"/>
            <a:ext cx="692151" cy="705108"/>
            <a:chOff x="65554" y="5528386"/>
            <a:chExt cx="851350" cy="758557"/>
          </a:xfrm>
        </p:grpSpPr>
        <p:pic>
          <p:nvPicPr>
            <p:cNvPr id="51" name="Picture 15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52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3" name="그룹 45"/>
          <p:cNvGrpSpPr>
            <a:grpSpLocks/>
          </p:cNvGrpSpPr>
          <p:nvPr/>
        </p:nvGrpSpPr>
        <p:grpSpPr bwMode="auto">
          <a:xfrm>
            <a:off x="7916665" y="3721429"/>
            <a:ext cx="692151" cy="705108"/>
            <a:chOff x="65554" y="5528386"/>
            <a:chExt cx="851350" cy="758557"/>
          </a:xfrm>
        </p:grpSpPr>
        <p:pic>
          <p:nvPicPr>
            <p:cNvPr id="54" name="Picture 15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55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049" name="타원 2048"/>
          <p:cNvSpPr/>
          <p:nvPr/>
        </p:nvSpPr>
        <p:spPr bwMode="auto">
          <a:xfrm>
            <a:off x="7230140" y="3169271"/>
            <a:ext cx="1700865" cy="137083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ea typeface="돋움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609718" y="3191674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유관 서비스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직선 연결선 58"/>
          <p:cNvCxnSpPr/>
          <p:nvPr/>
        </p:nvCxnSpPr>
        <p:spPr bwMode="auto">
          <a:xfrm>
            <a:off x="372188" y="3949344"/>
            <a:ext cx="3672408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0553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036182" y="2223848"/>
            <a:ext cx="2997054" cy="1084919"/>
            <a:chOff x="1036182" y="2223848"/>
            <a:chExt cx="2997054" cy="1084919"/>
          </a:xfrm>
        </p:grpSpPr>
        <p:grpSp>
          <p:nvGrpSpPr>
            <p:cNvPr id="19" name="그룹 18"/>
            <p:cNvGrpSpPr/>
            <p:nvPr/>
          </p:nvGrpSpPr>
          <p:grpSpPr>
            <a:xfrm>
              <a:off x="1116646" y="2223848"/>
              <a:ext cx="2796985" cy="915988"/>
              <a:chOff x="1116647" y="2223848"/>
              <a:chExt cx="2423788" cy="915988"/>
            </a:xfrm>
          </p:grpSpPr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6647" y="2223848"/>
                <a:ext cx="2423788" cy="915988"/>
              </a:xfrm>
              <a:prstGeom prst="rect">
                <a:avLst/>
              </a:prstGeom>
            </p:spPr>
          </p:pic>
          <p:grpSp>
            <p:nvGrpSpPr>
              <p:cNvPr id="16" name="그룹 15"/>
              <p:cNvGrpSpPr/>
              <p:nvPr/>
            </p:nvGrpSpPr>
            <p:grpSpPr>
              <a:xfrm>
                <a:off x="1690687" y="2595466"/>
                <a:ext cx="280988" cy="530081"/>
                <a:chOff x="1690687" y="2595466"/>
                <a:chExt cx="280988" cy="530081"/>
              </a:xfrm>
            </p:grpSpPr>
            <p:cxnSp>
              <p:nvCxnSpPr>
                <p:cNvPr id="12" name="직선 연결선 11"/>
                <p:cNvCxnSpPr/>
                <p:nvPr/>
              </p:nvCxnSpPr>
              <p:spPr bwMode="auto">
                <a:xfrm>
                  <a:off x="1690688" y="2595466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8" name="직선 연결선 57"/>
                <p:cNvCxnSpPr/>
                <p:nvPr/>
              </p:nvCxnSpPr>
              <p:spPr bwMode="auto">
                <a:xfrm>
                  <a:off x="1971675" y="2604992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4" name="직선 연결선 73"/>
                <p:cNvCxnSpPr/>
                <p:nvPr/>
              </p:nvCxnSpPr>
              <p:spPr bwMode="auto">
                <a:xfrm>
                  <a:off x="1690687" y="3125451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5" name="직선 연결선 74"/>
                <p:cNvCxnSpPr/>
                <p:nvPr/>
              </p:nvCxnSpPr>
              <p:spPr bwMode="auto">
                <a:xfrm>
                  <a:off x="1690687" y="2600229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7" name="그룹 76"/>
              <p:cNvGrpSpPr/>
              <p:nvPr/>
            </p:nvGrpSpPr>
            <p:grpSpPr>
              <a:xfrm>
                <a:off x="1971674" y="2592052"/>
                <a:ext cx="280988" cy="530081"/>
                <a:chOff x="1690687" y="2595466"/>
                <a:chExt cx="280988" cy="530081"/>
              </a:xfrm>
            </p:grpSpPr>
            <p:cxnSp>
              <p:nvCxnSpPr>
                <p:cNvPr id="79" name="직선 연결선 78"/>
                <p:cNvCxnSpPr/>
                <p:nvPr/>
              </p:nvCxnSpPr>
              <p:spPr bwMode="auto">
                <a:xfrm>
                  <a:off x="1690688" y="2595466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직선 연결선 79"/>
                <p:cNvCxnSpPr/>
                <p:nvPr/>
              </p:nvCxnSpPr>
              <p:spPr bwMode="auto">
                <a:xfrm>
                  <a:off x="1971675" y="2604992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1" name="직선 연결선 80"/>
                <p:cNvCxnSpPr/>
                <p:nvPr/>
              </p:nvCxnSpPr>
              <p:spPr bwMode="auto">
                <a:xfrm>
                  <a:off x="1690687" y="3125451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직선 연결선 81"/>
                <p:cNvCxnSpPr/>
                <p:nvPr/>
              </p:nvCxnSpPr>
              <p:spPr bwMode="auto">
                <a:xfrm>
                  <a:off x="1690687" y="2600229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0" name="그룹 89"/>
              <p:cNvGrpSpPr/>
              <p:nvPr/>
            </p:nvGrpSpPr>
            <p:grpSpPr>
              <a:xfrm>
                <a:off x="1404891" y="2595450"/>
                <a:ext cx="280988" cy="530081"/>
                <a:chOff x="1690687" y="2595466"/>
                <a:chExt cx="280988" cy="530081"/>
              </a:xfrm>
            </p:grpSpPr>
            <p:cxnSp>
              <p:nvCxnSpPr>
                <p:cNvPr id="91" name="직선 연결선 90"/>
                <p:cNvCxnSpPr/>
                <p:nvPr/>
              </p:nvCxnSpPr>
              <p:spPr bwMode="auto">
                <a:xfrm>
                  <a:off x="1690688" y="2595466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2" name="직선 연결선 91"/>
                <p:cNvCxnSpPr/>
                <p:nvPr/>
              </p:nvCxnSpPr>
              <p:spPr bwMode="auto">
                <a:xfrm>
                  <a:off x="1971675" y="2604992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6" name="직선 연결선 95"/>
                <p:cNvCxnSpPr/>
                <p:nvPr/>
              </p:nvCxnSpPr>
              <p:spPr bwMode="auto">
                <a:xfrm>
                  <a:off x="1690687" y="3125451"/>
                  <a:ext cx="280987" cy="0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7" name="직선 연결선 96"/>
                <p:cNvCxnSpPr/>
                <p:nvPr/>
              </p:nvCxnSpPr>
              <p:spPr bwMode="auto">
                <a:xfrm>
                  <a:off x="1690687" y="2600229"/>
                  <a:ext cx="0" cy="520555"/>
                </a:xfrm>
                <a:prstGeom prst="line">
                  <a:avLst/>
                </a:prstGeom>
                <a:noFill/>
                <a:ln w="22225" cap="flat" cmpd="sng" algn="ctr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98" name="TextBox 97"/>
            <p:cNvSpPr txBox="1"/>
            <p:nvPr/>
          </p:nvSpPr>
          <p:spPr>
            <a:xfrm>
              <a:off x="1036182" y="3108712"/>
              <a:ext cx="29970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u="none" dirty="0" smtClean="0">
                  <a:latin typeface="맑은 고딕" pitchFamily="50" charset="-127"/>
                  <a:ea typeface="맑은 고딕" pitchFamily="50" charset="-127"/>
                </a:rPr>
                <a:t>※ </a:t>
              </a:r>
              <a:r>
                <a:rPr lang="ko-KR" altLang="en-US" sz="700" b="1" u="none" dirty="0" smtClean="0">
                  <a:latin typeface="맑은 고딕" pitchFamily="50" charset="-127"/>
                  <a:ea typeface="맑은 고딕" pitchFamily="50" charset="-127"/>
                </a:rPr>
                <a:t>출처 </a:t>
              </a:r>
              <a:r>
                <a:rPr lang="en-US" altLang="ko-KR" sz="700" b="1" u="none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700" b="1" u="none" dirty="0" err="1" smtClean="0">
                  <a:latin typeface="맑은 고딕" pitchFamily="50" charset="-127"/>
                  <a:ea typeface="맑은 고딕" pitchFamily="50" charset="-127"/>
                </a:rPr>
                <a:t>클라우드센터</a:t>
              </a:r>
              <a:r>
                <a:rPr lang="ko-KR" altLang="en-US" sz="700" b="1" u="none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b="1" u="none" dirty="0" smtClean="0">
                  <a:latin typeface="맑은 고딕" pitchFamily="50" charset="-127"/>
                  <a:ea typeface="맑은 고딕" pitchFamily="50" charset="-127"/>
                </a:rPr>
                <a:t>AWS</a:t>
              </a:r>
              <a:r>
                <a:rPr lang="ko-KR" altLang="en-US" sz="700" b="1" u="none" dirty="0" smtClean="0">
                  <a:latin typeface="맑은 고딕" pitchFamily="50" charset="-127"/>
                  <a:ea typeface="맑은 고딕" pitchFamily="50" charset="-127"/>
                </a:rPr>
                <a:t>전환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성능테스트 결과서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(2017.11 / EMP)</a:t>
              </a:r>
              <a:endParaRPr lang="ko-KR" altLang="en-US" sz="700" b="1" u="none" dirty="0" smtClean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220713" y="627259"/>
            <a:ext cx="24208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시험환경 및 측정구간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Privacy Site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성능시험은 유관서비스에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연동된 상태로 수행하며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측정구간은 두 개로 분류 된다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cxnSp>
        <p:nvCxnSpPr>
          <p:cNvPr id="28" name="직선 화살표 연결선 27"/>
          <p:cNvCxnSpPr>
            <a:stCxn id="31" idx="2"/>
            <a:endCxn id="34" idx="0"/>
          </p:cNvCxnSpPr>
          <p:nvPr/>
        </p:nvCxnSpPr>
        <p:spPr bwMode="auto">
          <a:xfrm>
            <a:off x="4373900" y="4370757"/>
            <a:ext cx="484" cy="615737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5390" y="3632460"/>
            <a:ext cx="647619" cy="8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Box 29"/>
          <p:cNvSpPr txBox="1"/>
          <p:nvPr/>
        </p:nvSpPr>
        <p:spPr>
          <a:xfrm>
            <a:off x="2765157" y="3461050"/>
            <a:ext cx="4219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ALB</a:t>
            </a:r>
            <a:endParaRPr lang="ko-KR" altLang="en-US" sz="10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1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509" y="3717020"/>
            <a:ext cx="544781" cy="6537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20753" y="3919390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WAS</a:t>
            </a:r>
            <a:endParaRPr lang="ko-KR" altLang="en-US" sz="10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4744" y="3434230"/>
            <a:ext cx="1533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algn="ctr"/>
            <a:r>
              <a:rPr lang="ko-KR" altLang="en-US" dirty="0" smtClean="0"/>
              <a:t>부하발생기</a:t>
            </a:r>
            <a:r>
              <a:rPr lang="en-US" altLang="ko-KR" dirty="0" smtClean="0"/>
              <a:t>(</a:t>
            </a:r>
            <a:r>
              <a:rPr lang="en-US" altLang="ko-KR" dirty="0" err="1"/>
              <a:t>nGrinder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6" name="직선 화살표 연결선 35"/>
          <p:cNvCxnSpPr>
            <a:stCxn id="38" idx="3"/>
            <a:endCxn id="31" idx="1"/>
          </p:cNvCxnSpPr>
          <p:nvPr/>
        </p:nvCxnSpPr>
        <p:spPr bwMode="auto">
          <a:xfrm>
            <a:off x="3261997" y="4042501"/>
            <a:ext cx="839512" cy="138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직선 화살표 연결선 36"/>
          <p:cNvCxnSpPr>
            <a:stCxn id="29" idx="3"/>
            <a:endCxn id="38" idx="1"/>
          </p:cNvCxnSpPr>
          <p:nvPr/>
        </p:nvCxnSpPr>
        <p:spPr bwMode="auto">
          <a:xfrm flipV="1">
            <a:off x="1893009" y="4042501"/>
            <a:ext cx="765254" cy="138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8" name="그림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263" y="3740634"/>
            <a:ext cx="603734" cy="603734"/>
          </a:xfrm>
          <a:prstGeom prst="rect">
            <a:avLst/>
          </a:prstGeom>
        </p:spPr>
      </p:pic>
      <p:grpSp>
        <p:nvGrpSpPr>
          <p:cNvPr id="2050" name="그룹 2049"/>
          <p:cNvGrpSpPr/>
          <p:nvPr/>
        </p:nvGrpSpPr>
        <p:grpSpPr>
          <a:xfrm>
            <a:off x="4113701" y="4986494"/>
            <a:ext cx="521366" cy="868602"/>
            <a:chOff x="4294462" y="4606870"/>
            <a:chExt cx="521366" cy="868602"/>
          </a:xfrm>
        </p:grpSpPr>
        <p:sp>
          <p:nvSpPr>
            <p:cNvPr id="33" name="TextBox 32"/>
            <p:cNvSpPr txBox="1"/>
            <p:nvPr/>
          </p:nvSpPr>
          <p:spPr>
            <a:xfrm>
              <a:off x="4373850" y="5229251"/>
              <a:ext cx="3626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u="sng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DB</a:t>
              </a:r>
            </a:p>
          </p:txBody>
        </p:sp>
        <p:pic>
          <p:nvPicPr>
            <p:cNvPr id="34" name="Picture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462" y="4606870"/>
              <a:ext cx="521366" cy="602829"/>
            </a:xfrm>
            <a:prstGeom prst="rect">
              <a:avLst/>
            </a:prstGeom>
          </p:spPr>
        </p:pic>
      </p:grpSp>
      <p:grpSp>
        <p:nvGrpSpPr>
          <p:cNvPr id="44" name="그룹 45"/>
          <p:cNvGrpSpPr>
            <a:grpSpLocks/>
          </p:cNvGrpSpPr>
          <p:nvPr/>
        </p:nvGrpSpPr>
        <p:grpSpPr bwMode="auto">
          <a:xfrm>
            <a:off x="6841117" y="1936959"/>
            <a:ext cx="790846" cy="711624"/>
            <a:chOff x="65554" y="5528386"/>
            <a:chExt cx="851350" cy="758557"/>
          </a:xfrm>
        </p:grpSpPr>
        <p:pic>
          <p:nvPicPr>
            <p:cNvPr id="45" name="Picture 15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46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47" name="직선 화살표 연결선 46"/>
          <p:cNvCxnSpPr>
            <a:stCxn id="31" idx="3"/>
            <a:endCxn id="45" idx="1"/>
          </p:cNvCxnSpPr>
          <p:nvPr/>
        </p:nvCxnSpPr>
        <p:spPr bwMode="auto">
          <a:xfrm flipV="1">
            <a:off x="4646290" y="2292771"/>
            <a:ext cx="2194827" cy="175111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7729289" y="1990123"/>
            <a:ext cx="1500198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서비스명 </a:t>
            </a:r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로그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 정보</a:t>
            </a: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게시판</a:t>
            </a: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FAQ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E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tc.</a:t>
            </a:r>
            <a:endParaRPr lang="ko-KR" altLang="en-US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9" name="그룹 45"/>
          <p:cNvGrpSpPr>
            <a:grpSpLocks/>
          </p:cNvGrpSpPr>
          <p:nvPr/>
        </p:nvGrpSpPr>
        <p:grpSpPr bwMode="auto">
          <a:xfrm>
            <a:off x="6834022" y="3035696"/>
            <a:ext cx="790846" cy="711624"/>
            <a:chOff x="65554" y="5528386"/>
            <a:chExt cx="851350" cy="758557"/>
          </a:xfrm>
        </p:grpSpPr>
        <p:pic>
          <p:nvPicPr>
            <p:cNvPr id="60" name="Picture 15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61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7722194" y="3205823"/>
            <a:ext cx="1500198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서비스명 </a:t>
            </a:r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사용이력</a:t>
            </a: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grpSp>
        <p:nvGrpSpPr>
          <p:cNvPr id="63" name="그룹 45"/>
          <p:cNvGrpSpPr>
            <a:grpSpLocks/>
          </p:cNvGrpSpPr>
          <p:nvPr/>
        </p:nvGrpSpPr>
        <p:grpSpPr bwMode="auto">
          <a:xfrm>
            <a:off x="6848193" y="4166332"/>
            <a:ext cx="790846" cy="711624"/>
            <a:chOff x="65554" y="5528386"/>
            <a:chExt cx="851350" cy="758557"/>
          </a:xfrm>
        </p:grpSpPr>
        <p:pic>
          <p:nvPicPr>
            <p:cNvPr id="64" name="Picture 15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65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736365" y="4219496"/>
            <a:ext cx="150019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서비스명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사용이력 조회</a:t>
            </a: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기기정보 조회</a:t>
            </a:r>
          </a:p>
        </p:txBody>
      </p:sp>
      <p:grpSp>
        <p:nvGrpSpPr>
          <p:cNvPr id="67" name="그룹 45"/>
          <p:cNvGrpSpPr>
            <a:grpSpLocks/>
          </p:cNvGrpSpPr>
          <p:nvPr/>
        </p:nvGrpSpPr>
        <p:grpSpPr bwMode="auto">
          <a:xfrm>
            <a:off x="6862364" y="5318234"/>
            <a:ext cx="790846" cy="711624"/>
            <a:chOff x="65554" y="5528386"/>
            <a:chExt cx="851350" cy="758557"/>
          </a:xfrm>
        </p:grpSpPr>
        <p:pic>
          <p:nvPicPr>
            <p:cNvPr id="68" name="Picture 15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" y="5528386"/>
              <a:ext cx="658939" cy="758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69" name="타원 47"/>
            <p:cNvSpPr/>
            <p:nvPr/>
          </p:nvSpPr>
          <p:spPr>
            <a:xfrm>
              <a:off x="415391" y="5907665"/>
              <a:ext cx="501513" cy="348044"/>
            </a:xfrm>
            <a:prstGeom prst="ellipse">
              <a:avLst/>
            </a:prstGeom>
            <a:solidFill>
              <a:srgbClr val="000000">
                <a:alpha val="50196"/>
              </a:srgb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  <a:defRPr/>
              </a:pPr>
              <a:r>
                <a:rPr lang="en-US" altLang="ko-KR" sz="7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7750535" y="5371398"/>
            <a:ext cx="1786873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서비스명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ts val="400"/>
              </a:lnSpc>
              <a:buFont typeface="Wingdings" pitchFamily="2" charset="2"/>
              <a:buChar char="§"/>
            </a:pP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사용이력 조회</a:t>
            </a: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기기정보 조회</a:t>
            </a:r>
            <a:endParaRPr lang="en-US" altLang="ko-KR" sz="10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구매내역 조회</a:t>
            </a:r>
          </a:p>
        </p:txBody>
      </p:sp>
      <p:cxnSp>
        <p:nvCxnSpPr>
          <p:cNvPr id="71" name="직선 화살표 연결선 70"/>
          <p:cNvCxnSpPr>
            <a:stCxn id="31" idx="3"/>
            <a:endCxn id="60" idx="1"/>
          </p:cNvCxnSpPr>
          <p:nvPr/>
        </p:nvCxnSpPr>
        <p:spPr bwMode="auto">
          <a:xfrm flipV="1">
            <a:off x="4646290" y="3391508"/>
            <a:ext cx="2187732" cy="652381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직선 화살표 연결선 71"/>
          <p:cNvCxnSpPr>
            <a:stCxn id="31" idx="3"/>
            <a:endCxn id="64" idx="1"/>
          </p:cNvCxnSpPr>
          <p:nvPr/>
        </p:nvCxnSpPr>
        <p:spPr bwMode="auto">
          <a:xfrm>
            <a:off x="4646290" y="4043889"/>
            <a:ext cx="2201903" cy="47825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3" name="직선 화살표 연결선 72"/>
          <p:cNvCxnSpPr>
            <a:stCxn id="31" idx="3"/>
            <a:endCxn id="68" idx="1"/>
          </p:cNvCxnSpPr>
          <p:nvPr/>
        </p:nvCxnSpPr>
        <p:spPr bwMode="auto">
          <a:xfrm>
            <a:off x="4646290" y="4043889"/>
            <a:ext cx="2216074" cy="1630157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3820033" y="5827070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Linux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MySQL 5.6.37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69607" y="3200754"/>
            <a:ext cx="15584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Amazon Linux AMI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Java 1.8.0_161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Tomcat 8.5</a:t>
            </a:r>
          </a:p>
        </p:txBody>
      </p:sp>
      <p:sp>
        <p:nvSpPr>
          <p:cNvPr id="2053" name="자유형 2052"/>
          <p:cNvSpPr/>
          <p:nvPr/>
        </p:nvSpPr>
        <p:spPr>
          <a:xfrm>
            <a:off x="720114" y="1726379"/>
            <a:ext cx="5930790" cy="435934"/>
          </a:xfrm>
          <a:custGeom>
            <a:avLst/>
            <a:gdLst>
              <a:gd name="connsiteX0" fmla="*/ 127591 w 5539050"/>
              <a:gd name="connsiteY0" fmla="*/ 25781 h 461715"/>
              <a:gd name="connsiteX1" fmla="*/ 4784652 w 5539050"/>
              <a:gd name="connsiteY1" fmla="*/ 36413 h 461715"/>
              <a:gd name="connsiteX2" fmla="*/ 5050466 w 5539050"/>
              <a:gd name="connsiteY2" fmla="*/ 376655 h 461715"/>
              <a:gd name="connsiteX3" fmla="*/ 0 w 5539050"/>
              <a:gd name="connsiteY3" fmla="*/ 461715 h 461715"/>
              <a:gd name="connsiteX0" fmla="*/ 0 w 5578861"/>
              <a:gd name="connsiteY0" fmla="*/ 0 h 446567"/>
              <a:gd name="connsiteX1" fmla="*/ 4816187 w 5578861"/>
              <a:gd name="connsiteY1" fmla="*/ 21265 h 446567"/>
              <a:gd name="connsiteX2" fmla="*/ 5082001 w 5578861"/>
              <a:gd name="connsiteY2" fmla="*/ 361507 h 446567"/>
              <a:gd name="connsiteX3" fmla="*/ 31535 w 5578861"/>
              <a:gd name="connsiteY3" fmla="*/ 446567 h 446567"/>
              <a:gd name="connsiteX0" fmla="*/ 0 w 5547464"/>
              <a:gd name="connsiteY0" fmla="*/ 0 h 435934"/>
              <a:gd name="connsiteX1" fmla="*/ 4786352 w 5547464"/>
              <a:gd name="connsiteY1" fmla="*/ 10632 h 435934"/>
              <a:gd name="connsiteX2" fmla="*/ 5052166 w 5547464"/>
              <a:gd name="connsiteY2" fmla="*/ 350874 h 435934"/>
              <a:gd name="connsiteX3" fmla="*/ 1700 w 5547464"/>
              <a:gd name="connsiteY3" fmla="*/ 435934 h 43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7464" h="435934">
                <a:moveTo>
                  <a:pt x="0" y="0"/>
                </a:moveTo>
                <a:lnTo>
                  <a:pt x="4786352" y="10632"/>
                </a:lnTo>
                <a:cubicBezTo>
                  <a:pt x="5628380" y="69111"/>
                  <a:pt x="5849608" y="279990"/>
                  <a:pt x="5052166" y="350874"/>
                </a:cubicBezTo>
                <a:cubicBezTo>
                  <a:pt x="4254724" y="421758"/>
                  <a:pt x="2128212" y="428846"/>
                  <a:pt x="1700" y="435934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4" name="자유형 2053"/>
          <p:cNvSpPr/>
          <p:nvPr/>
        </p:nvSpPr>
        <p:spPr>
          <a:xfrm>
            <a:off x="935664" y="4610477"/>
            <a:ext cx="2875982" cy="1650991"/>
          </a:xfrm>
          <a:custGeom>
            <a:avLst/>
            <a:gdLst>
              <a:gd name="connsiteX0" fmla="*/ 53163 w 2512448"/>
              <a:gd name="connsiteY0" fmla="*/ 28918 h 1647234"/>
              <a:gd name="connsiteX1" fmla="*/ 2275368 w 2512448"/>
              <a:gd name="connsiteY1" fmla="*/ 18286 h 1647234"/>
              <a:gd name="connsiteX2" fmla="*/ 2466754 w 2512448"/>
              <a:gd name="connsiteY2" fmla="*/ 241570 h 1647234"/>
              <a:gd name="connsiteX3" fmla="*/ 2434856 w 2512448"/>
              <a:gd name="connsiteY3" fmla="*/ 1283560 h 1647234"/>
              <a:gd name="connsiteX4" fmla="*/ 2222205 w 2512448"/>
              <a:gd name="connsiteY4" fmla="*/ 1634435 h 1647234"/>
              <a:gd name="connsiteX5" fmla="*/ 1754372 w 2512448"/>
              <a:gd name="connsiteY5" fmla="*/ 1443049 h 1647234"/>
              <a:gd name="connsiteX6" fmla="*/ 1765005 w 2512448"/>
              <a:gd name="connsiteY6" fmla="*/ 294732 h 1647234"/>
              <a:gd name="connsiteX7" fmla="*/ 0 w 2512448"/>
              <a:gd name="connsiteY7" fmla="*/ 262835 h 1647234"/>
              <a:gd name="connsiteX0" fmla="*/ 53163 w 2549138"/>
              <a:gd name="connsiteY0" fmla="*/ 28918 h 1647234"/>
              <a:gd name="connsiteX1" fmla="*/ 2275368 w 2549138"/>
              <a:gd name="connsiteY1" fmla="*/ 18286 h 1647234"/>
              <a:gd name="connsiteX2" fmla="*/ 2530549 w 2549138"/>
              <a:gd name="connsiteY2" fmla="*/ 241570 h 1647234"/>
              <a:gd name="connsiteX3" fmla="*/ 2434856 w 2549138"/>
              <a:gd name="connsiteY3" fmla="*/ 1283560 h 1647234"/>
              <a:gd name="connsiteX4" fmla="*/ 2222205 w 2549138"/>
              <a:gd name="connsiteY4" fmla="*/ 1634435 h 1647234"/>
              <a:gd name="connsiteX5" fmla="*/ 1754372 w 2549138"/>
              <a:gd name="connsiteY5" fmla="*/ 1443049 h 1647234"/>
              <a:gd name="connsiteX6" fmla="*/ 1765005 w 2549138"/>
              <a:gd name="connsiteY6" fmla="*/ 294732 h 1647234"/>
              <a:gd name="connsiteX7" fmla="*/ 0 w 2549138"/>
              <a:gd name="connsiteY7" fmla="*/ 262835 h 1647234"/>
              <a:gd name="connsiteX0" fmla="*/ 53163 w 2577939"/>
              <a:gd name="connsiteY0" fmla="*/ 28139 h 1646455"/>
              <a:gd name="connsiteX1" fmla="*/ 2275368 w 2577939"/>
              <a:gd name="connsiteY1" fmla="*/ 17507 h 1646455"/>
              <a:gd name="connsiteX2" fmla="*/ 2573079 w 2577939"/>
              <a:gd name="connsiteY2" fmla="*/ 230159 h 1646455"/>
              <a:gd name="connsiteX3" fmla="*/ 2434856 w 2577939"/>
              <a:gd name="connsiteY3" fmla="*/ 1282781 h 1646455"/>
              <a:gd name="connsiteX4" fmla="*/ 2222205 w 2577939"/>
              <a:gd name="connsiteY4" fmla="*/ 1633656 h 1646455"/>
              <a:gd name="connsiteX5" fmla="*/ 1754372 w 2577939"/>
              <a:gd name="connsiteY5" fmla="*/ 1442270 h 1646455"/>
              <a:gd name="connsiteX6" fmla="*/ 1765005 w 2577939"/>
              <a:gd name="connsiteY6" fmla="*/ 293953 h 1646455"/>
              <a:gd name="connsiteX7" fmla="*/ 0 w 2577939"/>
              <a:gd name="connsiteY7" fmla="*/ 262056 h 1646455"/>
              <a:gd name="connsiteX0" fmla="*/ 53163 w 2591012"/>
              <a:gd name="connsiteY0" fmla="*/ 35891 h 1654207"/>
              <a:gd name="connsiteX1" fmla="*/ 2020187 w 2591012"/>
              <a:gd name="connsiteY1" fmla="*/ 14627 h 1654207"/>
              <a:gd name="connsiteX2" fmla="*/ 2573079 w 2591012"/>
              <a:gd name="connsiteY2" fmla="*/ 237911 h 1654207"/>
              <a:gd name="connsiteX3" fmla="*/ 2434856 w 2591012"/>
              <a:gd name="connsiteY3" fmla="*/ 1290533 h 1654207"/>
              <a:gd name="connsiteX4" fmla="*/ 2222205 w 2591012"/>
              <a:gd name="connsiteY4" fmla="*/ 1641408 h 1654207"/>
              <a:gd name="connsiteX5" fmla="*/ 1754372 w 2591012"/>
              <a:gd name="connsiteY5" fmla="*/ 1450022 h 1654207"/>
              <a:gd name="connsiteX6" fmla="*/ 1765005 w 2591012"/>
              <a:gd name="connsiteY6" fmla="*/ 301705 h 1654207"/>
              <a:gd name="connsiteX7" fmla="*/ 0 w 2591012"/>
              <a:gd name="connsiteY7" fmla="*/ 269808 h 1654207"/>
              <a:gd name="connsiteX0" fmla="*/ 53163 w 2456715"/>
              <a:gd name="connsiteY0" fmla="*/ 35891 h 1654207"/>
              <a:gd name="connsiteX1" fmla="*/ 2020187 w 2456715"/>
              <a:gd name="connsiteY1" fmla="*/ 14627 h 1654207"/>
              <a:gd name="connsiteX2" fmla="*/ 2402958 w 2456715"/>
              <a:gd name="connsiteY2" fmla="*/ 237911 h 1654207"/>
              <a:gd name="connsiteX3" fmla="*/ 2434856 w 2456715"/>
              <a:gd name="connsiteY3" fmla="*/ 1290533 h 1654207"/>
              <a:gd name="connsiteX4" fmla="*/ 2222205 w 2456715"/>
              <a:gd name="connsiteY4" fmla="*/ 1641408 h 1654207"/>
              <a:gd name="connsiteX5" fmla="*/ 1754372 w 2456715"/>
              <a:gd name="connsiteY5" fmla="*/ 1450022 h 1654207"/>
              <a:gd name="connsiteX6" fmla="*/ 1765005 w 2456715"/>
              <a:gd name="connsiteY6" fmla="*/ 301705 h 1654207"/>
              <a:gd name="connsiteX7" fmla="*/ 0 w 2456715"/>
              <a:gd name="connsiteY7" fmla="*/ 269808 h 1654207"/>
              <a:gd name="connsiteX0" fmla="*/ 53163 w 2482344"/>
              <a:gd name="connsiteY0" fmla="*/ 35107 h 1653423"/>
              <a:gd name="connsiteX1" fmla="*/ 2020187 w 2482344"/>
              <a:gd name="connsiteY1" fmla="*/ 13843 h 1653423"/>
              <a:gd name="connsiteX2" fmla="*/ 2445488 w 2482344"/>
              <a:gd name="connsiteY2" fmla="*/ 226495 h 1653423"/>
              <a:gd name="connsiteX3" fmla="*/ 2434856 w 2482344"/>
              <a:gd name="connsiteY3" fmla="*/ 1289749 h 1653423"/>
              <a:gd name="connsiteX4" fmla="*/ 2222205 w 2482344"/>
              <a:gd name="connsiteY4" fmla="*/ 1640624 h 1653423"/>
              <a:gd name="connsiteX5" fmla="*/ 1754372 w 2482344"/>
              <a:gd name="connsiteY5" fmla="*/ 1449238 h 1653423"/>
              <a:gd name="connsiteX6" fmla="*/ 1765005 w 2482344"/>
              <a:gd name="connsiteY6" fmla="*/ 300921 h 1653423"/>
              <a:gd name="connsiteX7" fmla="*/ 0 w 2482344"/>
              <a:gd name="connsiteY7" fmla="*/ 269024 h 1653423"/>
              <a:gd name="connsiteX0" fmla="*/ 53163 w 2482344"/>
              <a:gd name="connsiteY0" fmla="*/ 35107 h 1642663"/>
              <a:gd name="connsiteX1" fmla="*/ 2020187 w 2482344"/>
              <a:gd name="connsiteY1" fmla="*/ 13843 h 1642663"/>
              <a:gd name="connsiteX2" fmla="*/ 2445488 w 2482344"/>
              <a:gd name="connsiteY2" fmla="*/ 226495 h 1642663"/>
              <a:gd name="connsiteX3" fmla="*/ 2434856 w 2482344"/>
              <a:gd name="connsiteY3" fmla="*/ 1289749 h 1642663"/>
              <a:gd name="connsiteX4" fmla="*/ 2222205 w 2482344"/>
              <a:gd name="connsiteY4" fmla="*/ 1640624 h 1642663"/>
              <a:gd name="connsiteX5" fmla="*/ 1956390 w 2482344"/>
              <a:gd name="connsiteY5" fmla="*/ 1374810 h 1642663"/>
              <a:gd name="connsiteX6" fmla="*/ 1765005 w 2482344"/>
              <a:gd name="connsiteY6" fmla="*/ 300921 h 1642663"/>
              <a:gd name="connsiteX7" fmla="*/ 0 w 2482344"/>
              <a:gd name="connsiteY7" fmla="*/ 269024 h 1642663"/>
              <a:gd name="connsiteX0" fmla="*/ 0 w 2854483"/>
              <a:gd name="connsiteY0" fmla="*/ 22170 h 1650991"/>
              <a:gd name="connsiteX1" fmla="*/ 2392326 w 2854483"/>
              <a:gd name="connsiteY1" fmla="*/ 22171 h 1650991"/>
              <a:gd name="connsiteX2" fmla="*/ 2817627 w 2854483"/>
              <a:gd name="connsiteY2" fmla="*/ 234823 h 1650991"/>
              <a:gd name="connsiteX3" fmla="*/ 2806995 w 2854483"/>
              <a:gd name="connsiteY3" fmla="*/ 1298077 h 1650991"/>
              <a:gd name="connsiteX4" fmla="*/ 2594344 w 2854483"/>
              <a:gd name="connsiteY4" fmla="*/ 1648952 h 1650991"/>
              <a:gd name="connsiteX5" fmla="*/ 2328529 w 2854483"/>
              <a:gd name="connsiteY5" fmla="*/ 1383138 h 1650991"/>
              <a:gd name="connsiteX6" fmla="*/ 2137144 w 2854483"/>
              <a:gd name="connsiteY6" fmla="*/ 309249 h 1650991"/>
              <a:gd name="connsiteX7" fmla="*/ 372139 w 2854483"/>
              <a:gd name="connsiteY7" fmla="*/ 277352 h 1650991"/>
              <a:gd name="connsiteX0" fmla="*/ 0 w 2854483"/>
              <a:gd name="connsiteY0" fmla="*/ 22170 h 1650991"/>
              <a:gd name="connsiteX1" fmla="*/ 2392326 w 2854483"/>
              <a:gd name="connsiteY1" fmla="*/ 22171 h 1650991"/>
              <a:gd name="connsiteX2" fmla="*/ 2817627 w 2854483"/>
              <a:gd name="connsiteY2" fmla="*/ 234823 h 1650991"/>
              <a:gd name="connsiteX3" fmla="*/ 2806995 w 2854483"/>
              <a:gd name="connsiteY3" fmla="*/ 1298077 h 1650991"/>
              <a:gd name="connsiteX4" fmla="*/ 2594344 w 2854483"/>
              <a:gd name="connsiteY4" fmla="*/ 1648952 h 1650991"/>
              <a:gd name="connsiteX5" fmla="*/ 2328529 w 2854483"/>
              <a:gd name="connsiteY5" fmla="*/ 1383138 h 1650991"/>
              <a:gd name="connsiteX6" fmla="*/ 2137144 w 2854483"/>
              <a:gd name="connsiteY6" fmla="*/ 309249 h 1650991"/>
              <a:gd name="connsiteX7" fmla="*/ 21265 w 2854483"/>
              <a:gd name="connsiteY7" fmla="*/ 266719 h 1650991"/>
              <a:gd name="connsiteX0" fmla="*/ 0 w 2854483"/>
              <a:gd name="connsiteY0" fmla="*/ 22170 h 1650991"/>
              <a:gd name="connsiteX1" fmla="*/ 2392326 w 2854483"/>
              <a:gd name="connsiteY1" fmla="*/ 22171 h 1650991"/>
              <a:gd name="connsiteX2" fmla="*/ 2817627 w 2854483"/>
              <a:gd name="connsiteY2" fmla="*/ 234823 h 1650991"/>
              <a:gd name="connsiteX3" fmla="*/ 2806995 w 2854483"/>
              <a:gd name="connsiteY3" fmla="*/ 1298077 h 1650991"/>
              <a:gd name="connsiteX4" fmla="*/ 2594344 w 2854483"/>
              <a:gd name="connsiteY4" fmla="*/ 1648952 h 1650991"/>
              <a:gd name="connsiteX5" fmla="*/ 2328529 w 2854483"/>
              <a:gd name="connsiteY5" fmla="*/ 1383138 h 1650991"/>
              <a:gd name="connsiteX6" fmla="*/ 2137144 w 2854483"/>
              <a:gd name="connsiteY6" fmla="*/ 309249 h 1650991"/>
              <a:gd name="connsiteX7" fmla="*/ 21265 w 2854483"/>
              <a:gd name="connsiteY7" fmla="*/ 266719 h 1650991"/>
              <a:gd name="connsiteX0" fmla="*/ 10633 w 2865116"/>
              <a:gd name="connsiteY0" fmla="*/ 22170 h 1650991"/>
              <a:gd name="connsiteX1" fmla="*/ 2402959 w 2865116"/>
              <a:gd name="connsiteY1" fmla="*/ 22171 h 1650991"/>
              <a:gd name="connsiteX2" fmla="*/ 2828260 w 2865116"/>
              <a:gd name="connsiteY2" fmla="*/ 234823 h 1650991"/>
              <a:gd name="connsiteX3" fmla="*/ 2817628 w 2865116"/>
              <a:gd name="connsiteY3" fmla="*/ 1298077 h 1650991"/>
              <a:gd name="connsiteX4" fmla="*/ 2604977 w 2865116"/>
              <a:gd name="connsiteY4" fmla="*/ 1648952 h 1650991"/>
              <a:gd name="connsiteX5" fmla="*/ 2339162 w 2865116"/>
              <a:gd name="connsiteY5" fmla="*/ 1383138 h 1650991"/>
              <a:gd name="connsiteX6" fmla="*/ 2147777 w 2865116"/>
              <a:gd name="connsiteY6" fmla="*/ 309249 h 1650991"/>
              <a:gd name="connsiteX7" fmla="*/ 0 w 2865116"/>
              <a:gd name="connsiteY7" fmla="*/ 256087 h 1650991"/>
              <a:gd name="connsiteX0" fmla="*/ 10633 w 2864345"/>
              <a:gd name="connsiteY0" fmla="*/ 12741 h 1641562"/>
              <a:gd name="connsiteX1" fmla="*/ 2413591 w 2864345"/>
              <a:gd name="connsiteY1" fmla="*/ 34007 h 1641562"/>
              <a:gd name="connsiteX2" fmla="*/ 2828260 w 2864345"/>
              <a:gd name="connsiteY2" fmla="*/ 225394 h 1641562"/>
              <a:gd name="connsiteX3" fmla="*/ 2817628 w 2864345"/>
              <a:gd name="connsiteY3" fmla="*/ 1288648 h 1641562"/>
              <a:gd name="connsiteX4" fmla="*/ 2604977 w 2864345"/>
              <a:gd name="connsiteY4" fmla="*/ 1639523 h 1641562"/>
              <a:gd name="connsiteX5" fmla="*/ 2339162 w 2864345"/>
              <a:gd name="connsiteY5" fmla="*/ 1373709 h 1641562"/>
              <a:gd name="connsiteX6" fmla="*/ 2147777 w 2864345"/>
              <a:gd name="connsiteY6" fmla="*/ 299820 h 1641562"/>
              <a:gd name="connsiteX7" fmla="*/ 0 w 2864345"/>
              <a:gd name="connsiteY7" fmla="*/ 246658 h 1641562"/>
              <a:gd name="connsiteX0" fmla="*/ 10633 w 2864344"/>
              <a:gd name="connsiteY0" fmla="*/ 16739 h 1645560"/>
              <a:gd name="connsiteX1" fmla="*/ 2413591 w 2864344"/>
              <a:gd name="connsiteY1" fmla="*/ 27372 h 1645560"/>
              <a:gd name="connsiteX2" fmla="*/ 2828260 w 2864344"/>
              <a:gd name="connsiteY2" fmla="*/ 229392 h 1645560"/>
              <a:gd name="connsiteX3" fmla="*/ 2817628 w 2864344"/>
              <a:gd name="connsiteY3" fmla="*/ 1292646 h 1645560"/>
              <a:gd name="connsiteX4" fmla="*/ 2604977 w 2864344"/>
              <a:gd name="connsiteY4" fmla="*/ 1643521 h 1645560"/>
              <a:gd name="connsiteX5" fmla="*/ 2339162 w 2864344"/>
              <a:gd name="connsiteY5" fmla="*/ 1377707 h 1645560"/>
              <a:gd name="connsiteX6" fmla="*/ 2147777 w 2864344"/>
              <a:gd name="connsiteY6" fmla="*/ 303818 h 1645560"/>
              <a:gd name="connsiteX7" fmla="*/ 0 w 2864344"/>
              <a:gd name="connsiteY7" fmla="*/ 250656 h 1645560"/>
              <a:gd name="connsiteX0" fmla="*/ 10633 w 2875982"/>
              <a:gd name="connsiteY0" fmla="*/ 22170 h 1650991"/>
              <a:gd name="connsiteX1" fmla="*/ 2254102 w 2875982"/>
              <a:gd name="connsiteY1" fmla="*/ 22171 h 1650991"/>
              <a:gd name="connsiteX2" fmla="*/ 2828260 w 2875982"/>
              <a:gd name="connsiteY2" fmla="*/ 234823 h 1650991"/>
              <a:gd name="connsiteX3" fmla="*/ 2817628 w 2875982"/>
              <a:gd name="connsiteY3" fmla="*/ 1298077 h 1650991"/>
              <a:gd name="connsiteX4" fmla="*/ 2604977 w 2875982"/>
              <a:gd name="connsiteY4" fmla="*/ 1648952 h 1650991"/>
              <a:gd name="connsiteX5" fmla="*/ 2339162 w 2875982"/>
              <a:gd name="connsiteY5" fmla="*/ 1383138 h 1650991"/>
              <a:gd name="connsiteX6" fmla="*/ 2147777 w 2875982"/>
              <a:gd name="connsiteY6" fmla="*/ 309249 h 1650991"/>
              <a:gd name="connsiteX7" fmla="*/ 0 w 2875982"/>
              <a:gd name="connsiteY7" fmla="*/ 256087 h 1650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75982" h="1650991">
                <a:moveTo>
                  <a:pt x="10633" y="22170"/>
                </a:moveTo>
                <a:cubicBezTo>
                  <a:pt x="920603" y="-867"/>
                  <a:pt x="1784498" y="-13271"/>
                  <a:pt x="2254102" y="22171"/>
                </a:cubicBezTo>
                <a:cubicBezTo>
                  <a:pt x="2723707" y="57613"/>
                  <a:pt x="2734339" y="22172"/>
                  <a:pt x="2828260" y="234823"/>
                </a:cubicBezTo>
                <a:cubicBezTo>
                  <a:pt x="2922181" y="447474"/>
                  <a:pt x="2854842" y="1062389"/>
                  <a:pt x="2817628" y="1298077"/>
                </a:cubicBezTo>
                <a:cubicBezTo>
                  <a:pt x="2780414" y="1533765"/>
                  <a:pt x="2684721" y="1634775"/>
                  <a:pt x="2604977" y="1648952"/>
                </a:cubicBezTo>
                <a:cubicBezTo>
                  <a:pt x="2525233" y="1663129"/>
                  <a:pt x="2415362" y="1606422"/>
                  <a:pt x="2339162" y="1383138"/>
                </a:cubicBezTo>
                <a:cubicBezTo>
                  <a:pt x="2262962" y="1159854"/>
                  <a:pt x="2537637" y="497091"/>
                  <a:pt x="2147777" y="309249"/>
                </a:cubicBezTo>
                <a:cubicBezTo>
                  <a:pt x="1757917" y="121407"/>
                  <a:pt x="736305" y="258744"/>
                  <a:pt x="0" y="256087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7" name="직선 연결선 2056"/>
          <p:cNvCxnSpPr/>
          <p:nvPr/>
        </p:nvCxnSpPr>
        <p:spPr bwMode="auto">
          <a:xfrm>
            <a:off x="5390707" y="1435395"/>
            <a:ext cx="0" cy="471022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6676" y="1762203"/>
            <a:ext cx="5399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측정구간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_1 : 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부하발생기 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&lt;–&gt; Privacy(WAS) &lt;–&gt; 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연동서비스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(EMP / Developer / etc.)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목표 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TPS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 2</a:t>
            </a:r>
            <a:r>
              <a:rPr lang="en-US" altLang="ko-KR" sz="1000" u="sng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.66TPS </a:t>
            </a:r>
            <a:r>
              <a:rPr lang="ko-KR" altLang="en-US" sz="1000" u="sng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이상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(EMP Front WAS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의 성능기준과 동일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305" y="5031013"/>
            <a:ext cx="3698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측정구간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_2 : 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부하발생기 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&lt;–&gt; Privacy(WAS) &lt;–&gt; DB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서버</a:t>
            </a:r>
            <a:endParaRPr lang="en-US" altLang="ko-KR" sz="10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목표 응답시간 </a:t>
            </a:r>
            <a:r>
              <a:rPr lang="en-US" altLang="ko-KR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 0.7</a:t>
            </a:r>
            <a:r>
              <a:rPr lang="ko-KR" altLang="en-US" sz="10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</a:t>
            </a:r>
            <a:endParaRPr lang="en-US" altLang="ko-KR" sz="10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2" name="줄무늬가 있는 오른쪽 화살표 2061"/>
          <p:cNvSpPr/>
          <p:nvPr/>
        </p:nvSpPr>
        <p:spPr>
          <a:xfrm>
            <a:off x="5486399" y="1435395"/>
            <a:ext cx="561667" cy="329610"/>
          </a:xfrm>
          <a:prstGeom prst="stripedRightArrow">
            <a:avLst>
              <a:gd name="adj1" fmla="val 4403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줄무늬가 있는 오른쪽 화살표 92"/>
          <p:cNvSpPr/>
          <p:nvPr/>
        </p:nvSpPr>
        <p:spPr>
          <a:xfrm rot="10800000">
            <a:off x="4685786" y="1435395"/>
            <a:ext cx="561667" cy="329610"/>
          </a:xfrm>
          <a:prstGeom prst="stripedRightArrow">
            <a:avLst>
              <a:gd name="adj1" fmla="val 4403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6085599" y="1456660"/>
            <a:ext cx="107753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300" u="sng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유관 서비스</a:t>
            </a:r>
            <a:endParaRPr lang="en-US" altLang="ko-KR" sz="1300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3586981" y="1460203"/>
            <a:ext cx="1103507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" u="sng" dirty="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Privacy Site</a:t>
            </a:r>
            <a:endParaRPr lang="en-US" altLang="ko-KR" sz="1300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/>
          <p:cNvCxnSpPr/>
          <p:nvPr/>
        </p:nvCxnSpPr>
        <p:spPr bwMode="auto">
          <a:xfrm>
            <a:off x="1431141" y="2091193"/>
            <a:ext cx="130501" cy="690106"/>
          </a:xfrm>
          <a:prstGeom prst="straightConnector1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타원 16"/>
          <p:cNvSpPr/>
          <p:nvPr/>
        </p:nvSpPr>
        <p:spPr>
          <a:xfrm>
            <a:off x="1036182" y="2749305"/>
            <a:ext cx="856827" cy="200528"/>
          </a:xfrm>
          <a:prstGeom prst="ellipse">
            <a:avLst/>
          </a:prstGeom>
          <a:ln w="16510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0713" y="627259"/>
            <a:ext cx="1733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측정대상 기능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507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성능측정 대상 기능 및 업무비중은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Privacy Site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에서의 중요도 및 예상 사용 빈도 수를 고려하여 선정함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0" hangingPunct="0">
              <a:spcBef>
                <a:spcPts val="600"/>
              </a:spcBef>
            </a:pPr>
            <a:r>
              <a:rPr lang="en-US" altLang="ko-KR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업무비중은 </a:t>
            </a:r>
            <a:r>
              <a:rPr lang="en-US" altLang="ko-KR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19</a:t>
            </a:r>
            <a:r>
              <a:rPr lang="ko-KR" altLang="en-US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 고객 검토 완료</a:t>
            </a:r>
            <a:r>
              <a:rPr lang="en-US" altLang="ko-KR" sz="90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011710"/>
              </p:ext>
            </p:extLst>
          </p:nvPr>
        </p:nvGraphicFramePr>
        <p:xfrm>
          <a:off x="344489" y="1651789"/>
          <a:ext cx="9289030" cy="4358944"/>
        </p:xfrm>
        <a:graphic>
          <a:graphicData uri="http://schemas.openxmlformats.org/drawingml/2006/table">
            <a:tbl>
              <a:tblPr/>
              <a:tblGrid>
                <a:gridCol w="4354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34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148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243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2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87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2439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0213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5304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890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명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애플리케이션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호출비중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부하비율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목표성능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(TPS)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Privacy</a:t>
                      </a:r>
                      <a:r>
                        <a:rPr lang="en-US" altLang="ko-KR" sz="9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Site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[PrivacySite-xxxx-01]/login/sign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8.7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0.21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국가언어선택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4.6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회원정보수정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이용중인서비스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36.4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동의내역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12.0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0.32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구매정보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(MC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기기정보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6.8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(Air Drive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사용이력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6.9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(Developer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1:1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문의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4.2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DB Connection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51805">
                <a:tc gridSpan="4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총계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2.67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72480" y="6036046"/>
            <a:ext cx="9289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목표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응답시간 산출 기준 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: Privacy Site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내부 </a:t>
            </a:r>
            <a:r>
              <a:rPr lang="ko-KR" altLang="en-US" sz="1000" b="1" u="none" dirty="0" err="1" smtClean="0">
                <a:latin typeface="맑은 고딕" pitchFamily="50" charset="-127"/>
                <a:ea typeface="맑은 고딕" pitchFamily="50" charset="-127"/>
              </a:rPr>
              <a:t>로직의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 경우 목표응답 시간은 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0.7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초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임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타 서버와의 연동 시 목표응답시간은 별도로 산정하지 않고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TPS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로 대체함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목표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성능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(TPS)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산출 기준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Privacy Site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Was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대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기준의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적정성능인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1.33TPS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를 각 부하 비율로 나누어서 산출함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56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0713" y="627259"/>
            <a:ext cx="17289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4. TC(Test Case)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성능시험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‘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적정 성능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’, ‘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최대 성능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’, ‘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내구성 확인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의 세 가지 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Case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구분하여 진행함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30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225542"/>
              </p:ext>
            </p:extLst>
          </p:nvPr>
        </p:nvGraphicFramePr>
        <p:xfrm>
          <a:off x="344488" y="1378390"/>
          <a:ext cx="9217025" cy="4942129"/>
        </p:xfrm>
        <a:graphic>
          <a:graphicData uri="http://schemas.openxmlformats.org/drawingml/2006/table">
            <a:tbl>
              <a:tblPr firstRow="1" bandRow="1"/>
              <a:tblGrid>
                <a:gridCol w="8928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142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56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980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162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84367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시나리오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목적 및 방법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점검항목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종료조건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  고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86407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적정성능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-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Peak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부하 상황에서의 안정성 확보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병목발생 시 최적화 지원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테스트 방법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대상업무에 적정부하를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20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분간 지속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업무처리량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(TPS)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자원사용률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- CPU/Memory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Java Heap</a:t>
                      </a: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Memory 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GC(Garbage</a:t>
                      </a: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Collection)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자원사용률 평균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 : 50%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초과 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TC : TC0101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적정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86407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최대성능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-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과부하 상황에서의 안정성 확보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한계점 유발 요인의 확인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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개선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방안 도출 및 증설 시점 예상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테스트 방법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- Peak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부하의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100%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부하를 단계별 증가시킴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 -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각 단계별 부하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분 지속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 - Online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부하만을 대상으로 함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업무처리량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(TPS)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자원사용률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- CPU/Memory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Java Heap Memory 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GC(Garbage Collection) Pattern 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한계점원인이 자원부족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적정부하의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배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이상 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TC : TC0201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최대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84948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내구성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-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장시간 운영 시 안정성 확보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Java Heap Memory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누수 확인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테스트 방법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 목표부하의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70%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부하를 대상업무에 생성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  <a:p>
                      <a:pPr marL="180975" indent="-180975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   -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시간 지속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Wingdings" pitchFamily="2" charset="2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업무처리량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(TPS)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자원사용률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- CPU/Memory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Java Heap Memory 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GC(Garbage Collection) Pattern 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System Down, Hang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없음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171450" marR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TC : TC0301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내구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7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0713" y="627259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일정 및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R&amp;R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테스트는 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단계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설계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테스트 준비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평가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진행 되며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 단계 별 업무내역 및 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R&amp;R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은 다음과 같다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533060"/>
              </p:ext>
            </p:extLst>
          </p:nvPr>
        </p:nvGraphicFramePr>
        <p:xfrm>
          <a:off x="344489" y="1519951"/>
          <a:ext cx="9217024" cy="4544979"/>
        </p:xfrm>
        <a:graphic>
          <a:graphicData uri="http://schemas.openxmlformats.org/drawingml/2006/table">
            <a:tbl>
              <a:tblPr firstRow="1" bandRow="1"/>
              <a:tblGrid>
                <a:gridCol w="13488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670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670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670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464162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5369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일정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4/23(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)~5/4(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금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(2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5/7(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)~5/18(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금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(2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5/21(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)~5/25(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금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(1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10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5/28(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)~5/30(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수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(0.5</a:t>
                      </a:r>
                      <a:r>
                        <a:rPr lang="ko-KR" altLang="en-US" sz="1100" smtClean="0"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78497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테스트 팀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개발팀 포함</a:t>
                      </a:r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대상업무 선정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부하모델 수립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테스트시나리오 작성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1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nGrinder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설치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서버 연동 상태 확인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39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Script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작성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테스트 데이터 생성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테스트 수행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(5/24)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응용프로그램 최적화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결과 분석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개선방안 도출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개선 후 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차 테스트 수행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  (5/29)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73719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인프라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테스트 서버 구성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테스트 환경 구성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1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nGrinder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사용 지원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최적화 활동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- WAS/DB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모니터링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/>
                      </a:r>
                      <a:b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주요</a:t>
                      </a: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Parameter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endParaRPr lang="en-US" altLang="ko-KR" sz="11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- SQL Tuning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개선방안 도출</a:t>
                      </a:r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5369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산출물 </a:t>
                      </a:r>
                      <a:r>
                        <a:rPr lang="ko-KR" altLang="en-US" sz="1100" b="1" baseline="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공유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buFont typeface="Wingdings" pitchFamily="2" charset="2"/>
                        <a:buChar char="§"/>
                      </a:pPr>
                      <a:r>
                        <a:rPr lang="en-US" altLang="ko-KR" sz="11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계획서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>
                        <a:buFont typeface="Wingdings" pitchFamily="2" charset="2"/>
                        <a:buChar char="§"/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buFont typeface="Wingdings" pitchFamily="2" charset="2"/>
                        <a:buChar char="§"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성능테스트 결과서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l" defTabSz="914400" rtl="0" eaLnBrk="1" latinLnBrk="1" hangingPunct="1">
                        <a:buFont typeface="Wingdings" pitchFamily="2" charset="2"/>
                        <a:buChar char="§"/>
                      </a:pP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5369"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l" defTabSz="914400" rtl="0" eaLnBrk="1" latinLnBrk="1" hangingPunct="1">
                        <a:buFont typeface="Wingdings" pitchFamily="2" charset="2"/>
                        <a:buNone/>
                      </a:pP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buFont typeface="Wingdings" pitchFamily="2" charset="2"/>
                        <a:buChar char="§"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Source Freezing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>
                        <a:buFont typeface="Wingdings" pitchFamily="2" charset="2"/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1pPr>
                      <a:lvl2pPr marL="45697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2pPr>
                      <a:lvl3pPr marL="913957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3pPr>
                      <a:lvl4pPr marL="137093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4pPr>
                      <a:lvl5pPr marL="1827912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5pPr>
                      <a:lvl6pPr marL="2284889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6pPr>
                      <a:lvl7pPr marL="2741866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7pPr>
                      <a:lvl8pPr marL="3198844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8pPr>
                      <a:lvl9pPr marL="3655820" algn="l" defTabSz="913957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</a:defRPr>
                      </a:lvl9pPr>
                    </a:lstStyle>
                    <a:p>
                      <a:pPr marL="0" algn="l" defTabSz="914400" rtl="0" eaLnBrk="1" latinLnBrk="1" hangingPunct="1">
                        <a:buFont typeface="Wingdings" pitchFamily="2" charset="2"/>
                      </a:pP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모서리가 둥근 직사각형 5"/>
          <p:cNvSpPr/>
          <p:nvPr/>
        </p:nvSpPr>
        <p:spPr bwMode="auto">
          <a:xfrm>
            <a:off x="2144688" y="2024006"/>
            <a:ext cx="1114660" cy="432048"/>
          </a:xfrm>
          <a:prstGeom prst="roundRect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kumimoji="0" lang="en-US" altLang="ko-KR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 </a:t>
            </a:r>
            <a:r>
              <a:rPr kumimoji="0" lang="ko-KR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설계</a:t>
            </a: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4087735" y="2024006"/>
            <a:ext cx="1114660" cy="432048"/>
          </a:xfrm>
          <a:prstGeom prst="roundRect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테스트 준비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6033120" y="2024006"/>
            <a:ext cx="1114660" cy="432048"/>
          </a:xfrm>
          <a:prstGeom prst="roundRect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수행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8014804" y="2024006"/>
            <a:ext cx="1114660" cy="432048"/>
          </a:xfrm>
          <a:prstGeom prst="roundRect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평가 및 개선</a:t>
            </a:r>
          </a:p>
        </p:txBody>
      </p:sp>
      <p:sp>
        <p:nvSpPr>
          <p:cNvPr id="10" name="오른쪽 화살표 9"/>
          <p:cNvSpPr/>
          <p:nvPr/>
        </p:nvSpPr>
        <p:spPr bwMode="auto">
          <a:xfrm>
            <a:off x="3512840" y="2062643"/>
            <a:ext cx="278665" cy="360040"/>
          </a:xfrm>
          <a:prstGeom prst="rightArrow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endParaRPr kumimoji="0" lang="ko-KR" altLang="en-US" sz="1100" b="0" i="0" u="sng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오른쪽 화살표 10"/>
          <p:cNvSpPr/>
          <p:nvPr/>
        </p:nvSpPr>
        <p:spPr bwMode="auto">
          <a:xfrm>
            <a:off x="5494524" y="2096014"/>
            <a:ext cx="278665" cy="360040"/>
          </a:xfrm>
          <a:prstGeom prst="rightArrow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endParaRPr kumimoji="0" lang="ko-KR" altLang="en-US" sz="1100" b="0" i="0" u="sng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오른쪽 화살표 11"/>
          <p:cNvSpPr/>
          <p:nvPr/>
        </p:nvSpPr>
        <p:spPr bwMode="auto">
          <a:xfrm>
            <a:off x="7438740" y="2096014"/>
            <a:ext cx="278665" cy="360040"/>
          </a:xfrm>
          <a:prstGeom prst="rightArrow">
            <a:avLst/>
          </a:prstGeom>
          <a:solidFill>
            <a:srgbClr val="FFFFFF">
              <a:lumMod val="7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54013" marR="0" lvl="0" indent="-354013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itchFamily="2" charset="2"/>
              <a:buNone/>
              <a:tabLst/>
              <a:defRPr/>
            </a:pPr>
            <a:endParaRPr kumimoji="0" lang="ko-KR" altLang="en-US" sz="1100" b="0" i="0" u="sng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08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583745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342900" indent="-342900" eaLnBrk="0" fontAlgn="ctr" latinLnBrk="0" hangingPunct="0">
              <a:lnSpc>
                <a:spcPct val="130000"/>
              </a:lnSpc>
              <a:buFont typeface="+mj-lt"/>
              <a:buAutoNum type="arabicPeriod" startAt="6"/>
            </a:pP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성능시험 결과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종합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592244"/>
              </p:ext>
            </p:extLst>
          </p:nvPr>
        </p:nvGraphicFramePr>
        <p:xfrm>
          <a:off x="344488" y="1552656"/>
          <a:ext cx="9289032" cy="225499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164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58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20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765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13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en-US" altLang="ko-KR" sz="1000" b="1" i="0" u="none" strike="noStrike" dirty="0" smtClean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케이스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점검 항목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요약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44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TC0101_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업무처리량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응답시간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‘3.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측정대상 기능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자원사용률 평균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목표부하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(2.67TPS)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대비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4.64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배인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12.4TPS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(Peak TPS : 28.33)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47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TC2_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최대성능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TC0201_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한계점 원인이 자원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적정부하의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 이상 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(12.4TPS)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거의 유사한 수준의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12.8TPS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(Peak TPS : 31)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4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TC3_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내구성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TC0301_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내구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 Down,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Hang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Hang : </a:t>
                      </a:r>
                      <a:r>
                        <a:rPr lang="ko-KR" alt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기준의 부하 상태에서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수행 결과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Hang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현상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없음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Memory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Leak. : </a:t>
                      </a:r>
                      <a:r>
                        <a:rPr lang="ko-KR" altLang="en-US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기준의 부하 상태에서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수행 결과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Leak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endParaRPr lang="en-US" altLang="ko-KR" sz="900" b="0" i="0" u="none" strike="noStrike" baseline="0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WAS_CPU :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5.1%(Max. 49.7%) /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WAS_Memory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80.7%(Max. 93%)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Server Resource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사용률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CPU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내외로 </a:t>
                      </a:r>
                      <a:r>
                        <a:rPr lang="ko-KR" altLang="en-US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안정적임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GC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패턴 분석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Full GC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발생으로 정상 동작 확인함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72480" y="1007628"/>
            <a:ext cx="9361040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테스트는 총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2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회 실시 하였으며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테스트 결과 적정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최대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내구성 항목에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대해서 요구사항을 만족하였음</a:t>
            </a:r>
            <a:r>
              <a:rPr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43602" y="1275443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kumimoji="1" lang="ko-KR" altLang="en-US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1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차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성능테스트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결과</a:t>
            </a:r>
            <a:endParaRPr kumimoji="1" lang="ko-KR" altLang="en-US" sz="12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14997"/>
              </p:ext>
            </p:extLst>
          </p:nvPr>
        </p:nvGraphicFramePr>
        <p:xfrm>
          <a:off x="349521" y="4153790"/>
          <a:ext cx="9289032" cy="2389940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114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58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71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765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6448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en-US" altLang="ko-KR" sz="1000" b="1" i="0" u="none" strike="noStrike" dirty="0" smtClean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케이스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점검 항목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요약</a:t>
                      </a:r>
                      <a:endParaRPr lang="ko-KR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3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58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TC0101_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업무처리량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응답시간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‘3.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측정대상 기능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자원사용률 평균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목표부하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(2.67TPS)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대비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4.04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배인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10.8TPS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(Peak TPS : 14):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495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TC2_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최대성능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TC0201_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한계점 원인이 자원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적정부하의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 이상 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 대비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향상된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12.2TPS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(Peak TPS : 27.67)</a:t>
                      </a:r>
                    </a:p>
                    <a:p>
                      <a:pPr marL="0" marR="0" lvl="0" indent="0" algn="l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 err="1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연동기능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중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‘, ‘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회원정보 수정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응답속도 느리나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EMP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시</a:t>
                      </a:r>
                      <a:endParaRPr lang="en-US" altLang="ko-KR" sz="900" b="0" i="0" u="none" strike="noStrike" baseline="0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지연이 원인으로 판단됨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900" b="0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83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TC3_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내구성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TC0301_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내구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_PRIVACY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 Down,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Hang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Hang : </a:t>
                      </a:r>
                      <a:r>
                        <a:rPr lang="ko-KR" alt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기준의 부하 상태에서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수행 결과 </a:t>
                      </a:r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Hang </a:t>
                      </a:r>
                      <a:r>
                        <a:rPr lang="ko-KR" alt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현상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없음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Memory Leak : </a:t>
                      </a:r>
                      <a:r>
                        <a:rPr lang="ko-KR" altLang="en-US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적정성능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기준의 부하 상태에서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수행 결과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Leak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endParaRPr lang="en-US" altLang="ko-KR" sz="900" b="0" i="0" u="none" strike="noStrike" baseline="0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WAS_CPU :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3.5%(Max. 12.1%) /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WAS_Memory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24.1%(Max. 63%)</a:t>
                      </a: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Server Resource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사용률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CPU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내외로 </a:t>
                      </a:r>
                      <a:r>
                        <a:rPr lang="ko-KR" altLang="en-US" sz="9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안정적임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rtl="0" fontAlgn="ctr">
                        <a:buFont typeface="Wingdings" pitchFamily="2" charset="2"/>
                        <a:buChar char="§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GC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패턴 분석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Full GC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 발생으로 정상 동작 확인함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48634" y="3850699"/>
            <a:ext cx="3745395" cy="312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kumimoji="1" lang="ko-KR" altLang="en-US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2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차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성능테스트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결과 </a:t>
            </a:r>
            <a:r>
              <a:rPr kumimoji="1" lang="en-US" altLang="ko-KR" sz="12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– </a:t>
            </a:r>
            <a:r>
              <a:rPr kumimoji="1" lang="ko-KR" altLang="en-US" sz="1100" b="1" u="none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상세내역 </a:t>
            </a:r>
            <a:r>
              <a:rPr kumimoji="1" lang="en-US" altLang="ko-KR" sz="1100" b="1" u="none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‘</a:t>
            </a:r>
            <a:r>
              <a:rPr lang="en-US" altLang="ko-KR" sz="11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lang="ko-KR" altLang="en-US" sz="11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별첨</a:t>
            </a:r>
            <a:r>
              <a:rPr lang="en-US" altLang="ko-KR" sz="11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)’ </a:t>
            </a:r>
            <a:r>
              <a:rPr lang="ko-KR" altLang="en-US" sz="11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참조</a:t>
            </a:r>
            <a:endParaRPr kumimoji="1" lang="ko-KR" altLang="en-US" sz="1100" b="1" u="none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99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 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적정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(1/3)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272480" y="919337"/>
            <a:ext cx="9361040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20000"/>
              </a:lnSpc>
              <a:buSzPct val="120000"/>
              <a:buFont typeface="Wingdings" pitchFamily="2" charset="2"/>
              <a:buNone/>
            </a:pPr>
            <a:r>
              <a:rPr lang="ko-KR" altLang="en-US" sz="1300" b="1" u="none" dirty="0" smtClean="0">
                <a:latin typeface="맑은 고딕" pitchFamily="50" charset="-127"/>
                <a:ea typeface="맑은 고딕" pitchFamily="50" charset="-127"/>
              </a:rPr>
              <a:t>적정성능 기준 부하 시 시스템의 안정성 및 업무별 성능만족 여부 확인</a:t>
            </a:r>
            <a:r>
              <a:rPr lang="en-US" altLang="ko-KR" sz="1300" b="1" u="none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300" b="1" u="none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9530" y="6325724"/>
            <a:ext cx="6072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en-US" altLang="ko-KR" sz="1000" b="1" u="none" dirty="0" err="1" smtClean="0">
                <a:latin typeface="맑은 고딕" pitchFamily="50" charset="-127"/>
                <a:ea typeface="맑은 고딕" pitchFamily="50" charset="-127"/>
              </a:rPr>
              <a:t>VUser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수는 테스트환경에 따라 변경될 수 있음</a:t>
            </a:r>
            <a:endParaRPr lang="ko-KR" altLang="en-US" sz="1000" b="1" u="none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45232"/>
              </p:ext>
            </p:extLst>
          </p:nvPr>
        </p:nvGraphicFramePr>
        <p:xfrm>
          <a:off x="5313040" y="1764646"/>
          <a:ext cx="4248473" cy="45610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93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891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목적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점검사항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적정부하 상황에서 성능목표 만족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여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 확인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99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수행절차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자동화 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Script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준비</a:t>
                      </a:r>
                      <a:endParaRPr lang="en-US" altLang="ko-KR" sz="1000" b="0" u="none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적정부하 생성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/>
                      </a:r>
                      <a:b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Cache, Ramp-up 1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1User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씩 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5User</a:t>
                      </a:r>
                      <a:r>
                        <a:rPr lang="ko-KR" altLang="en-US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까지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증가</a:t>
                      </a:r>
                      <a:endParaRPr lang="en-US" altLang="ko-KR" sz="1000" b="0" u="none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부하 상황을 </a:t>
                      </a: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분 유지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lang="ko-KR" altLang="en-US" sz="1000" b="0" u="none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부하를 끊고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측정 결과 정리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5.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성능목표 달성 여</a:t>
                      </a: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부 확인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6.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목표 미달 시 성능개선활동 후 재 수행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38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측정지표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종료조건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업무처리량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2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.67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TPS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이상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이하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자체 처리 기능만 해당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서버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CPU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사용률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평균 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50%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이하</a:t>
                      </a:r>
                      <a:endParaRPr lang="en-US" altLang="ko-KR" sz="10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케이스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TC0101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적정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251520" y="1357172"/>
            <a:ext cx="4176464" cy="31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개념도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구성도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endParaRPr lang="ko-KR" altLang="en-US" sz="1200" b="1" u="none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13041" y="1357172"/>
            <a:ext cx="4176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시나리오</a:t>
            </a:r>
            <a:endParaRPr lang="ko-KR" altLang="en-US" sz="1200" u="none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043642" y="2787844"/>
            <a:ext cx="1071563" cy="38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Controller</a:t>
            </a:r>
          </a:p>
        </p:txBody>
      </p:sp>
      <p:cxnSp>
        <p:nvCxnSpPr>
          <p:cNvPr id="12" name="구부러진 연결선 175"/>
          <p:cNvCxnSpPr>
            <a:cxnSpLocks noChangeShapeType="1"/>
            <a:stCxn id="24" idx="3"/>
            <a:endCxn id="25" idx="1"/>
          </p:cNvCxnSpPr>
          <p:nvPr/>
        </p:nvCxnSpPr>
        <p:spPr bwMode="auto">
          <a:xfrm flipV="1">
            <a:off x="1907285" y="2335177"/>
            <a:ext cx="712582" cy="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13" name="구부러진 연결선 176"/>
          <p:cNvCxnSpPr>
            <a:cxnSpLocks noChangeShapeType="1"/>
            <a:stCxn id="22" idx="0"/>
            <a:endCxn id="25" idx="2"/>
          </p:cNvCxnSpPr>
          <p:nvPr/>
        </p:nvCxnSpPr>
        <p:spPr bwMode="auto">
          <a:xfrm rot="5400000" flipH="1" flipV="1">
            <a:off x="2625943" y="2853381"/>
            <a:ext cx="443556" cy="1435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4" name="그룹 13"/>
          <p:cNvGrpSpPr/>
          <p:nvPr/>
        </p:nvGrpSpPr>
        <p:grpSpPr>
          <a:xfrm>
            <a:off x="2021377" y="4111879"/>
            <a:ext cx="1094255" cy="653737"/>
            <a:chOff x="-779906" y="2780928"/>
            <a:chExt cx="1094255" cy="653737"/>
          </a:xfrm>
        </p:grpSpPr>
        <p:pic>
          <p:nvPicPr>
            <p:cNvPr id="15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0432" y="2780928"/>
              <a:ext cx="544781" cy="65373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779906" y="298468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WAS</a:t>
              </a:r>
              <a:endParaRPr lang="ko-KR" altLang="en-US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7" name="구부러진 연결선 176"/>
          <p:cNvCxnSpPr>
            <a:cxnSpLocks noChangeShapeType="1"/>
            <a:stCxn id="22" idx="2"/>
            <a:endCxn id="15" idx="0"/>
          </p:cNvCxnSpPr>
          <p:nvPr/>
        </p:nvCxnSpPr>
        <p:spPr bwMode="auto">
          <a:xfrm rot="5400000">
            <a:off x="2609601" y="3874475"/>
            <a:ext cx="471045" cy="376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8" name="그룹 17"/>
          <p:cNvGrpSpPr/>
          <p:nvPr/>
        </p:nvGrpSpPr>
        <p:grpSpPr>
          <a:xfrm>
            <a:off x="1907432" y="5209301"/>
            <a:ext cx="1198184" cy="602829"/>
            <a:chOff x="1717632" y="5445224"/>
            <a:chExt cx="1198184" cy="602829"/>
          </a:xfrm>
        </p:grpSpPr>
        <p:sp>
          <p:nvSpPr>
            <p:cNvPr id="19" name="TextBox 18"/>
            <p:cNvSpPr txBox="1"/>
            <p:nvPr/>
          </p:nvSpPr>
          <p:spPr>
            <a:xfrm>
              <a:off x="1717632" y="5544400"/>
              <a:ext cx="7072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DB</a:t>
              </a:r>
            </a:p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(MySQL)</a:t>
              </a:r>
            </a:p>
          </p:txBody>
        </p:sp>
        <p:pic>
          <p:nvPicPr>
            <p:cNvPr id="20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450" y="5445224"/>
              <a:ext cx="521366" cy="602829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/>
        </p:nvGrpSpPr>
        <p:grpSpPr>
          <a:xfrm>
            <a:off x="2051020" y="3075876"/>
            <a:ext cx="1067803" cy="564958"/>
            <a:chOff x="2051020" y="3514026"/>
            <a:chExt cx="1067803" cy="564958"/>
          </a:xfrm>
        </p:grpSpPr>
        <p:pic>
          <p:nvPicPr>
            <p:cNvPr id="22" name="Picture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5184" y="3514026"/>
              <a:ext cx="543639" cy="56495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051020" y="367339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ALB</a:t>
              </a:r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59666" y="1923749"/>
            <a:ext cx="647619" cy="8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19867" y="2038034"/>
            <a:ext cx="457143" cy="59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987858" y="2237907"/>
            <a:ext cx="936104" cy="38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u="sng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Agent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구부러진 연결선 176"/>
          <p:cNvCxnSpPr>
            <a:cxnSpLocks noChangeShapeType="1"/>
            <a:stCxn id="20" idx="0"/>
            <a:endCxn id="15" idx="2"/>
          </p:cNvCxnSpPr>
          <p:nvPr/>
        </p:nvCxnSpPr>
        <p:spPr bwMode="auto">
          <a:xfrm rot="16200000" flipV="1">
            <a:off x="2622246" y="4986613"/>
            <a:ext cx="443685" cy="169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6060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적정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(2/3)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67178"/>
              </p:ext>
            </p:extLst>
          </p:nvPr>
        </p:nvGraphicFramePr>
        <p:xfrm>
          <a:off x="344489" y="1582633"/>
          <a:ext cx="9235444" cy="4358945"/>
        </p:xfrm>
        <a:graphic>
          <a:graphicData uri="http://schemas.openxmlformats.org/drawingml/2006/table">
            <a:tbl>
              <a:tblPr/>
              <a:tblGrid>
                <a:gridCol w="3663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7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8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39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67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213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786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2503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569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4454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명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애플리케이션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부하율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성능목표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측정결과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5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Privacy</a:t>
                      </a:r>
                      <a:r>
                        <a:rPr lang="en-US" altLang="ko-KR" sz="9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Site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[PrivacySite-xxxx-01]/login/sign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</a:rPr>
                        <a:t>0.21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국가언어선택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0.82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0.0038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회원정보수정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0.96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0.147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이용중인서비스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3.88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동의내역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0.026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구매정보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(MC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기기정보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0.167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(Air Drive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사용이력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(Developer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0.0037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1:1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문의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0.82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0.103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DB Connection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51805">
                <a:tc gridSpan="4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총계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2.67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12.61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</a:tbl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0472" y="1067495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kumimoji="1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응답시간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en-US" altLang="ko-KR" sz="1400" b="1" u="none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ms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및 처리량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(TPS)</a:t>
            </a:r>
            <a:endParaRPr kumimoji="1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25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적정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(3/3)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66" y="1365709"/>
            <a:ext cx="4392270" cy="49330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510" y="1365709"/>
            <a:ext cx="4468336" cy="4933017"/>
          </a:xfrm>
          <a:prstGeom prst="rect">
            <a:avLst/>
          </a:prstGeom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81707" y="913590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en-US" altLang="ko-KR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nGrinder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결과 화면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평균 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10.8</a:t>
            </a:r>
            <a:r>
              <a:rPr kumimoji="1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TPS / Peak 14 TPS)  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31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 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최대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(1/3)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272480" y="876805"/>
            <a:ext cx="9361040" cy="30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20000"/>
              </a:lnSpc>
              <a:buSzPct val="120000"/>
              <a:buFont typeface="Wingdings" pitchFamily="2" charset="2"/>
              <a:buNone/>
            </a:pPr>
            <a:r>
              <a:rPr lang="en-US" altLang="ko-KR" sz="1300" b="1" u="none" dirty="0" smtClean="0">
                <a:latin typeface="맑은 고딕" pitchFamily="50" charset="-127"/>
                <a:ea typeface="맑은 고딕" pitchFamily="50" charset="-127"/>
              </a:rPr>
              <a:t>Peak</a:t>
            </a:r>
            <a:r>
              <a:rPr lang="ko-KR" altLang="en-US" sz="1300" b="1" u="none" dirty="0" smtClean="0">
                <a:latin typeface="맑은 고딕" pitchFamily="50" charset="-127"/>
                <a:ea typeface="맑은 고딕" pitchFamily="50" charset="-127"/>
              </a:rPr>
              <a:t>부하 시 시스템의 안정성 및 업무별 성능만족 여부 확인</a:t>
            </a:r>
            <a:r>
              <a:rPr lang="en-US" altLang="ko-KR" sz="1300" b="1" u="none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300" b="1" u="none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9530" y="6325724"/>
            <a:ext cx="6072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en-US" altLang="ko-KR" sz="1000" b="1" u="none" dirty="0" err="1" smtClean="0">
                <a:latin typeface="맑은 고딕" pitchFamily="50" charset="-127"/>
                <a:ea typeface="맑은 고딕" pitchFamily="50" charset="-127"/>
              </a:rPr>
              <a:t>VUser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수는 테스트환경에 따라 변경될 수 있음</a:t>
            </a:r>
            <a:endParaRPr lang="ko-KR" altLang="en-US" sz="1000" b="1" u="none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83867"/>
              </p:ext>
            </p:extLst>
          </p:nvPr>
        </p:nvGraphicFramePr>
        <p:xfrm>
          <a:off x="5313040" y="1764646"/>
          <a:ext cx="4248473" cy="45610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93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891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목적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점검사항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한계부하 상황에서 성능목표 만족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여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 확인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99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수행절차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자동화 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Script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준비</a:t>
                      </a:r>
                      <a:endParaRPr lang="en-US" altLang="ko-KR" sz="1000" b="0" u="none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한계부하 생성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/>
                      </a:r>
                      <a:b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Cache, Ramp-up 1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5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User</a:t>
                      </a:r>
                      <a:r>
                        <a:rPr lang="ko-KR" altLang="en-US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씩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100User</a:t>
                      </a:r>
                      <a:r>
                        <a:rPr lang="ko-KR" altLang="en-US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까지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증가</a:t>
                      </a:r>
                      <a:endParaRPr lang="en-US" altLang="ko-KR" sz="1000" b="0" u="none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부하 상황을 </a:t>
                      </a: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분 유지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lang="ko-KR" altLang="en-US" sz="1000" b="0" u="none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부하를 끊고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측정 결과 정리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5.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성능목표 달성 여</a:t>
                      </a: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부 확인</a:t>
                      </a:r>
                      <a:endParaRPr lang="en-US" altLang="ko-KR" sz="1000" b="0" u="none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6.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목표 미달 시 성능개선활동 후 재 수행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38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측정지표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종료조건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시스템 한계점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(Saturation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Point 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도달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한계점 유발 원인이 자원부족일 경우 테스트 종료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케이스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TC0201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한계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251520" y="1357172"/>
            <a:ext cx="4176464" cy="31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개념도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구성도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endParaRPr lang="ko-KR" altLang="en-US" sz="1200" b="1" u="none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13041" y="1357172"/>
            <a:ext cx="4176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시나리오</a:t>
            </a:r>
            <a:endParaRPr lang="ko-KR" altLang="en-US" sz="1200" u="none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043642" y="2787844"/>
            <a:ext cx="1071563" cy="38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Controller</a:t>
            </a:r>
          </a:p>
        </p:txBody>
      </p:sp>
      <p:cxnSp>
        <p:nvCxnSpPr>
          <p:cNvPr id="12" name="구부러진 연결선 175"/>
          <p:cNvCxnSpPr>
            <a:cxnSpLocks noChangeShapeType="1"/>
            <a:stCxn id="24" idx="3"/>
            <a:endCxn id="25" idx="1"/>
          </p:cNvCxnSpPr>
          <p:nvPr/>
        </p:nvCxnSpPr>
        <p:spPr bwMode="auto">
          <a:xfrm flipV="1">
            <a:off x="1907285" y="2335177"/>
            <a:ext cx="712582" cy="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13" name="구부러진 연결선 176"/>
          <p:cNvCxnSpPr>
            <a:cxnSpLocks noChangeShapeType="1"/>
            <a:stCxn id="22" idx="0"/>
            <a:endCxn id="25" idx="2"/>
          </p:cNvCxnSpPr>
          <p:nvPr/>
        </p:nvCxnSpPr>
        <p:spPr bwMode="auto">
          <a:xfrm rot="5400000" flipH="1" flipV="1">
            <a:off x="2625943" y="2853381"/>
            <a:ext cx="443556" cy="1435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4" name="그룹 13"/>
          <p:cNvGrpSpPr/>
          <p:nvPr/>
        </p:nvGrpSpPr>
        <p:grpSpPr>
          <a:xfrm>
            <a:off x="2021377" y="4111879"/>
            <a:ext cx="1094255" cy="653737"/>
            <a:chOff x="-779906" y="2780928"/>
            <a:chExt cx="1094255" cy="653737"/>
          </a:xfrm>
        </p:grpSpPr>
        <p:pic>
          <p:nvPicPr>
            <p:cNvPr id="15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0432" y="2780928"/>
              <a:ext cx="544781" cy="65373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779906" y="298468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WAS</a:t>
              </a:r>
              <a:endParaRPr lang="ko-KR" altLang="en-US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7" name="구부러진 연결선 176"/>
          <p:cNvCxnSpPr>
            <a:cxnSpLocks noChangeShapeType="1"/>
            <a:stCxn id="22" idx="2"/>
            <a:endCxn id="15" idx="0"/>
          </p:cNvCxnSpPr>
          <p:nvPr/>
        </p:nvCxnSpPr>
        <p:spPr bwMode="auto">
          <a:xfrm rot="5400000">
            <a:off x="2609601" y="3874475"/>
            <a:ext cx="471045" cy="376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8" name="그룹 17"/>
          <p:cNvGrpSpPr/>
          <p:nvPr/>
        </p:nvGrpSpPr>
        <p:grpSpPr>
          <a:xfrm>
            <a:off x="1907432" y="5209301"/>
            <a:ext cx="1198184" cy="602829"/>
            <a:chOff x="1717632" y="5445224"/>
            <a:chExt cx="1198184" cy="602829"/>
          </a:xfrm>
        </p:grpSpPr>
        <p:sp>
          <p:nvSpPr>
            <p:cNvPr id="19" name="TextBox 18"/>
            <p:cNvSpPr txBox="1"/>
            <p:nvPr/>
          </p:nvSpPr>
          <p:spPr>
            <a:xfrm>
              <a:off x="1717632" y="5544400"/>
              <a:ext cx="7072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DB</a:t>
              </a:r>
            </a:p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(MySQL)</a:t>
              </a:r>
            </a:p>
          </p:txBody>
        </p:sp>
        <p:pic>
          <p:nvPicPr>
            <p:cNvPr id="20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450" y="5445224"/>
              <a:ext cx="521366" cy="602829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/>
        </p:nvGrpSpPr>
        <p:grpSpPr>
          <a:xfrm>
            <a:off x="2051020" y="3075876"/>
            <a:ext cx="1067803" cy="564958"/>
            <a:chOff x="2051020" y="3514026"/>
            <a:chExt cx="1067803" cy="564958"/>
          </a:xfrm>
        </p:grpSpPr>
        <p:pic>
          <p:nvPicPr>
            <p:cNvPr id="22" name="Picture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5184" y="3514026"/>
              <a:ext cx="543639" cy="56495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051020" y="367339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ALB</a:t>
              </a:r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59666" y="1923749"/>
            <a:ext cx="647619" cy="8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19867" y="2038034"/>
            <a:ext cx="457143" cy="59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987858" y="2237907"/>
            <a:ext cx="936104" cy="38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u="sng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Agent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구부러진 연결선 176"/>
          <p:cNvCxnSpPr>
            <a:cxnSpLocks noChangeShapeType="1"/>
            <a:stCxn id="20" idx="0"/>
            <a:endCxn id="15" idx="2"/>
          </p:cNvCxnSpPr>
          <p:nvPr/>
        </p:nvCxnSpPr>
        <p:spPr bwMode="auto">
          <a:xfrm rot="16200000" flipV="1">
            <a:off x="2622246" y="4986613"/>
            <a:ext cx="443685" cy="169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1294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최대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(2/3)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48906"/>
              </p:ext>
            </p:extLst>
          </p:nvPr>
        </p:nvGraphicFramePr>
        <p:xfrm>
          <a:off x="344489" y="1582633"/>
          <a:ext cx="9235444" cy="4358945"/>
        </p:xfrm>
        <a:graphic>
          <a:graphicData uri="http://schemas.openxmlformats.org/drawingml/2006/table">
            <a:tbl>
              <a:tblPr/>
              <a:tblGrid>
                <a:gridCol w="3663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7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8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39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67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213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786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2503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569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4454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명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애플리케이션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부하율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성능목표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측정결과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5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Privacy</a:t>
                      </a:r>
                      <a:r>
                        <a:rPr lang="en-US" altLang="ko-KR" sz="9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Site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endParaRPr lang="en-US" sz="900" b="1" i="0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sng" strike="noStrike" kern="1200" dirty="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1" i="0" u="sng" strike="noStrike" kern="1200" dirty="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1" i="0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sng" strike="noStrike" dirty="0" smtClean="0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0.21</a:t>
                      </a:r>
                      <a:endParaRPr lang="en-US" altLang="ko-KR" sz="800" b="1" i="0" u="sng" strike="noStrike" dirty="0">
                        <a:solidFill>
                          <a:srgbClr val="FF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1" i="0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2.29</a:t>
                      </a:r>
                      <a:endParaRPr lang="en-US" altLang="ko-KR" sz="800" b="1" i="0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0.723</a:t>
                      </a:r>
                      <a:endParaRPr lang="en-US" altLang="ko-KR" sz="800" b="1" i="0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1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1" i="1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1" i="1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국가언어선택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1" u="sng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회원정보수정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1" u="sng" strike="noStrike" kern="1200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1" u="sng" strike="noStrike" kern="1200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1" u="sng" strike="noStrike" dirty="0" smtClean="0">
                          <a:solidFill>
                            <a:srgbClr val="FF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1" u="sng" strike="noStrike" dirty="0">
                        <a:solidFill>
                          <a:srgbClr val="FF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1" u="sng" strike="noStrike" dirty="0" smtClean="0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1" u="sng" strike="noStrike" dirty="0">
                        <a:solidFill>
                          <a:srgbClr val="FF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1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1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1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2.30</a:t>
                      </a:r>
                      <a:endParaRPr lang="en-US" altLang="ko-KR" sz="800" b="0" i="1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1" u="sng" strike="noStrike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1.058</a:t>
                      </a:r>
                      <a:endParaRPr lang="en-US" altLang="ko-KR" sz="800" b="0" i="1" u="sng" strike="noStrike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3957" rtl="0" eaLnBrk="1" fontAlgn="ctr" latinLnBrk="1" hangingPunct="1"/>
                      <a:r>
                        <a:rPr lang="en-US" altLang="ko-KR" sz="800" b="1" i="1" u="sng" strike="noStrike" kern="1200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EMP </a:t>
                      </a:r>
                      <a:r>
                        <a:rPr lang="ko-KR" altLang="en-US" sz="800" b="1" i="1" u="sng" strike="noStrike" kern="1200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연동</a:t>
                      </a:r>
                      <a:endParaRPr lang="ko-KR" altLang="en-US" sz="800" b="1" i="1" u="sng" strike="noStrike" kern="12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이용중인서비스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4.94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동의내역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구매정보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2.23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0.392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(MC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기기정보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2,09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0.831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(Air Drive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사용이력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0.433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(Developer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2.14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0.0015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1:1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문의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2.25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0.350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DB Connection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51805">
                <a:tc gridSpan="4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총계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2.67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22.84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</a:tbl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0472" y="1067495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kumimoji="1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응답시간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en-US" altLang="ko-KR" sz="1400" b="1" u="none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ms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및 처리량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(TPS)</a:t>
            </a:r>
            <a:endParaRPr kumimoji="1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8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81707" y="913590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en-US" altLang="ko-KR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nGrinder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결과 화면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평균 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12.2</a:t>
            </a:r>
            <a:r>
              <a:rPr kumimoji="1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TPS / Peak 27.67 TPS)  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최대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(3/3)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58" y="1365709"/>
            <a:ext cx="4466410" cy="493301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327" y="1365708"/>
            <a:ext cx="4239614" cy="493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5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 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내구성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(1/7)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272480" y="876805"/>
            <a:ext cx="9361040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20000"/>
              </a:lnSpc>
              <a:buSzPct val="120000"/>
              <a:buFont typeface="Wingdings" pitchFamily="2" charset="2"/>
              <a:buNone/>
            </a:pPr>
            <a:r>
              <a:rPr lang="ko-KR" altLang="en-US" sz="1300" b="1" u="none" dirty="0" smtClean="0">
                <a:latin typeface="맑은 고딕" pitchFamily="50" charset="-127"/>
                <a:ea typeface="맑은 고딕" pitchFamily="50" charset="-127"/>
              </a:rPr>
              <a:t>적정성능 기준 부하에서의 시스템의 안정성 확인</a:t>
            </a:r>
            <a:r>
              <a:rPr lang="en-US" altLang="ko-KR" sz="1300" b="1" u="none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300" b="1" u="none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9530" y="6325724"/>
            <a:ext cx="6072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en-US" altLang="ko-KR" sz="1000" b="1" u="none" dirty="0" err="1" smtClean="0">
                <a:latin typeface="맑은 고딕" pitchFamily="50" charset="-127"/>
                <a:ea typeface="맑은 고딕" pitchFamily="50" charset="-127"/>
              </a:rPr>
              <a:t>VUser</a:t>
            </a:r>
            <a:r>
              <a:rPr lang="en-US" altLang="ko-KR" sz="1000" b="1" u="none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u="none" dirty="0" smtClean="0">
                <a:latin typeface="맑은 고딕" pitchFamily="50" charset="-127"/>
                <a:ea typeface="맑은 고딕" pitchFamily="50" charset="-127"/>
              </a:rPr>
              <a:t>수는 테스트환경에 따라 변경될 수 있음</a:t>
            </a:r>
            <a:endParaRPr lang="ko-KR" altLang="en-US" sz="1000" b="1" u="none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019331"/>
              </p:ext>
            </p:extLst>
          </p:nvPr>
        </p:nvGraphicFramePr>
        <p:xfrm>
          <a:off x="5313040" y="1764646"/>
          <a:ext cx="4248473" cy="45610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93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891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7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목적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점검사항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적정성능 기준에서 안정적인 서비스 제공 여부 확인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99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수행절차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자동화 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Script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준비</a:t>
                      </a:r>
                      <a:endParaRPr lang="en-US" altLang="ko-KR" sz="1000" b="0" u="none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적정부하 생성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/>
                      </a:r>
                      <a:b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Cache, Ramp-up 3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5</a:t>
                      </a:r>
                      <a:r>
                        <a:rPr lang="en-US" altLang="ko-KR" sz="1000" b="0" u="none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User</a:t>
                      </a:r>
                    </a:p>
                    <a:p>
                      <a:pPr marL="180975" marR="0" lvl="1" indent="-18097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 상황을 </a:t>
                      </a:r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lang="ko-KR" altLang="en-US" sz="1000" b="0" u="non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시간 유지</a:t>
                      </a:r>
                      <a:endParaRPr lang="en-US" altLang="ko-KR" sz="1000" b="0" u="none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0975" lvl="1" indent="-180975">
                        <a:lnSpc>
                          <a:spcPct val="110000"/>
                        </a:lnSpc>
                        <a:buSzPct val="100000"/>
                        <a:buFontTx/>
                        <a:buNone/>
                      </a:pPr>
                      <a:r>
                        <a:rPr lang="en-US" altLang="ko-KR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lang="ko-KR" altLang="en-US" sz="1000" b="0" u="none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안정성 확인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38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측정지표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종료조건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시스템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Down, Hang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현상 없음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자원사용률 적정 수준 유지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케이스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TC0301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내구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_PRIVACY</a:t>
                      </a:r>
                    </a:p>
                  </a:txBody>
                  <a:tcPr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251520" y="1357172"/>
            <a:ext cx="4176464" cy="31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개념도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구성도</a:t>
            </a:r>
            <a:r>
              <a:rPr lang="en-US" altLang="ko-KR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endParaRPr lang="ko-KR" altLang="en-US" sz="1200" b="1" u="none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13041" y="1357172"/>
            <a:ext cx="4176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u="none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■ </a:t>
            </a:r>
            <a:r>
              <a:rPr lang="ko-KR" altLang="en-US" sz="1200" b="1" u="none" dirty="0" smtClean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테스트 시나리오</a:t>
            </a:r>
            <a:endParaRPr lang="ko-KR" altLang="en-US" sz="1200" u="none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043642" y="2787844"/>
            <a:ext cx="1071563" cy="38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Controller</a:t>
            </a:r>
          </a:p>
        </p:txBody>
      </p:sp>
      <p:cxnSp>
        <p:nvCxnSpPr>
          <p:cNvPr id="12" name="구부러진 연결선 175"/>
          <p:cNvCxnSpPr>
            <a:cxnSpLocks noChangeShapeType="1"/>
            <a:stCxn id="24" idx="3"/>
            <a:endCxn id="25" idx="1"/>
          </p:cNvCxnSpPr>
          <p:nvPr/>
        </p:nvCxnSpPr>
        <p:spPr bwMode="auto">
          <a:xfrm flipV="1">
            <a:off x="1907285" y="2335177"/>
            <a:ext cx="712582" cy="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13" name="구부러진 연결선 176"/>
          <p:cNvCxnSpPr>
            <a:cxnSpLocks noChangeShapeType="1"/>
            <a:stCxn id="22" idx="0"/>
            <a:endCxn id="25" idx="2"/>
          </p:cNvCxnSpPr>
          <p:nvPr/>
        </p:nvCxnSpPr>
        <p:spPr bwMode="auto">
          <a:xfrm rot="5400000" flipH="1" flipV="1">
            <a:off x="2625943" y="2853381"/>
            <a:ext cx="443556" cy="1435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0070C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4" name="그룹 13"/>
          <p:cNvGrpSpPr/>
          <p:nvPr/>
        </p:nvGrpSpPr>
        <p:grpSpPr>
          <a:xfrm>
            <a:off x="2021377" y="4111879"/>
            <a:ext cx="1094255" cy="653737"/>
            <a:chOff x="-779906" y="2780928"/>
            <a:chExt cx="1094255" cy="653737"/>
          </a:xfrm>
        </p:grpSpPr>
        <p:pic>
          <p:nvPicPr>
            <p:cNvPr id="15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0432" y="2780928"/>
              <a:ext cx="544781" cy="65373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779906" y="298468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WAS</a:t>
              </a:r>
              <a:endParaRPr lang="ko-KR" altLang="en-US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7" name="구부러진 연결선 176"/>
          <p:cNvCxnSpPr>
            <a:cxnSpLocks noChangeShapeType="1"/>
            <a:stCxn id="22" idx="2"/>
            <a:endCxn id="15" idx="0"/>
          </p:cNvCxnSpPr>
          <p:nvPr/>
        </p:nvCxnSpPr>
        <p:spPr bwMode="auto">
          <a:xfrm rot="5400000">
            <a:off x="2609601" y="3874475"/>
            <a:ext cx="471045" cy="376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18" name="그룹 17"/>
          <p:cNvGrpSpPr/>
          <p:nvPr/>
        </p:nvGrpSpPr>
        <p:grpSpPr>
          <a:xfrm>
            <a:off x="1907432" y="5209301"/>
            <a:ext cx="1198184" cy="602829"/>
            <a:chOff x="1717632" y="5445224"/>
            <a:chExt cx="1198184" cy="602829"/>
          </a:xfrm>
        </p:grpSpPr>
        <p:sp>
          <p:nvSpPr>
            <p:cNvPr id="19" name="TextBox 18"/>
            <p:cNvSpPr txBox="1"/>
            <p:nvPr/>
          </p:nvSpPr>
          <p:spPr>
            <a:xfrm>
              <a:off x="1717632" y="5544400"/>
              <a:ext cx="7072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DB</a:t>
              </a:r>
            </a:p>
            <a:p>
              <a:pPr 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(MySQL)</a:t>
              </a:r>
            </a:p>
          </p:txBody>
        </p:sp>
        <p:pic>
          <p:nvPicPr>
            <p:cNvPr id="20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450" y="5445224"/>
              <a:ext cx="521366" cy="602829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/>
        </p:nvGrpSpPr>
        <p:grpSpPr>
          <a:xfrm>
            <a:off x="2051020" y="3075876"/>
            <a:ext cx="1067803" cy="564958"/>
            <a:chOff x="2051020" y="3514026"/>
            <a:chExt cx="1067803" cy="564958"/>
          </a:xfrm>
        </p:grpSpPr>
        <p:pic>
          <p:nvPicPr>
            <p:cNvPr id="22" name="Picture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5184" y="3514026"/>
              <a:ext cx="543639" cy="56495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051020" y="367339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ALB</a:t>
              </a:r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59666" y="1923749"/>
            <a:ext cx="647619" cy="8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19867" y="2038034"/>
            <a:ext cx="457143" cy="59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987858" y="2237907"/>
            <a:ext cx="936104" cy="38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nGrinder</a:t>
            </a:r>
            <a:endParaRPr lang="en-US" altLang="ko-KR" sz="1100" b="0" u="sng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60000"/>
              </a:lnSpc>
              <a:spcBef>
                <a:spcPct val="50000"/>
              </a:spcBef>
              <a:buSzPct val="70000"/>
              <a:buFont typeface="Wingdings" pitchFamily="2" charset="2"/>
              <a:buNone/>
            </a:pPr>
            <a:r>
              <a:rPr lang="en-US" altLang="ko-KR" sz="1100" b="0" u="sng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Agent</a:t>
            </a:r>
            <a:endParaRPr lang="en-US" altLang="ko-KR" sz="11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구부러진 연결선 176"/>
          <p:cNvCxnSpPr>
            <a:cxnSpLocks noChangeShapeType="1"/>
            <a:stCxn id="20" idx="0"/>
            <a:endCxn id="15" idx="2"/>
          </p:cNvCxnSpPr>
          <p:nvPr/>
        </p:nvCxnSpPr>
        <p:spPr bwMode="auto">
          <a:xfrm rot="16200000" flipV="1">
            <a:off x="2622246" y="4986613"/>
            <a:ext cx="443685" cy="1691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7030A0"/>
            </a:solidFill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7668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별첨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내구성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(2/7)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74579"/>
              </p:ext>
            </p:extLst>
          </p:nvPr>
        </p:nvGraphicFramePr>
        <p:xfrm>
          <a:off x="344489" y="1567265"/>
          <a:ext cx="9235444" cy="4358945"/>
        </p:xfrm>
        <a:graphic>
          <a:graphicData uri="http://schemas.openxmlformats.org/drawingml/2006/table">
            <a:tbl>
              <a:tblPr/>
              <a:tblGrid>
                <a:gridCol w="3663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7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8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39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67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213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786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2503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569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4454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명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애플리케이션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부하율</a:t>
                      </a:r>
                      <a:endParaRPr lang="en-US" altLang="ko-KR" sz="1100" b="1" i="0" u="none" strike="noStrike" dirty="0" smtClean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성능목표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측정결과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5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응답시간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3C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Privacy</a:t>
                      </a:r>
                      <a:r>
                        <a:rPr lang="en-US" altLang="ko-KR" sz="9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Site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국가언어선택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0.0043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회원정보수정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이용중인서비스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동의내역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EMP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구매정보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(MC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기기정보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0.154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(Air Drive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사용이력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  <a:endParaRPr lang="en-US" altLang="ko-KR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N/A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0.093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(Developer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0.0039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연동 없음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351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1:1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문의 목록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5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예시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[PrivacySite-xxxx-01]/login/sign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0.119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DB Connection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51805">
                <a:tc gridSpan="4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총계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2.67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12.39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</a:tbl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0472" y="1052127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</a:pPr>
            <a:r>
              <a:rPr kumimoji="1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응답시간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en-US" altLang="ko-KR" sz="1400" b="1" u="none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ms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)</a:t>
            </a:r>
            <a:r>
              <a:rPr kumimoji="1" lang="ko-KR" altLang="en-US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및 처리량</a:t>
            </a:r>
            <a:r>
              <a:rPr kumimoji="1" lang="en-US" altLang="ko-KR" sz="1400" b="1" u="none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(TPS)</a:t>
            </a:r>
            <a:endParaRPr kumimoji="1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49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(3/7)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en-US" altLang="ko-KR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nGrinder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결과 화면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평균 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10.8</a:t>
            </a:r>
            <a:r>
              <a:rPr kumimoji="1" lang="en-US" altLang="ko-KR" sz="1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TPS / Peak 17.31 TPS)  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71" y="1373476"/>
            <a:ext cx="4466410" cy="49252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52" y="1373476"/>
            <a:ext cx="4286189" cy="507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3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(4/7)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Privacy WAS(QA) CPU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사용률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420127" y="1366380"/>
            <a:ext cx="9361040" cy="30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20000"/>
              </a:lnSpc>
              <a:buSzPct val="120000"/>
              <a:buFont typeface="Wingdings" pitchFamily="2" charset="2"/>
              <a:buNone/>
            </a:pP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WAS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CPU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평균사용률이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3.5%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로 특이사항 없음</a:t>
            </a:r>
            <a:endParaRPr lang="en-US" altLang="ko-KR" sz="1300" b="0" u="non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26" y="1741941"/>
            <a:ext cx="8954395" cy="437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9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(5/7)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Privacy WAS(QA) Memory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사용률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420127" y="1366380"/>
            <a:ext cx="9361040" cy="30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SzPct val="120000"/>
              <a:buFont typeface="Arial" panose="020B0604020202020204" pitchFamily="34" charset="0"/>
              <a:buChar char="•"/>
            </a:pP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WAS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CPU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사용률이 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  <a:ea typeface="+mn-ea"/>
              </a:rPr>
              <a:t>62.1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를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유지하여 특이사항 없음</a:t>
            </a:r>
            <a:endParaRPr lang="en-US" altLang="ko-KR" sz="1300" b="0" u="non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62" y="1741941"/>
            <a:ext cx="8944215" cy="453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6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(6/7)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Privacy WAS(QA) GC Log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분석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FD3318C6-A047-4B7D-9542-B4D8B587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" y="2511278"/>
            <a:ext cx="2721090" cy="3881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811E8E89-560D-4309-80F6-48EB601D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168" y="2511277"/>
            <a:ext cx="3035194" cy="3881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978424C4-31F9-4A68-81D5-67B77AE44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319" y="2511278"/>
            <a:ext cx="2852328" cy="38818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82219543-DBEA-4B65-AC69-ACBFA1C43017}"/>
              </a:ext>
            </a:extLst>
          </p:cNvPr>
          <p:cNvSpPr/>
          <p:nvPr/>
        </p:nvSpPr>
        <p:spPr>
          <a:xfrm>
            <a:off x="427866" y="1380636"/>
            <a:ext cx="9023496" cy="8755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설정한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Heap Capacity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초과하지 않음에도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GC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일어남으로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Heap Capacity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줄이는 쪽으로 설정이 필요함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OOM 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발생을 고려하면 적절히 줄이는 것이 필요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GC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안정적으로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400M 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정도 줄어들고 최대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100M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머무는 것으로 보아 효과적으로 </a:t>
            </a:r>
            <a:r>
              <a:rPr lang="en-US" altLang="ko-KR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GC</a:t>
            </a:r>
            <a:r>
              <a:rPr lang="ko-KR" altLang="en-US" sz="13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수행하고 있음</a:t>
            </a:r>
            <a:endParaRPr lang="en-US" altLang="ko-KR" sz="1300" b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68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(6/7)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Privacy DB Server(QA) CPU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사용률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0" y="1675119"/>
            <a:ext cx="8722142" cy="4574560"/>
          </a:xfrm>
          <a:prstGeom prst="rect">
            <a:avLst/>
          </a:prstGeom>
        </p:spPr>
      </p:pic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420127" y="1366380"/>
            <a:ext cx="9361040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20000"/>
              </a:lnSpc>
              <a:buSzPct val="120000"/>
              <a:buFont typeface="Wingdings" pitchFamily="2" charset="2"/>
              <a:buNone/>
            </a:pPr>
            <a:r>
              <a:rPr lang="en-US" altLang="ko-KR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DB Server</a:t>
            </a:r>
            <a:r>
              <a:rPr lang="ko-KR" altLang="en-US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CPU </a:t>
            </a:r>
            <a:r>
              <a:rPr lang="ko-KR" altLang="en-US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사용률이 </a:t>
            </a:r>
            <a:r>
              <a:rPr lang="en-US" altLang="ko-KR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0.6% ~ 1.2%</a:t>
            </a:r>
            <a:r>
              <a:rPr lang="ko-KR" altLang="en-US" sz="130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로 특이사항 없음</a:t>
            </a:r>
            <a:endParaRPr lang="en-US" altLang="ko-KR" sz="1300" b="1" u="non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981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itchFamily="34" charset="0"/>
              <a:ea typeface="돋움" pitchFamily="50" charset="-127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648465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별첨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테스트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결과 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– </a:t>
            </a:r>
            <a:r>
              <a:rPr kumimoji="1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내구성</a:t>
            </a:r>
            <a:r>
              <a:rPr kumimoji="1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(7/7)</a:t>
            </a: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1707" y="922468"/>
            <a:ext cx="477622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맑은 고딕" pitchFamily="50" charset="-127"/>
              <a:buChar char="▣"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유관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시스템</a:t>
            </a:r>
            <a:r>
              <a:rPr kumimoji="1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DB 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Server(QA)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의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CPU </a:t>
            </a:r>
            <a:r>
              <a:rPr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사용률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4" y="1456772"/>
            <a:ext cx="4104441" cy="21624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47" y="1456771"/>
            <a:ext cx="4104441" cy="216240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4" y="3799495"/>
            <a:ext cx="4104441" cy="239383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47" y="3738022"/>
            <a:ext cx="4104441" cy="239383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097015" y="2273118"/>
            <a:ext cx="2983206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EMP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Server(QA) CPU 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사용률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endParaRPr lang="en-US" altLang="ko-KR" sz="1300" b="0" u="sng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평균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사용률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: 9% ~11%</a:t>
            </a: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기존 사용률에서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대비 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3~4%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증가</a:t>
            </a:r>
            <a:endParaRPr lang="en-US" altLang="ko-KR" sz="1300" b="0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998148" y="2196147"/>
            <a:ext cx="2983206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MC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Server(QA) CPU 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사용률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endParaRPr lang="en-US" altLang="ko-KR" sz="1300" b="0" u="sng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평균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사용률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: 3% ~ 27%</a:t>
            </a: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기존 사용률 대비 영향 없음</a:t>
            </a:r>
            <a:endParaRPr lang="en-US" altLang="ko-KR" sz="1300" b="0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67394" y="4435525"/>
            <a:ext cx="3442447" cy="10926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Developer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Server(QA) CPU 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사용률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endParaRPr lang="en-US" altLang="ko-KR" sz="1300" b="0" u="sng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평균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사용률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: 9% ~ 28%</a:t>
            </a: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기존 사용률 대비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일부 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Spike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구간 있으나 </a:t>
            </a:r>
            <a:endParaRPr lang="en-US" altLang="ko-KR" sz="1300" b="0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  <a:p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사용률은 낮은 상태임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.</a:t>
            </a:r>
            <a:endParaRPr lang="en-US" altLang="ko-KR" sz="1300" b="0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893654" y="4635580"/>
            <a:ext cx="3087700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Air Drive DB Server(QA) CPU </a:t>
            </a:r>
            <a:r>
              <a:rPr lang="ko-KR" altLang="en-US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사용률 </a:t>
            </a:r>
            <a:r>
              <a:rPr lang="en-US" altLang="ko-KR" sz="1300" b="0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endParaRPr lang="en-US" altLang="ko-KR" sz="1300" b="0" u="sng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평균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사용률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: </a:t>
            </a:r>
            <a:r>
              <a:rPr lang="en-US" altLang="ko-KR" sz="1300" b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% ~ 2%</a:t>
            </a:r>
          </a:p>
          <a:p>
            <a:r>
              <a:rPr lang="en-US" altLang="ko-KR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 </a:t>
            </a:r>
            <a:r>
              <a:rPr lang="ko-KR" altLang="en-US" sz="1300" b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기존 사용률 대비 영향 적음</a:t>
            </a:r>
            <a:endParaRPr lang="en-US" altLang="ko-KR" sz="1300" b="0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844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lgekrhqms39.lge.com/mail0/X747380.nsf/1171a78ec224954649257fb500065b8e/4d77e30e1947c8aa4925828f0001bd1f/Body/M2?OpenElement"/>
          <p:cNvSpPr>
            <a:spLocks noChangeAspect="1" noChangeArrowheads="1"/>
          </p:cNvSpPr>
          <p:nvPr/>
        </p:nvSpPr>
        <p:spPr bwMode="auto">
          <a:xfrm>
            <a:off x="76200" y="-2955925"/>
            <a:ext cx="12906375" cy="61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44488" y="480233"/>
            <a:ext cx="6932292" cy="320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&lt; </a:t>
            </a:r>
            <a:r>
              <a:rPr lang="ko-KR" altLang="en-US" sz="1600" dirty="0" err="1" smtClean="0">
                <a:latin typeface="맑은 고딕" pitchFamily="50" charset="-127"/>
                <a:ea typeface="맑은 고딕" pitchFamily="50" charset="-127"/>
              </a:rPr>
              <a:t>참조자료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테스트 결과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– Privacy Site User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수 별 성능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(QA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기준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98" name="Picture 2" descr="C:\Project\0_Privacy\3_시험\3_성능시험\결과이미지모음\3_User기준(1~5User)\20180525_1us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1330678"/>
            <a:ext cx="9591675" cy="111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Project\0_Privacy\3_시험\3_성능시험\결과이미지모음\3_User기준(1~5User)\20180525_2us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637401"/>
            <a:ext cx="9591675" cy="132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Project\0_Privacy\3_시험\3_성능시험\결과이미지모음\3_User기준(1~5User)\20180525_5us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4054365"/>
            <a:ext cx="9591675" cy="117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102336" y="1502361"/>
            <a:ext cx="3731727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1_User : 3.8TPS (Peak 4.3)</a:t>
            </a:r>
            <a:endParaRPr lang="en-US" altLang="ko-KR" sz="2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08094" y="2802019"/>
            <a:ext cx="3731727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2_User : 5.8TPS (Peak 7.6)</a:t>
            </a:r>
            <a:endParaRPr lang="en-US" altLang="ko-KR" sz="2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43036" y="4257661"/>
            <a:ext cx="4061946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5_User : 11.5TPS (Peak 13.6)</a:t>
            </a:r>
            <a:endParaRPr lang="en-US" altLang="ko-KR" sz="2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982895" y="5330118"/>
            <a:ext cx="423186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50 User  : 11.4TPS (Peak 28.3)</a:t>
            </a:r>
          </a:p>
          <a:p>
            <a:r>
              <a:rPr lang="en-US" altLang="ko-KR" sz="2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100User : 12.8TPS (Peak 31.0)</a:t>
            </a:r>
            <a:endParaRPr lang="en-US" altLang="ko-KR" sz="2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272480" y="876805"/>
            <a:ext cx="9361040" cy="30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SzPct val="120000"/>
              <a:buFont typeface="Arial" panose="020B0604020202020204" pitchFamily="34" charset="0"/>
              <a:buChar char="•"/>
            </a:pP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1User~5User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까지는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User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수에 따른 평균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TPS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증가 폭이 크지만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6User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부터는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User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수에 따른 평균 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TPS </a:t>
            </a:r>
            <a:r>
              <a:rPr lang="ko-KR" altLang="en-US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변화가 미미함</a:t>
            </a:r>
            <a:r>
              <a:rPr lang="en-US" altLang="ko-KR" sz="1300" b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300" b="0" u="non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251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Blank">
  <a:themeElements>
    <a:clrScheme name="Blank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3175" cap="flat" cmpd="sng" algn="ctr">
          <a:solidFill>
            <a:schemeClr val="tx1">
              <a:lumMod val="65000"/>
              <a:lumOff val="3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 anchor="ctr">
        <a:spAutoFit/>
      </a:bodyPr>
      <a:lstStyle>
        <a:defPPr>
          <a:lnSpc>
            <a:spcPct val="150000"/>
          </a:lnSpc>
          <a:defRPr sz="1200" dirty="0" smtClean="0">
            <a:latin typeface="맑은고딕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FF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F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325546</TotalTime>
  <Words>2743</Words>
  <Application>Microsoft Office PowerPoint</Application>
  <PresentationFormat>A4 용지(210x297mm)</PresentationFormat>
  <Paragraphs>847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6" baseType="lpstr">
      <vt:lpstr>HY헤드라인M</vt:lpstr>
      <vt:lpstr>LG스마트체 Regular</vt:lpstr>
      <vt:lpstr>굴림</vt:lpstr>
      <vt:lpstr>돋움</vt:lpstr>
      <vt:lpstr>맑은 고딕</vt:lpstr>
      <vt:lpstr>Arial</vt:lpstr>
      <vt:lpstr>Symbol</vt:lpstr>
      <vt:lpstr>Tahoma</vt:lpstr>
      <vt:lpstr>Times New Roman</vt:lpstr>
      <vt:lpstr>Trebuchet MS</vt:lpstr>
      <vt:lpstr>Wingdings</vt:lpstr>
      <vt:lpstr>2_Blank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최재혁/선임/클라우드운영실 클라우드인프라운영파트</dc:creator>
  <cp:lastModifiedBy>최재혁/선임/DXT센터 서비스플랫폼담당 시스템관리팀(jaehyuk1.choi@lge.com)</cp:lastModifiedBy>
  <cp:revision>8717</cp:revision>
  <cp:lastPrinted>2018-03-22T00:18:45Z</cp:lastPrinted>
  <dcterms:created xsi:type="dcterms:W3CDTF">2005-12-07T09:50:28Z</dcterms:created>
  <dcterms:modified xsi:type="dcterms:W3CDTF">2021-08-10T15:36:08Z</dcterms:modified>
</cp:coreProperties>
</file>