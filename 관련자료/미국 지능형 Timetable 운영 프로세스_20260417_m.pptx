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</p:sldMasterIdLst>
  <p:notesMasterIdLst>
    <p:notesMasterId r:id="rId8"/>
  </p:notesMasterIdLst>
  <p:sldIdLst>
    <p:sldId id="2147483339" r:id="rId6"/>
    <p:sldId id="2147483340" r:id="rId7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638" userDrawn="1">
          <p15:clr>
            <a:srgbClr val="A4A3A4"/>
          </p15:clr>
        </p15:guide>
        <p15:guide id="5" pos="5087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8" pos="756" userDrawn="1">
          <p15:clr>
            <a:srgbClr val="A4A3A4"/>
          </p15:clr>
        </p15:guide>
        <p15:guide id="9" pos="5881" userDrawn="1">
          <p15:clr>
            <a:srgbClr val="A4A3A4"/>
          </p15:clr>
        </p15:guide>
        <p15:guide id="10" orient="horz" pos="1185" userDrawn="1">
          <p15:clr>
            <a:srgbClr val="A4A3A4"/>
          </p15:clr>
        </p15:guide>
        <p15:guide id="11" orient="horz" pos="3271" userDrawn="1">
          <p15:clr>
            <a:srgbClr val="A4A3A4"/>
          </p15:clr>
        </p15:guide>
        <p15:guide id="12" pos="529" userDrawn="1">
          <p15:clr>
            <a:srgbClr val="A4A3A4"/>
          </p15:clr>
        </p15:guide>
        <p15:guide id="13" pos="1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E0EBCC"/>
    <a:srgbClr val="009900"/>
    <a:srgbClr val="669900"/>
    <a:srgbClr val="99CC00"/>
    <a:srgbClr val="FAE5EF"/>
    <a:srgbClr val="E5FAE5"/>
    <a:srgbClr val="00CC00"/>
    <a:srgbClr val="F2F2F2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92" autoAdjust="0"/>
    <p:restoredTop sz="97384" autoAdjust="0"/>
  </p:normalViewPr>
  <p:slideViewPr>
    <p:cSldViewPr snapToGrid="0">
      <p:cViewPr varScale="1">
        <p:scale>
          <a:sx n="158" d="100"/>
          <a:sy n="158" d="100"/>
        </p:scale>
        <p:origin x="840" y="84"/>
      </p:cViewPr>
      <p:guideLst>
        <p:guide orient="horz" pos="1638"/>
        <p:guide pos="5087"/>
        <p:guide orient="horz" pos="731"/>
        <p:guide pos="756"/>
        <p:guide pos="5881"/>
        <p:guide orient="horz" pos="1185"/>
        <p:guide orient="horz" pos="3271"/>
        <p:guide pos="529"/>
        <p:guide pos="19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8D628-373A-47B1-AA85-390CC62A98D2}" type="datetimeFigureOut">
              <a:rPr lang="ko-KR" altLang="en-US" smtClean="0"/>
              <a:t>2026-05-13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BC437-3262-4845-8FAA-0F7DFECE26C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336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510C1A-5365-0A2A-DA8A-035B77890792}"/>
              </a:ext>
            </a:extLst>
          </p:cNvPr>
          <p:cNvCxnSpPr/>
          <p:nvPr userDrawn="1"/>
        </p:nvCxnSpPr>
        <p:spPr>
          <a:xfrm>
            <a:off x="131802" y="508422"/>
            <a:ext cx="119187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20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784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510C1A-5365-0A2A-DA8A-035B77890792}"/>
              </a:ext>
            </a:extLst>
          </p:cNvPr>
          <p:cNvCxnSpPr/>
          <p:nvPr userDrawn="1"/>
        </p:nvCxnSpPr>
        <p:spPr>
          <a:xfrm>
            <a:off x="131802" y="508422"/>
            <a:ext cx="119187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558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7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436B-9538-403C-8E5E-4C52A7CCBB7C}" type="datetimeFigureOut">
              <a:rPr lang="ko-KR" altLang="en-US" smtClean="0">
                <a:solidFill>
                  <a:prstClr val="black"/>
                </a:solidFill>
              </a:rPr>
              <a:pPr/>
              <a:t>2026-05-13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364F-FD1D-4D05-BAA4-6C0E212572C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09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6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F88416-8CF9-EEF8-7B08-21B545D9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445B16-CFEE-FEEA-F035-59F54E7F12ED}"/>
              </a:ext>
            </a:extLst>
          </p:cNvPr>
          <p:cNvSpPr txBox="1"/>
          <p:nvPr/>
        </p:nvSpPr>
        <p:spPr>
          <a:xfrm>
            <a:off x="154563" y="108750"/>
            <a:ext cx="3743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US Intelligent Timetable Operation Process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785D45-6523-B04C-E7C6-3F59B2A61A80}"/>
              </a:ext>
            </a:extLst>
          </p:cNvPr>
          <p:cNvSpPr txBox="1"/>
          <p:nvPr/>
        </p:nvSpPr>
        <p:spPr>
          <a:xfrm>
            <a:off x="5787262" y="6620964"/>
            <a:ext cx="617477" cy="161583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Apx 1 / 1</a:t>
            </a:r>
            <a:endParaRPr lang="ko-KR" alt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8" name="Straight Arrow Connector 20">
            <a:extLst>
              <a:ext uri="{FF2B5EF4-FFF2-40B4-BE49-F238E27FC236}">
                <a16:creationId xmlns:a16="http://schemas.microsoft.com/office/drawing/2014/main" id="{1BE2F413-EC8E-038F-8721-DA1B4D8DD3A3}"/>
              </a:ext>
            </a:extLst>
          </p:cNvPr>
          <p:cNvCxnSpPr>
            <a:cxnSpLocks/>
            <a:stCxn id="28" idx="2"/>
            <a:endCxn id="69" idx="0"/>
          </p:cNvCxnSpPr>
          <p:nvPr/>
        </p:nvCxnSpPr>
        <p:spPr bwMode="auto">
          <a:xfrm>
            <a:off x="7391309" y="2576431"/>
            <a:ext cx="2" cy="1847726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8F0452-F283-4740-74E9-EFBA2DE6AEAE}"/>
              </a:ext>
            </a:extLst>
          </p:cNvPr>
          <p:cNvSpPr txBox="1"/>
          <p:nvPr/>
        </p:nvSpPr>
        <p:spPr>
          <a:xfrm>
            <a:off x="304372" y="599442"/>
            <a:ext cx="973343" cy="346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Process 】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Diamond 21">
            <a:extLst>
              <a:ext uri="{FF2B5EF4-FFF2-40B4-BE49-F238E27FC236}">
                <a16:creationId xmlns:a16="http://schemas.microsoft.com/office/drawing/2014/main" id="{A764120B-191A-3EE7-A63B-388A9568D129}"/>
              </a:ext>
            </a:extLst>
          </p:cNvPr>
          <p:cNvSpPr/>
          <p:nvPr/>
        </p:nvSpPr>
        <p:spPr>
          <a:xfrm>
            <a:off x="304372" y="1494269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Repair Receipt</a:t>
            </a:r>
          </a:p>
        </p:txBody>
      </p:sp>
      <p:sp>
        <p:nvSpPr>
          <p:cNvPr id="5" name="Diamond 21">
            <a:extLst>
              <a:ext uri="{FF2B5EF4-FFF2-40B4-BE49-F238E27FC236}">
                <a16:creationId xmlns:a16="http://schemas.microsoft.com/office/drawing/2014/main" id="{1C5C3041-2F42-D3AC-E454-D12F309A3F38}"/>
              </a:ext>
            </a:extLst>
          </p:cNvPr>
          <p:cNvSpPr/>
          <p:nvPr/>
        </p:nvSpPr>
        <p:spPr>
          <a:xfrm>
            <a:off x="10210046" y="1494269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Customer Visit </a:t>
            </a:r>
            <a:b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Repair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7" name="Straight Arrow Connector 20">
            <a:extLst>
              <a:ext uri="{FF2B5EF4-FFF2-40B4-BE49-F238E27FC236}">
                <a16:creationId xmlns:a16="http://schemas.microsoft.com/office/drawing/2014/main" id="{CFAE5C86-1F9F-8184-F803-F25E8724BCE2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 bwMode="auto">
          <a:xfrm flipV="1">
            <a:off x="1744372" y="1944268"/>
            <a:ext cx="682312" cy="1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20">
            <a:extLst>
              <a:ext uri="{FF2B5EF4-FFF2-40B4-BE49-F238E27FC236}">
                <a16:creationId xmlns:a16="http://schemas.microsoft.com/office/drawing/2014/main" id="{C99C38F2-E1E1-83DF-5C1E-8877B991554D}"/>
              </a:ext>
            </a:extLst>
          </p:cNvPr>
          <p:cNvCxnSpPr>
            <a:cxnSpLocks/>
            <a:stCxn id="17" idx="3"/>
            <a:endCxn id="30" idx="1"/>
          </p:cNvCxnSpPr>
          <p:nvPr/>
        </p:nvCxnSpPr>
        <p:spPr bwMode="auto">
          <a:xfrm>
            <a:off x="3866684" y="1944268"/>
            <a:ext cx="682314" cy="1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Diamond 21">
            <a:extLst>
              <a:ext uri="{FF2B5EF4-FFF2-40B4-BE49-F238E27FC236}">
                <a16:creationId xmlns:a16="http://schemas.microsoft.com/office/drawing/2014/main" id="{055A70BF-5A76-BE45-E9AB-4E560B7015F2}"/>
              </a:ext>
            </a:extLst>
          </p:cNvPr>
          <p:cNvSpPr/>
          <p:nvPr/>
        </p:nvSpPr>
        <p:spPr>
          <a:xfrm>
            <a:off x="2426684" y="1494268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 Assignment </a:t>
            </a:r>
          </a:p>
        </p:txBody>
      </p:sp>
      <p:sp>
        <p:nvSpPr>
          <p:cNvPr id="21" name="Diamond 21">
            <a:extLst>
              <a:ext uri="{FF2B5EF4-FFF2-40B4-BE49-F238E27FC236}">
                <a16:creationId xmlns:a16="http://schemas.microsoft.com/office/drawing/2014/main" id="{30BF1F42-D63A-0781-8788-9E87CDC2E25E}"/>
              </a:ext>
            </a:extLst>
          </p:cNvPr>
          <p:cNvSpPr/>
          <p:nvPr/>
        </p:nvSpPr>
        <p:spPr>
          <a:xfrm>
            <a:off x="6671311" y="1494269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System Optimal Routing</a:t>
            </a:r>
            <a:b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 Reassignment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B078BF-17B3-7808-392C-711C54E8FC8E}"/>
              </a:ext>
            </a:extLst>
          </p:cNvPr>
          <p:cNvSpPr txBox="1"/>
          <p:nvPr/>
        </p:nvSpPr>
        <p:spPr>
          <a:xfrm>
            <a:off x="2189102" y="987471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 - N</a:t>
            </a:r>
          </a:p>
        </p:txBody>
      </p:sp>
      <p:sp>
        <p:nvSpPr>
          <p:cNvPr id="30" name="Diamond 21">
            <a:extLst>
              <a:ext uri="{FF2B5EF4-FFF2-40B4-BE49-F238E27FC236}">
                <a16:creationId xmlns:a16="http://schemas.microsoft.com/office/drawing/2014/main" id="{D8708315-A557-7D1E-E607-CE1BBFB70B2B}"/>
              </a:ext>
            </a:extLst>
          </p:cNvPr>
          <p:cNvSpPr/>
          <p:nvPr/>
        </p:nvSpPr>
        <p:spPr>
          <a:xfrm>
            <a:off x="4548998" y="1494269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Pre-Screening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for all ATL dispatch cases</a:t>
            </a:r>
          </a:p>
        </p:txBody>
      </p: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F9F9B6DC-1636-8B93-987F-275AD43B6391}"/>
              </a:ext>
            </a:extLst>
          </p:cNvPr>
          <p:cNvCxnSpPr>
            <a:cxnSpLocks/>
            <a:stCxn id="30" idx="3"/>
            <a:endCxn id="21" idx="1"/>
          </p:cNvCxnSpPr>
          <p:nvPr/>
        </p:nvCxnSpPr>
        <p:spPr bwMode="auto">
          <a:xfrm>
            <a:off x="5988998" y="1944269"/>
            <a:ext cx="682313" cy="0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86CA514-36D6-6B31-7F67-DC24D4D9EB1A}"/>
              </a:ext>
            </a:extLst>
          </p:cNvPr>
          <p:cNvSpPr txBox="1"/>
          <p:nvPr/>
        </p:nvSpPr>
        <p:spPr>
          <a:xfrm>
            <a:off x="6433727" y="1030085"/>
            <a:ext cx="1915164" cy="16684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D-1 (3:00 PM)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59E810-ABBC-1AE2-CC61-941A95CA2BC5}"/>
              </a:ext>
            </a:extLst>
          </p:cNvPr>
          <p:cNvSpPr txBox="1"/>
          <p:nvPr/>
        </p:nvSpPr>
        <p:spPr>
          <a:xfrm>
            <a:off x="4311414" y="1030085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 - N</a:t>
            </a:r>
          </a:p>
        </p:txBody>
      </p:sp>
      <p:sp>
        <p:nvSpPr>
          <p:cNvPr id="27" name="Diamond 21">
            <a:extLst>
              <a:ext uri="{FF2B5EF4-FFF2-40B4-BE49-F238E27FC236}">
                <a16:creationId xmlns:a16="http://schemas.microsoft.com/office/drawing/2014/main" id="{25F8FD79-B778-8DD4-0A16-5F37B823E6C1}"/>
              </a:ext>
            </a:extLst>
          </p:cNvPr>
          <p:cNvSpPr/>
          <p:nvPr/>
        </p:nvSpPr>
        <p:spPr>
          <a:xfrm>
            <a:off x="2426684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Contact Center</a:t>
            </a:r>
          </a:p>
        </p:txBody>
      </p:sp>
      <p:sp>
        <p:nvSpPr>
          <p:cNvPr id="28" name="Diamond 21">
            <a:extLst>
              <a:ext uri="{FF2B5EF4-FFF2-40B4-BE49-F238E27FC236}">
                <a16:creationId xmlns:a16="http://schemas.microsoft.com/office/drawing/2014/main" id="{67D3EBB9-4BC5-38AD-DA85-88393F1B5FB3}"/>
              </a:ext>
            </a:extLst>
          </p:cNvPr>
          <p:cNvSpPr/>
          <p:nvPr/>
        </p:nvSpPr>
        <p:spPr>
          <a:xfrm>
            <a:off x="6671309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GSFS</a:t>
            </a:r>
          </a:p>
        </p:txBody>
      </p:sp>
      <p:sp>
        <p:nvSpPr>
          <p:cNvPr id="39" name="Diamond 21">
            <a:extLst>
              <a:ext uri="{FF2B5EF4-FFF2-40B4-BE49-F238E27FC236}">
                <a16:creationId xmlns:a16="http://schemas.microsoft.com/office/drawing/2014/main" id="{870D4258-3AE7-2EED-8749-ED390880F4C8}"/>
              </a:ext>
            </a:extLst>
          </p:cNvPr>
          <p:cNvSpPr/>
          <p:nvPr/>
        </p:nvSpPr>
        <p:spPr>
          <a:xfrm>
            <a:off x="4548998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P/S Team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9" name="Diamond 21">
            <a:extLst>
              <a:ext uri="{FF2B5EF4-FFF2-40B4-BE49-F238E27FC236}">
                <a16:creationId xmlns:a16="http://schemas.microsoft.com/office/drawing/2014/main" id="{78E43946-6525-9F6A-B30E-6157DD7D6102}"/>
              </a:ext>
            </a:extLst>
          </p:cNvPr>
          <p:cNvSpPr/>
          <p:nvPr/>
        </p:nvSpPr>
        <p:spPr>
          <a:xfrm>
            <a:off x="6671311" y="4424157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Check Updated Information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in GMCS (DMS)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&amp;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Parts Order (P/S Team)</a:t>
            </a:r>
          </a:p>
        </p:txBody>
      </p:sp>
      <p:sp>
        <p:nvSpPr>
          <p:cNvPr id="70" name="Diamond 21">
            <a:extLst>
              <a:ext uri="{FF2B5EF4-FFF2-40B4-BE49-F238E27FC236}">
                <a16:creationId xmlns:a16="http://schemas.microsoft.com/office/drawing/2014/main" id="{DAAF9573-6878-B1E9-39FB-2C55F837F1F5}"/>
              </a:ext>
            </a:extLst>
          </p:cNvPr>
          <p:cNvSpPr/>
          <p:nvPr/>
        </p:nvSpPr>
        <p:spPr>
          <a:xfrm>
            <a:off x="6666866" y="5316016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 / P/S Team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9A9B26-DA48-01AB-0758-AF64E69E18C0}"/>
              </a:ext>
            </a:extLst>
          </p:cNvPr>
          <p:cNvSpPr txBox="1"/>
          <p:nvPr/>
        </p:nvSpPr>
        <p:spPr>
          <a:xfrm>
            <a:off x="6433727" y="5669567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D-1 (~ 4:00 PM)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9D14D1-823F-B5B3-9C53-C6ACF1493757}"/>
              </a:ext>
            </a:extLst>
          </p:cNvPr>
          <p:cNvSpPr txBox="1"/>
          <p:nvPr/>
        </p:nvSpPr>
        <p:spPr>
          <a:xfrm>
            <a:off x="9972464" y="1030085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 - Day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2E10E202-92F0-83AD-5505-8B1BC25F0EBE}"/>
              </a:ext>
            </a:extLst>
          </p:cNvPr>
          <p:cNvCxnSpPr>
            <a:cxnSpLocks/>
            <a:stCxn id="69" idx="3"/>
            <a:endCxn id="5" idx="1"/>
          </p:cNvCxnSpPr>
          <p:nvPr/>
        </p:nvCxnSpPr>
        <p:spPr>
          <a:xfrm flipV="1">
            <a:off x="8111311" y="1944269"/>
            <a:ext cx="2098735" cy="2929888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Diamond 21">
            <a:extLst>
              <a:ext uri="{FF2B5EF4-FFF2-40B4-BE49-F238E27FC236}">
                <a16:creationId xmlns:a16="http://schemas.microsoft.com/office/drawing/2014/main" id="{FDD7AED0-FFF8-8AF8-888B-DE9957638A9A}"/>
              </a:ext>
            </a:extLst>
          </p:cNvPr>
          <p:cNvSpPr/>
          <p:nvPr/>
        </p:nvSpPr>
        <p:spPr>
          <a:xfrm>
            <a:off x="10210046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</a:t>
            </a:r>
          </a:p>
        </p:txBody>
      </p:sp>
      <p:sp>
        <p:nvSpPr>
          <p:cNvPr id="29" name="Diamond 21">
            <a:extLst>
              <a:ext uri="{FF2B5EF4-FFF2-40B4-BE49-F238E27FC236}">
                <a16:creationId xmlns:a16="http://schemas.microsoft.com/office/drawing/2014/main" id="{6685D6AD-D83B-D7B2-9317-0C5672CB65CD}"/>
              </a:ext>
            </a:extLst>
          </p:cNvPr>
          <p:cNvSpPr/>
          <p:nvPr/>
        </p:nvSpPr>
        <p:spPr>
          <a:xfrm>
            <a:off x="304372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Contact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BA6E50-41C4-CAB9-50BB-B73A4BADE7F5}"/>
              </a:ext>
            </a:extLst>
          </p:cNvPr>
          <p:cNvSpPr txBox="1"/>
          <p:nvPr/>
        </p:nvSpPr>
        <p:spPr>
          <a:xfrm>
            <a:off x="2426684" y="2844267"/>
            <a:ext cx="2643030" cy="649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ATL DMS</a:t>
            </a:r>
            <a:r>
              <a:rPr lang="ko-KR" altLang="en-US" sz="900" b="0" dirty="0">
                <a:solidFill>
                  <a:srgbClr val="006600"/>
                </a:solidFill>
              </a:rPr>
              <a:t> </a:t>
            </a:r>
            <a:r>
              <a:rPr lang="en-US" altLang="ko-KR" sz="900" b="0" dirty="0">
                <a:solidFill>
                  <a:srgbClr val="006600"/>
                </a:solidFill>
              </a:rPr>
              <a:t>slot per tech,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SVC product code check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All DMSTs’ zip code open for all ATL market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(GSFS)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D2416D-AE5D-603E-5870-31F400B7C7D4}"/>
              </a:ext>
            </a:extLst>
          </p:cNvPr>
          <p:cNvSpPr txBox="1"/>
          <p:nvPr/>
        </p:nvSpPr>
        <p:spPr>
          <a:xfrm>
            <a:off x="672162" y="4844596"/>
            <a:ext cx="4419077" cy="4864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en-US" altLang="ko-KR" sz="900" b="0" dirty="0">
                <a:solidFill>
                  <a:schemeClr val="tx1"/>
                </a:solidFill>
              </a:rPr>
              <a:t>※ ATL DMST Training</a:t>
            </a:r>
            <a:br>
              <a:rPr lang="en-US" altLang="ko-KR" sz="900" b="0" dirty="0">
                <a:solidFill>
                  <a:schemeClr val="tx1"/>
                </a:solidFill>
              </a:rPr>
            </a:br>
            <a:r>
              <a:rPr lang="en-US" altLang="ko-KR" sz="900" b="0" dirty="0">
                <a:solidFill>
                  <a:schemeClr val="tx1"/>
                </a:solidFill>
              </a:rPr>
              <a:t> - Note them this change, not to change or save until distribute the calls</a:t>
            </a:r>
            <a:br>
              <a:rPr lang="en-US" altLang="ko-KR" sz="900" b="0" dirty="0">
                <a:solidFill>
                  <a:schemeClr val="tx1"/>
                </a:solidFill>
              </a:rPr>
            </a:br>
            <a:r>
              <a:rPr lang="en-US" altLang="ko-KR" sz="900" b="0" dirty="0">
                <a:solidFill>
                  <a:schemeClr val="tx1"/>
                </a:solidFill>
              </a:rPr>
              <a:t> - Blocking them for P/S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67130-4EBF-E0E9-B342-DEC172DA0575}"/>
              </a:ext>
            </a:extLst>
          </p:cNvPr>
          <p:cNvSpPr txBox="1"/>
          <p:nvPr/>
        </p:nvSpPr>
        <p:spPr>
          <a:xfrm>
            <a:off x="672161" y="5432810"/>
            <a:ext cx="4925470" cy="4864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en-US" altLang="ko-KR" sz="900" dirty="0">
                <a:solidFill>
                  <a:schemeClr val="tx1"/>
                </a:solidFill>
                <a:highlight>
                  <a:srgbClr val="FFFFFF"/>
                </a:highlight>
              </a:rPr>
              <a:t>※ </a:t>
            </a:r>
            <a:r>
              <a:rPr lang="en-US" altLang="ko-KR" sz="900" b="0" dirty="0">
                <a:solidFill>
                  <a:schemeClr val="tx1"/>
                </a:solidFill>
              </a:rPr>
              <a:t>Daily Routing Result Review Meeting</a:t>
            </a:r>
            <a:br>
              <a:rPr lang="en-US" altLang="ko-KR" sz="900" b="0" dirty="0">
                <a:solidFill>
                  <a:schemeClr val="tx1"/>
                </a:solidFill>
              </a:rPr>
            </a:br>
            <a:r>
              <a:rPr lang="en-US" altLang="ko-KR" sz="900" b="0" dirty="0">
                <a:solidFill>
                  <a:schemeClr val="tx1"/>
                </a:solidFill>
              </a:rPr>
              <a:t> - Note them this change, not to change or save until distribute the calls</a:t>
            </a:r>
            <a:br>
              <a:rPr lang="en-US" altLang="ko-KR" sz="900" b="0" dirty="0">
                <a:solidFill>
                  <a:schemeClr val="tx1"/>
                </a:solidFill>
              </a:rPr>
            </a:br>
            <a:r>
              <a:rPr lang="en-US" altLang="ko-KR" sz="900" b="0" dirty="0">
                <a:solidFill>
                  <a:schemeClr val="tx1"/>
                </a:solidFill>
              </a:rPr>
              <a:t> - PH team, HSV, ATL RSM ASM daily review with HQ Data Analytics team for routing result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01A5D5-E0E7-7E25-CC1E-EF4D548775C9}"/>
              </a:ext>
            </a:extLst>
          </p:cNvPr>
          <p:cNvSpPr txBox="1"/>
          <p:nvPr/>
        </p:nvSpPr>
        <p:spPr>
          <a:xfrm>
            <a:off x="6666866" y="2844267"/>
            <a:ext cx="2369555" cy="981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DMS PTO, leave check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(check with slot count for next day)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on 3PM HSV download GSFS dispatch cases data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→ input on routing algorithm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Based on AI routing, distribute calls to each tech</a:t>
            </a:r>
          </a:p>
          <a:p>
            <a:pPr>
              <a:buNone/>
            </a:pPr>
            <a:endParaRPr lang="en-US" altLang="ko-KR" sz="900" b="0" dirty="0">
              <a:solidFill>
                <a:srgbClr val="0066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47D407-DD3E-A340-9706-3C3E93485B53}"/>
              </a:ext>
            </a:extLst>
          </p:cNvPr>
          <p:cNvSpPr txBox="1"/>
          <p:nvPr/>
        </p:nvSpPr>
        <p:spPr>
          <a:xfrm>
            <a:off x="4548997" y="2844267"/>
            <a:ext cx="1435556" cy="3166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Light duty tech P/S for all ATL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dispatch cases (GSFS)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1E325-7098-9B60-EA55-47C37D4D65B6}"/>
              </a:ext>
            </a:extLst>
          </p:cNvPr>
          <p:cNvSpPr txBox="1"/>
          <p:nvPr/>
        </p:nvSpPr>
        <p:spPr>
          <a:xfrm>
            <a:off x="6671310" y="5899391"/>
            <a:ext cx="1435556" cy="4828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Based on Promise date, D-1 light duty tech P/S &amp; part order before 3pm</a:t>
            </a:r>
          </a:p>
        </p:txBody>
      </p:sp>
      <p:sp>
        <p:nvSpPr>
          <p:cNvPr id="25" name="Diamond 21">
            <a:extLst>
              <a:ext uri="{FF2B5EF4-FFF2-40B4-BE49-F238E27FC236}">
                <a16:creationId xmlns:a16="http://schemas.microsoft.com/office/drawing/2014/main" id="{AB6DF871-5248-A8B2-83B3-FDE661CA6DE8}"/>
              </a:ext>
            </a:extLst>
          </p:cNvPr>
          <p:cNvSpPr/>
          <p:nvPr/>
        </p:nvSpPr>
        <p:spPr>
          <a:xfrm>
            <a:off x="8348893" y="1494269"/>
            <a:ext cx="72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Algorithm</a:t>
            </a:r>
          </a:p>
        </p:txBody>
      </p:sp>
      <p:sp>
        <p:nvSpPr>
          <p:cNvPr id="34" name="Diamond 21">
            <a:extLst>
              <a:ext uri="{FF2B5EF4-FFF2-40B4-BE49-F238E27FC236}">
                <a16:creationId xmlns:a16="http://schemas.microsoft.com/office/drawing/2014/main" id="{813F46C1-5832-3A70-BFFA-FF4E128C1C88}"/>
              </a:ext>
            </a:extLst>
          </p:cNvPr>
          <p:cNvSpPr/>
          <p:nvPr/>
        </p:nvSpPr>
        <p:spPr>
          <a:xfrm>
            <a:off x="8348891" y="2396431"/>
            <a:ext cx="72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Analysis Server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91B71A8B-8BED-7BF7-8F52-7F3E3B5E1D87}"/>
              </a:ext>
            </a:extLst>
          </p:cNvPr>
          <p:cNvCxnSpPr>
            <a:cxnSpLocks/>
            <a:stCxn id="21" idx="0"/>
            <a:endCxn id="25" idx="0"/>
          </p:cNvCxnSpPr>
          <p:nvPr/>
        </p:nvCxnSpPr>
        <p:spPr>
          <a:xfrm rot="5400000" flipH="1" flipV="1">
            <a:off x="8050102" y="835478"/>
            <a:ext cx="12700" cy="1317582"/>
          </a:xfrm>
          <a:prstGeom prst="bentConnector3">
            <a:avLst>
              <a:gd name="adj1" fmla="val 1800000"/>
            </a:avLst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DBDEBEF7-B965-262D-57E4-D19A6D9EF485}"/>
              </a:ext>
            </a:extLst>
          </p:cNvPr>
          <p:cNvCxnSpPr>
            <a:cxnSpLocks/>
            <a:stCxn id="34" idx="2"/>
            <a:endCxn id="21" idx="3"/>
          </p:cNvCxnSpPr>
          <p:nvPr/>
        </p:nvCxnSpPr>
        <p:spPr>
          <a:xfrm rot="5400000" flipH="1">
            <a:off x="8094020" y="1961560"/>
            <a:ext cx="632162" cy="597580"/>
          </a:xfrm>
          <a:prstGeom prst="bentConnector4">
            <a:avLst>
              <a:gd name="adj1" fmla="val -36162"/>
              <a:gd name="adj2" fmla="val 80121"/>
            </a:avLst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385C5F7-D895-E3EB-E209-488C5EEA70D1}"/>
              </a:ext>
            </a:extLst>
          </p:cNvPr>
          <p:cNvSpPr txBox="1"/>
          <p:nvPr/>
        </p:nvSpPr>
        <p:spPr>
          <a:xfrm>
            <a:off x="8787686" y="2613001"/>
            <a:ext cx="2369555" cy="15042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en-US" altLang="ko-KR" sz="900" b="0" dirty="0">
                <a:solidFill>
                  <a:srgbClr val="006600"/>
                </a:solidFill>
              </a:rPr>
              <a:t>Routing result by DMS (Repair Route / Order)</a:t>
            </a:r>
          </a:p>
        </p:txBody>
      </p:sp>
    </p:spTree>
    <p:extLst>
      <p:ext uri="{BB962C8B-B14F-4D97-AF65-F5344CB8AC3E}">
        <p14:creationId xmlns:p14="http://schemas.microsoft.com/office/powerpoint/2010/main" val="361220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61159A-A3A8-59CD-FF0E-E70471B8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7D45BC-BA25-C02D-BAF6-C453D9EAB08F}"/>
              </a:ext>
            </a:extLst>
          </p:cNvPr>
          <p:cNvSpPr txBox="1"/>
          <p:nvPr/>
        </p:nvSpPr>
        <p:spPr>
          <a:xfrm>
            <a:off x="154563" y="108750"/>
            <a:ext cx="3454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Appendix.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미국 지능형 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T/T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운영 프로세스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759759-F607-AAE3-03E9-18DF236FE0F4}"/>
              </a:ext>
            </a:extLst>
          </p:cNvPr>
          <p:cNvSpPr txBox="1"/>
          <p:nvPr/>
        </p:nvSpPr>
        <p:spPr>
          <a:xfrm>
            <a:off x="5787262" y="6620964"/>
            <a:ext cx="617477" cy="161583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pPr algn="ctr"/>
            <a:r>
              <a:rPr lang="en-US" altLang="ko-KR" sz="105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Apx 1 / 1</a:t>
            </a:r>
            <a:endParaRPr lang="ko-KR" altLang="en-US" sz="105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8" name="Straight Arrow Connector 20">
            <a:extLst>
              <a:ext uri="{FF2B5EF4-FFF2-40B4-BE49-F238E27FC236}">
                <a16:creationId xmlns:a16="http://schemas.microsoft.com/office/drawing/2014/main" id="{FBE8EEEE-1065-2552-F64D-AA5ED56B0609}"/>
              </a:ext>
            </a:extLst>
          </p:cNvPr>
          <p:cNvCxnSpPr>
            <a:cxnSpLocks/>
            <a:stCxn id="28" idx="2"/>
            <a:endCxn id="69" idx="0"/>
          </p:cNvCxnSpPr>
          <p:nvPr/>
        </p:nvCxnSpPr>
        <p:spPr bwMode="auto">
          <a:xfrm>
            <a:off x="7365591" y="2917090"/>
            <a:ext cx="2" cy="1175373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E2E7D38-41FC-C928-D1F6-35F24471B646}"/>
              </a:ext>
            </a:extLst>
          </p:cNvPr>
          <p:cNvSpPr txBox="1"/>
          <p:nvPr/>
        </p:nvSpPr>
        <p:spPr>
          <a:xfrm>
            <a:off x="200449" y="1349888"/>
            <a:ext cx="973343" cy="346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Process 】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Diamond 21">
            <a:extLst>
              <a:ext uri="{FF2B5EF4-FFF2-40B4-BE49-F238E27FC236}">
                <a16:creationId xmlns:a16="http://schemas.microsoft.com/office/drawing/2014/main" id="{8C139E1F-3A84-49D7-CCF4-54888FD93AD3}"/>
              </a:ext>
            </a:extLst>
          </p:cNvPr>
          <p:cNvSpPr/>
          <p:nvPr/>
        </p:nvSpPr>
        <p:spPr>
          <a:xfrm>
            <a:off x="200449" y="1834928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 접수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Diamond 21">
            <a:extLst>
              <a:ext uri="{FF2B5EF4-FFF2-40B4-BE49-F238E27FC236}">
                <a16:creationId xmlns:a16="http://schemas.microsoft.com/office/drawing/2014/main" id="{65871BC8-7F09-12FB-FD93-6EDE0B028E97}"/>
              </a:ext>
            </a:extLst>
          </p:cNvPr>
          <p:cNvSpPr/>
          <p:nvPr/>
        </p:nvSpPr>
        <p:spPr>
          <a:xfrm>
            <a:off x="4411013" y="4092463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고객 방문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7" name="Straight Arrow Connector 20">
            <a:extLst>
              <a:ext uri="{FF2B5EF4-FFF2-40B4-BE49-F238E27FC236}">
                <a16:creationId xmlns:a16="http://schemas.microsoft.com/office/drawing/2014/main" id="{CDBB8C2F-7C4D-74E8-24FD-555391A6C272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 bwMode="auto">
          <a:xfrm flipV="1">
            <a:off x="1640449" y="2284927"/>
            <a:ext cx="682312" cy="1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20">
            <a:extLst>
              <a:ext uri="{FF2B5EF4-FFF2-40B4-BE49-F238E27FC236}">
                <a16:creationId xmlns:a16="http://schemas.microsoft.com/office/drawing/2014/main" id="{FB1C2220-AD41-C625-7BFF-1D31011C05D9}"/>
              </a:ext>
            </a:extLst>
          </p:cNvPr>
          <p:cNvCxnSpPr>
            <a:cxnSpLocks/>
            <a:stCxn id="17" idx="3"/>
            <a:endCxn id="30" idx="1"/>
          </p:cNvCxnSpPr>
          <p:nvPr/>
        </p:nvCxnSpPr>
        <p:spPr bwMode="auto">
          <a:xfrm>
            <a:off x="3762761" y="2284927"/>
            <a:ext cx="682314" cy="1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Diamond 21">
            <a:extLst>
              <a:ext uri="{FF2B5EF4-FFF2-40B4-BE49-F238E27FC236}">
                <a16:creationId xmlns:a16="http://schemas.microsoft.com/office/drawing/2014/main" id="{6FBD266F-DABB-4142-0B07-6398C2BEC555}"/>
              </a:ext>
            </a:extLst>
          </p:cNvPr>
          <p:cNvSpPr/>
          <p:nvPr/>
        </p:nvSpPr>
        <p:spPr>
          <a:xfrm>
            <a:off x="2322761" y="1834927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배정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모서리가 둥근 직사각형 3">
            <a:extLst>
              <a:ext uri="{FF2B5EF4-FFF2-40B4-BE49-F238E27FC236}">
                <a16:creationId xmlns:a16="http://schemas.microsoft.com/office/drawing/2014/main" id="{1DAA585D-A5E5-D63D-E437-1D54CAC9CE21}"/>
              </a:ext>
            </a:extLst>
          </p:cNvPr>
          <p:cNvSpPr/>
          <p:nvPr/>
        </p:nvSpPr>
        <p:spPr bwMode="auto">
          <a:xfrm>
            <a:off x="2322761" y="1834928"/>
            <a:ext cx="180000" cy="18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11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endParaRPr lang="ko-KR" altLang="en-US" sz="1100" b="1" kern="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Diamond 21">
            <a:extLst>
              <a:ext uri="{FF2B5EF4-FFF2-40B4-BE49-F238E27FC236}">
                <a16:creationId xmlns:a16="http://schemas.microsoft.com/office/drawing/2014/main" id="{FC64895D-F1D2-55C9-C04F-68DFE9871238}"/>
              </a:ext>
            </a:extLst>
          </p:cNvPr>
          <p:cNvSpPr/>
          <p:nvPr/>
        </p:nvSpPr>
        <p:spPr>
          <a:xfrm>
            <a:off x="6645593" y="1834928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시스템 최적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Routing
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수신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DMS 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 배정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3" name="모서리가 둥근 직사각형 3">
            <a:extLst>
              <a:ext uri="{FF2B5EF4-FFF2-40B4-BE49-F238E27FC236}">
                <a16:creationId xmlns:a16="http://schemas.microsoft.com/office/drawing/2014/main" id="{3F7DED61-6E9C-4BEC-3D43-6A66C402E4D6}"/>
              </a:ext>
            </a:extLst>
          </p:cNvPr>
          <p:cNvSpPr/>
          <p:nvPr/>
        </p:nvSpPr>
        <p:spPr bwMode="auto">
          <a:xfrm>
            <a:off x="6645591" y="1834928"/>
            <a:ext cx="180000" cy="18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11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endParaRPr lang="ko-KR" altLang="en-US" sz="1100" b="1" kern="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9272E-2BF0-C980-DF21-83392C06B106}"/>
              </a:ext>
            </a:extLst>
          </p:cNvPr>
          <p:cNvSpPr txBox="1"/>
          <p:nvPr/>
        </p:nvSpPr>
        <p:spPr>
          <a:xfrm>
            <a:off x="2085179" y="3037121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D-N</a:t>
            </a:r>
            <a:r>
              <a:rPr lang="ko-KR" altLang="en-US" sz="1000" dirty="0">
                <a:solidFill>
                  <a:srgbClr val="C00000"/>
                </a:solidFill>
              </a:rPr>
              <a:t>일</a:t>
            </a:r>
            <a:endParaRPr lang="en-US" altLang="ko-KR" sz="1000" dirty="0">
              <a:solidFill>
                <a:srgbClr val="C00000"/>
              </a:solidFill>
            </a:endParaRPr>
          </a:p>
        </p:txBody>
      </p:sp>
      <p:sp>
        <p:nvSpPr>
          <p:cNvPr id="30" name="Diamond 21">
            <a:extLst>
              <a:ext uri="{FF2B5EF4-FFF2-40B4-BE49-F238E27FC236}">
                <a16:creationId xmlns:a16="http://schemas.microsoft.com/office/drawing/2014/main" id="{CE88D9F4-5A50-3AA7-A46D-6FA2CA24E81D}"/>
              </a:ext>
            </a:extLst>
          </p:cNvPr>
          <p:cNvSpPr/>
          <p:nvPr/>
        </p:nvSpPr>
        <p:spPr>
          <a:xfrm>
            <a:off x="4445075" y="1834928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Pre-screen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설명 처리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" name="모서리가 둥근 직사각형 3">
            <a:extLst>
              <a:ext uri="{FF2B5EF4-FFF2-40B4-BE49-F238E27FC236}">
                <a16:creationId xmlns:a16="http://schemas.microsoft.com/office/drawing/2014/main" id="{1B6297B5-758E-9392-FFBF-0464D42C0A83}"/>
              </a:ext>
            </a:extLst>
          </p:cNvPr>
          <p:cNvSpPr/>
          <p:nvPr/>
        </p:nvSpPr>
        <p:spPr bwMode="auto">
          <a:xfrm>
            <a:off x="4445073" y="1834928"/>
            <a:ext cx="180000" cy="18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11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  <a:endParaRPr lang="ko-KR" altLang="en-US" sz="1100" b="1" kern="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6D212946-84E6-3FF5-7658-0B590663F9E7}"/>
              </a:ext>
            </a:extLst>
          </p:cNvPr>
          <p:cNvCxnSpPr>
            <a:cxnSpLocks/>
            <a:stCxn id="30" idx="3"/>
            <a:endCxn id="21" idx="1"/>
          </p:cNvCxnSpPr>
          <p:nvPr/>
        </p:nvCxnSpPr>
        <p:spPr bwMode="auto">
          <a:xfrm>
            <a:off x="5885075" y="2284928"/>
            <a:ext cx="760518" cy="0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7EDAEB7-A4E7-E2B4-73BC-DC31E7C34151}"/>
              </a:ext>
            </a:extLst>
          </p:cNvPr>
          <p:cNvSpPr txBox="1"/>
          <p:nvPr/>
        </p:nvSpPr>
        <p:spPr>
          <a:xfrm>
            <a:off x="8081148" y="1300135"/>
            <a:ext cx="1915164" cy="35490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D-1 (</a:t>
            </a:r>
            <a:r>
              <a:rPr lang="ko-KR" altLang="en-US" sz="1000" dirty="0">
                <a:solidFill>
                  <a:srgbClr val="C00000"/>
                </a:solidFill>
              </a:rPr>
              <a:t>오후 </a:t>
            </a:r>
            <a:r>
              <a:rPr lang="en-US" altLang="ko-KR" sz="1000" dirty="0">
                <a:solidFill>
                  <a:srgbClr val="C00000"/>
                </a:solidFill>
              </a:rPr>
              <a:t>3</a:t>
            </a:r>
            <a:r>
              <a:rPr lang="ko-KR" altLang="en-US" sz="1000" dirty="0">
                <a:solidFill>
                  <a:srgbClr val="C00000"/>
                </a:solidFill>
              </a:rPr>
              <a:t>시까지 접수 마감</a:t>
            </a:r>
            <a:r>
              <a:rPr lang="en-US" altLang="ko-KR" sz="1000" dirty="0">
                <a:solidFill>
                  <a:srgbClr val="C00000"/>
                </a:solidFill>
              </a:rPr>
              <a:t>,</a:t>
            </a:r>
            <a:br>
              <a:rPr lang="en-US" altLang="ko-KR" sz="1000" dirty="0">
                <a:solidFill>
                  <a:srgbClr val="C00000"/>
                </a:solidFill>
              </a:rPr>
            </a:br>
            <a:r>
              <a:rPr lang="en-US" altLang="ko-KR" sz="1000" dirty="0">
                <a:solidFill>
                  <a:srgbClr val="C00000"/>
                </a:solidFill>
              </a:rPr>
              <a:t>3</a:t>
            </a:r>
            <a:r>
              <a:rPr lang="ko-KR" altLang="en-US" sz="1000" dirty="0">
                <a:solidFill>
                  <a:srgbClr val="C00000"/>
                </a:solidFill>
              </a:rPr>
              <a:t>시에 라우팅</a:t>
            </a:r>
            <a:r>
              <a:rPr lang="en-US" altLang="ko-KR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98896D-87AD-9BB8-D857-4E25C23081F6}"/>
              </a:ext>
            </a:extLst>
          </p:cNvPr>
          <p:cNvSpPr txBox="1"/>
          <p:nvPr/>
        </p:nvSpPr>
        <p:spPr>
          <a:xfrm>
            <a:off x="4207491" y="3090104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D-N</a:t>
            </a:r>
            <a:r>
              <a:rPr lang="ko-KR" altLang="en-US" sz="1000" dirty="0">
                <a:solidFill>
                  <a:srgbClr val="C00000"/>
                </a:solidFill>
              </a:rPr>
              <a:t>일</a:t>
            </a:r>
            <a:endParaRPr lang="en-US" altLang="ko-KR" sz="1000" dirty="0">
              <a:solidFill>
                <a:srgbClr val="C00000"/>
              </a:solidFill>
            </a:endParaRPr>
          </a:p>
        </p:txBody>
      </p:sp>
      <p:sp>
        <p:nvSpPr>
          <p:cNvPr id="27" name="Diamond 21">
            <a:extLst>
              <a:ext uri="{FF2B5EF4-FFF2-40B4-BE49-F238E27FC236}">
                <a16:creationId xmlns:a16="http://schemas.microsoft.com/office/drawing/2014/main" id="{A8FA5376-D8C6-F534-2B34-3068232A5742}"/>
              </a:ext>
            </a:extLst>
          </p:cNvPr>
          <p:cNvSpPr/>
          <p:nvPr/>
        </p:nvSpPr>
        <p:spPr>
          <a:xfrm>
            <a:off x="2322761" y="2737090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컨택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센터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8" name="Diamond 21">
            <a:extLst>
              <a:ext uri="{FF2B5EF4-FFF2-40B4-BE49-F238E27FC236}">
                <a16:creationId xmlns:a16="http://schemas.microsoft.com/office/drawing/2014/main" id="{64873DA8-77C5-0890-D7BF-F4A8C16B3C7B}"/>
              </a:ext>
            </a:extLst>
          </p:cNvPr>
          <p:cNvSpPr/>
          <p:nvPr/>
        </p:nvSpPr>
        <p:spPr>
          <a:xfrm>
            <a:off x="6645591" y="2737090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GSFS</a:t>
            </a:r>
          </a:p>
        </p:txBody>
      </p:sp>
      <p:sp>
        <p:nvSpPr>
          <p:cNvPr id="39" name="Diamond 21">
            <a:extLst>
              <a:ext uri="{FF2B5EF4-FFF2-40B4-BE49-F238E27FC236}">
                <a16:creationId xmlns:a16="http://schemas.microsoft.com/office/drawing/2014/main" id="{3EDF3842-8705-A08D-47A3-FCDF569803F3}"/>
              </a:ext>
            </a:extLst>
          </p:cNvPr>
          <p:cNvSpPr/>
          <p:nvPr/>
        </p:nvSpPr>
        <p:spPr>
          <a:xfrm>
            <a:off x="4445075" y="2737090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P/S Team (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필리핀 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전담팀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69" name="Diamond 21">
            <a:extLst>
              <a:ext uri="{FF2B5EF4-FFF2-40B4-BE49-F238E27FC236}">
                <a16:creationId xmlns:a16="http://schemas.microsoft.com/office/drawing/2014/main" id="{AA5CE046-A236-BCAC-6265-CF58E386EE96}"/>
              </a:ext>
            </a:extLst>
          </p:cNvPr>
          <p:cNvSpPr/>
          <p:nvPr/>
        </p:nvSpPr>
        <p:spPr>
          <a:xfrm>
            <a:off x="6645593" y="4092463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MCS 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Global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에서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변경된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 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정보 확인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부품 주문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0" name="Diamond 21">
            <a:extLst>
              <a:ext uri="{FF2B5EF4-FFF2-40B4-BE49-F238E27FC236}">
                <a16:creationId xmlns:a16="http://schemas.microsoft.com/office/drawing/2014/main" id="{8DA3CFA5-48F5-7BCE-F8D6-B77EC5572EE1}"/>
              </a:ext>
            </a:extLst>
          </p:cNvPr>
          <p:cNvSpPr/>
          <p:nvPr/>
        </p:nvSpPr>
        <p:spPr>
          <a:xfrm>
            <a:off x="6641148" y="4984322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</a:t>
            </a:r>
          </a:p>
        </p:txBody>
      </p:sp>
      <p:sp>
        <p:nvSpPr>
          <p:cNvPr id="71" name="모서리가 둥근 직사각형 3">
            <a:extLst>
              <a:ext uri="{FF2B5EF4-FFF2-40B4-BE49-F238E27FC236}">
                <a16:creationId xmlns:a16="http://schemas.microsoft.com/office/drawing/2014/main" id="{D74510E1-7404-742F-099D-89DC29E9AE1B}"/>
              </a:ext>
            </a:extLst>
          </p:cNvPr>
          <p:cNvSpPr/>
          <p:nvPr/>
        </p:nvSpPr>
        <p:spPr bwMode="auto">
          <a:xfrm>
            <a:off x="6645591" y="4092463"/>
            <a:ext cx="180000" cy="180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ko-KR" sz="1100" b="1" kern="0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endParaRPr lang="ko-KR" altLang="en-US" sz="1100" b="1" kern="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D30AE7-93A5-58C9-37D8-B5DF05E9F649}"/>
              </a:ext>
            </a:extLst>
          </p:cNvPr>
          <p:cNvSpPr txBox="1"/>
          <p:nvPr/>
        </p:nvSpPr>
        <p:spPr>
          <a:xfrm>
            <a:off x="6408009" y="5337873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D-1 (</a:t>
            </a:r>
            <a:r>
              <a:rPr lang="ko-KR" altLang="en-US" sz="1000" dirty="0">
                <a:solidFill>
                  <a:srgbClr val="C00000"/>
                </a:solidFill>
              </a:rPr>
              <a:t>오후 </a:t>
            </a:r>
            <a:r>
              <a:rPr lang="en-US" altLang="ko-KR" sz="1000" dirty="0">
                <a:solidFill>
                  <a:srgbClr val="C00000"/>
                </a:solidFill>
              </a:rPr>
              <a:t>4</a:t>
            </a:r>
            <a:r>
              <a:rPr lang="ko-KR" altLang="en-US" sz="1000" dirty="0">
                <a:solidFill>
                  <a:srgbClr val="C00000"/>
                </a:solidFill>
              </a:rPr>
              <a:t>시까지</a:t>
            </a:r>
            <a:r>
              <a:rPr lang="en-US" altLang="ko-KR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B54B76-4251-5FB6-12B6-CC488AF2472E}"/>
              </a:ext>
            </a:extLst>
          </p:cNvPr>
          <p:cNvSpPr txBox="1"/>
          <p:nvPr/>
        </p:nvSpPr>
        <p:spPr>
          <a:xfrm>
            <a:off x="4173431" y="5337873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D-Day</a:t>
            </a:r>
          </a:p>
        </p:txBody>
      </p:sp>
      <p:sp>
        <p:nvSpPr>
          <p:cNvPr id="31" name="Diamond 21">
            <a:extLst>
              <a:ext uri="{FF2B5EF4-FFF2-40B4-BE49-F238E27FC236}">
                <a16:creationId xmlns:a16="http://schemas.microsoft.com/office/drawing/2014/main" id="{88F0944B-8155-C870-AE44-236963E64067}"/>
              </a:ext>
            </a:extLst>
          </p:cNvPr>
          <p:cNvSpPr/>
          <p:nvPr/>
        </p:nvSpPr>
        <p:spPr>
          <a:xfrm>
            <a:off x="4411013" y="4984322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</a:t>
            </a:r>
          </a:p>
        </p:txBody>
      </p:sp>
      <p:sp>
        <p:nvSpPr>
          <p:cNvPr id="29" name="Diamond 21">
            <a:extLst>
              <a:ext uri="{FF2B5EF4-FFF2-40B4-BE49-F238E27FC236}">
                <a16:creationId xmlns:a16="http://schemas.microsoft.com/office/drawing/2014/main" id="{3DB4288C-AF89-2C31-A57A-B2A53FB2DF5E}"/>
              </a:ext>
            </a:extLst>
          </p:cNvPr>
          <p:cNvSpPr/>
          <p:nvPr/>
        </p:nvSpPr>
        <p:spPr>
          <a:xfrm>
            <a:off x="200449" y="2737090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컨택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센터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8CA7D-F35B-944B-490D-29D436AD7275}"/>
              </a:ext>
            </a:extLst>
          </p:cNvPr>
          <p:cNvSpPr txBox="1"/>
          <p:nvPr/>
        </p:nvSpPr>
        <p:spPr>
          <a:xfrm>
            <a:off x="2085179" y="3267556"/>
            <a:ext cx="2005552" cy="283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ko-KR" altLang="en-US" sz="800" b="0" dirty="0">
                <a:solidFill>
                  <a:srgbClr val="CC0066"/>
                </a:solidFill>
              </a:rPr>
              <a:t>지금과 동일하면 </a:t>
            </a:r>
            <a:r>
              <a:rPr lang="en-US" altLang="ko-KR" sz="800" b="0" dirty="0">
                <a:solidFill>
                  <a:srgbClr val="CC0066"/>
                </a:solidFill>
              </a:rPr>
              <a:t>Atlanta City</a:t>
            </a:r>
            <a:r>
              <a:rPr lang="ko-KR" altLang="en-US" sz="800" b="0" dirty="0">
                <a:solidFill>
                  <a:srgbClr val="CC0066"/>
                </a:solidFill>
              </a:rPr>
              <a:t>의 전체 </a:t>
            </a:r>
            <a:r>
              <a:rPr lang="en-US" altLang="ko-KR" sz="800" b="0" dirty="0">
                <a:solidFill>
                  <a:srgbClr val="CC0066"/>
                </a:solidFill>
              </a:rPr>
              <a:t>DMS</a:t>
            </a:r>
            <a:r>
              <a:rPr lang="ko-KR" altLang="en-US" sz="800" b="0" dirty="0">
                <a:solidFill>
                  <a:srgbClr val="CC0066"/>
                </a:solidFill>
              </a:rPr>
              <a:t>는 전체 </a:t>
            </a:r>
            <a:r>
              <a:rPr lang="en-US" altLang="ko-KR" sz="800" b="0" dirty="0">
                <a:solidFill>
                  <a:srgbClr val="CC0066"/>
                </a:solidFill>
              </a:rPr>
              <a:t>Postal code</a:t>
            </a:r>
            <a:r>
              <a:rPr lang="ko-KR" altLang="en-US" sz="800" b="0" dirty="0">
                <a:solidFill>
                  <a:srgbClr val="CC0066"/>
                </a:solidFill>
              </a:rPr>
              <a:t>를 </a:t>
            </a:r>
            <a:r>
              <a:rPr lang="en-US" altLang="ko-KR" sz="800" b="0" dirty="0">
                <a:solidFill>
                  <a:srgbClr val="CC0066"/>
                </a:solidFill>
              </a:rPr>
              <a:t>coverage</a:t>
            </a:r>
            <a:r>
              <a:rPr lang="ko-KR" altLang="en-US" sz="800" b="0" dirty="0">
                <a:solidFill>
                  <a:srgbClr val="CC0066"/>
                </a:solidFill>
              </a:rPr>
              <a:t>로 변경 </a:t>
            </a:r>
            <a:r>
              <a:rPr lang="en-US" altLang="ko-KR" sz="800" b="0" dirty="0">
                <a:solidFill>
                  <a:srgbClr val="CC0066"/>
                </a:solidFill>
              </a:rPr>
              <a:t>(LGEAI, </a:t>
            </a:r>
            <a:r>
              <a:rPr lang="ko-KR" altLang="en-US" sz="800" b="0" dirty="0">
                <a:solidFill>
                  <a:srgbClr val="CC0066"/>
                </a:solidFill>
              </a:rPr>
              <a:t>설정 변경</a:t>
            </a:r>
            <a:r>
              <a:rPr lang="en-US" altLang="ko-KR" sz="800" b="0" dirty="0">
                <a:solidFill>
                  <a:srgbClr val="CC0066"/>
                </a:solidFill>
              </a:rPr>
              <a:t>)</a:t>
            </a:r>
          </a:p>
        </p:txBody>
      </p:sp>
      <p:cxnSp>
        <p:nvCxnSpPr>
          <p:cNvPr id="13" name="Straight Arrow Connector 20">
            <a:extLst>
              <a:ext uri="{FF2B5EF4-FFF2-40B4-BE49-F238E27FC236}">
                <a16:creationId xmlns:a16="http://schemas.microsoft.com/office/drawing/2014/main" id="{3775AEB1-FF44-4E44-15A2-DFEB091B6F2C}"/>
              </a:ext>
            </a:extLst>
          </p:cNvPr>
          <p:cNvCxnSpPr>
            <a:cxnSpLocks/>
            <a:stCxn id="69" idx="1"/>
            <a:endCxn id="5" idx="3"/>
          </p:cNvCxnSpPr>
          <p:nvPr/>
        </p:nvCxnSpPr>
        <p:spPr bwMode="auto">
          <a:xfrm flipH="1">
            <a:off x="5851013" y="4542463"/>
            <a:ext cx="794580" cy="0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Diamond 21">
            <a:extLst>
              <a:ext uri="{FF2B5EF4-FFF2-40B4-BE49-F238E27FC236}">
                <a16:creationId xmlns:a16="http://schemas.microsoft.com/office/drawing/2014/main" id="{D7D553A3-C627-799D-6FEC-F0B8ECEDB142}"/>
              </a:ext>
            </a:extLst>
          </p:cNvPr>
          <p:cNvSpPr/>
          <p:nvPr/>
        </p:nvSpPr>
        <p:spPr>
          <a:xfrm>
            <a:off x="9919571" y="1834927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수리 </a:t>
            </a:r>
            <a:r>
              <a:rPr lang="ko-KR" altLang="en-US" sz="900" b="1" dirty="0" err="1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기사별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최적 수리 배분 </a:t>
            </a:r>
            <a:endParaRPr lang="en-US" altLang="ko-KR" sz="900" b="1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</a:t>
            </a: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Routing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Diamond 21">
            <a:extLst>
              <a:ext uri="{FF2B5EF4-FFF2-40B4-BE49-F238E27FC236}">
                <a16:creationId xmlns:a16="http://schemas.microsoft.com/office/drawing/2014/main" id="{BC28DBE6-C887-32FB-AD8D-7EED31BE0014}"/>
              </a:ext>
            </a:extLst>
          </p:cNvPr>
          <p:cNvSpPr/>
          <p:nvPr/>
        </p:nvSpPr>
        <p:spPr>
          <a:xfrm>
            <a:off x="9919571" y="2726786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분석 시스템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34" name="Straight Arrow Connector 20">
            <a:extLst>
              <a:ext uri="{FF2B5EF4-FFF2-40B4-BE49-F238E27FC236}">
                <a16:creationId xmlns:a16="http://schemas.microsoft.com/office/drawing/2014/main" id="{AF66D73D-DC91-8E97-F844-BEB93F6E6248}"/>
              </a:ext>
            </a:extLst>
          </p:cNvPr>
          <p:cNvCxnSpPr>
            <a:cxnSpLocks/>
          </p:cNvCxnSpPr>
          <p:nvPr/>
        </p:nvCxnSpPr>
        <p:spPr bwMode="auto">
          <a:xfrm flipH="1">
            <a:off x="8247575" y="1891505"/>
            <a:ext cx="1407648" cy="0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7F85373-BDB4-8FA7-B91F-87E973D69CAF}"/>
              </a:ext>
            </a:extLst>
          </p:cNvPr>
          <p:cNvSpPr txBox="1"/>
          <p:nvPr/>
        </p:nvSpPr>
        <p:spPr>
          <a:xfrm>
            <a:off x="8171387" y="1946684"/>
            <a:ext cx="2005552" cy="283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ko-KR" altLang="en-US" sz="800" b="0" dirty="0">
                <a:solidFill>
                  <a:srgbClr val="006600"/>
                </a:solidFill>
              </a:rPr>
              <a:t>① </a:t>
            </a:r>
            <a:r>
              <a:rPr lang="en-US" altLang="ko-KR" sz="800" b="0" dirty="0">
                <a:solidFill>
                  <a:srgbClr val="006600"/>
                </a:solidFill>
              </a:rPr>
              <a:t>API </a:t>
            </a:r>
            <a:r>
              <a:rPr lang="ko-KR" altLang="en-US" sz="800" b="0" dirty="0">
                <a:solidFill>
                  <a:srgbClr val="006600"/>
                </a:solidFill>
              </a:rPr>
              <a:t>호출 </a:t>
            </a:r>
            <a:r>
              <a:rPr lang="en-US" altLang="ko-KR" sz="800" b="0" dirty="0">
                <a:solidFill>
                  <a:srgbClr val="006600"/>
                </a:solidFill>
              </a:rPr>
              <a:t>(Promise date, </a:t>
            </a:r>
            <a:r>
              <a:rPr lang="ko-KR" altLang="en-US" sz="800" b="0" dirty="0">
                <a:solidFill>
                  <a:srgbClr val="006600"/>
                </a:solidFill>
              </a:rPr>
              <a:t>수리 기사 </a:t>
            </a:r>
            <a:r>
              <a:rPr lang="en-US" altLang="ko-KR" sz="800" b="0" dirty="0">
                <a:solidFill>
                  <a:srgbClr val="006600"/>
                </a:solidFill>
              </a:rPr>
              <a:t>ID</a:t>
            </a:r>
            <a:r>
              <a:rPr lang="ko-KR" altLang="en-US" sz="800" b="0" dirty="0">
                <a:solidFill>
                  <a:srgbClr val="006600"/>
                </a:solidFill>
              </a:rPr>
              <a:t>들</a:t>
            </a:r>
            <a:r>
              <a:rPr lang="en-US" altLang="ko-KR" sz="800" b="0" dirty="0">
                <a:solidFill>
                  <a:srgbClr val="006600"/>
                </a:solidFill>
              </a:rPr>
              <a:t>) </a:t>
            </a:r>
            <a:br>
              <a:rPr lang="en-US" altLang="ko-KR" sz="800" b="0" dirty="0">
                <a:solidFill>
                  <a:srgbClr val="006600"/>
                </a:solidFill>
              </a:rPr>
            </a:br>
            <a:r>
              <a:rPr lang="en-US" altLang="ko-KR" sz="800" b="0" dirty="0">
                <a:solidFill>
                  <a:srgbClr val="006600"/>
                </a:solidFill>
              </a:rPr>
              <a:t>     </a:t>
            </a:r>
            <a:r>
              <a:rPr lang="ko-KR" altLang="en-US" sz="800" b="0" dirty="0">
                <a:solidFill>
                  <a:srgbClr val="006600"/>
                </a:solidFill>
              </a:rPr>
              <a:t>매일    미국 시간 기준 </a:t>
            </a:r>
            <a:r>
              <a:rPr lang="en-US" altLang="ko-KR" sz="800" b="0" dirty="0">
                <a:solidFill>
                  <a:srgbClr val="006600"/>
                </a:solidFill>
              </a:rPr>
              <a:t>15:05 </a:t>
            </a:r>
            <a:r>
              <a:rPr lang="ko-KR" altLang="en-US" sz="800" b="0" dirty="0">
                <a:solidFill>
                  <a:srgbClr val="006600"/>
                </a:solidFill>
              </a:rPr>
              <a:t>호출 예정</a:t>
            </a:r>
            <a:endParaRPr lang="en-US" altLang="ko-KR" sz="800" b="0" dirty="0">
              <a:solidFill>
                <a:srgbClr val="0066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C7CF95-C6D4-DCF1-9A24-796ED67C7158}"/>
              </a:ext>
            </a:extLst>
          </p:cNvPr>
          <p:cNvSpPr txBox="1"/>
          <p:nvPr/>
        </p:nvSpPr>
        <p:spPr>
          <a:xfrm>
            <a:off x="8171387" y="2351095"/>
            <a:ext cx="2005552" cy="283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ko-KR" altLang="en-US" sz="800" b="0" dirty="0">
                <a:solidFill>
                  <a:srgbClr val="006600"/>
                </a:solidFill>
              </a:rPr>
              <a:t>② </a:t>
            </a:r>
            <a:r>
              <a:rPr lang="en-US" altLang="ko-KR" sz="800" b="0" dirty="0">
                <a:solidFill>
                  <a:srgbClr val="006600"/>
                </a:solidFill>
              </a:rPr>
              <a:t>API </a:t>
            </a:r>
            <a:r>
              <a:rPr lang="ko-KR" altLang="en-US" sz="800" b="0" dirty="0">
                <a:solidFill>
                  <a:srgbClr val="006600"/>
                </a:solidFill>
              </a:rPr>
              <a:t>회신 </a:t>
            </a:r>
            <a:r>
              <a:rPr lang="en-US" altLang="ko-KR" sz="800" b="0" dirty="0">
                <a:solidFill>
                  <a:srgbClr val="006600"/>
                </a:solidFill>
              </a:rPr>
              <a:t>(</a:t>
            </a:r>
            <a:r>
              <a:rPr lang="ko-KR" altLang="en-US" sz="800" b="0" dirty="0">
                <a:solidFill>
                  <a:srgbClr val="006600"/>
                </a:solidFill>
              </a:rPr>
              <a:t>① 대상 수리 리스트 </a:t>
            </a:r>
            <a:br>
              <a:rPr lang="en-US" altLang="ko-KR" sz="800" b="0" dirty="0">
                <a:solidFill>
                  <a:srgbClr val="006600"/>
                </a:solidFill>
              </a:rPr>
            </a:br>
            <a:r>
              <a:rPr lang="en-US" altLang="ko-KR" sz="800" b="0" dirty="0">
                <a:solidFill>
                  <a:srgbClr val="006600"/>
                </a:solidFill>
              </a:rPr>
              <a:t>           + </a:t>
            </a:r>
            <a:r>
              <a:rPr lang="ko-KR" altLang="en-US" sz="800" b="0" dirty="0">
                <a:solidFill>
                  <a:srgbClr val="006600"/>
                </a:solidFill>
              </a:rPr>
              <a:t>수리기사별 수리 가능 제품 마스터</a:t>
            </a:r>
            <a:r>
              <a:rPr lang="en-US" altLang="ko-KR" sz="800" b="0" dirty="0">
                <a:solidFill>
                  <a:srgbClr val="006600"/>
                </a:solidFill>
              </a:rPr>
              <a:t>)</a:t>
            </a:r>
          </a:p>
        </p:txBody>
      </p:sp>
      <p:cxnSp>
        <p:nvCxnSpPr>
          <p:cNvPr id="44" name="Straight Arrow Connector 20">
            <a:extLst>
              <a:ext uri="{FF2B5EF4-FFF2-40B4-BE49-F238E27FC236}">
                <a16:creationId xmlns:a16="http://schemas.microsoft.com/office/drawing/2014/main" id="{C5CA4BA8-AF40-3E6C-1C2F-56DE1050F7EF}"/>
              </a:ext>
            </a:extLst>
          </p:cNvPr>
          <p:cNvCxnSpPr>
            <a:cxnSpLocks/>
          </p:cNvCxnSpPr>
          <p:nvPr/>
        </p:nvCxnSpPr>
        <p:spPr bwMode="auto">
          <a:xfrm flipH="1">
            <a:off x="8247575" y="2710384"/>
            <a:ext cx="1407648" cy="0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5ED3380-F5A1-0585-BFC8-01C5B183080B}"/>
              </a:ext>
            </a:extLst>
          </p:cNvPr>
          <p:cNvSpPr txBox="1"/>
          <p:nvPr/>
        </p:nvSpPr>
        <p:spPr>
          <a:xfrm>
            <a:off x="8171387" y="2765563"/>
            <a:ext cx="2005552" cy="1362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ko-KR" altLang="en-US" sz="800" b="0" dirty="0">
                <a:solidFill>
                  <a:srgbClr val="006600"/>
                </a:solidFill>
              </a:rPr>
              <a:t>③ </a:t>
            </a:r>
            <a:r>
              <a:rPr lang="en-US" altLang="ko-KR" sz="800" b="0" dirty="0">
                <a:solidFill>
                  <a:srgbClr val="006600"/>
                </a:solidFill>
              </a:rPr>
              <a:t>API </a:t>
            </a:r>
            <a:r>
              <a:rPr lang="ko-KR" altLang="en-US" sz="800" b="0" dirty="0">
                <a:solidFill>
                  <a:srgbClr val="006600"/>
                </a:solidFill>
              </a:rPr>
              <a:t>호출 </a:t>
            </a:r>
            <a:r>
              <a:rPr lang="en-US" altLang="ko-KR" sz="800" b="0" dirty="0">
                <a:solidFill>
                  <a:srgbClr val="006600"/>
                </a:solidFill>
              </a:rPr>
              <a:t>(DMS </a:t>
            </a:r>
            <a:r>
              <a:rPr lang="ko-KR" altLang="en-US" sz="800" b="0" dirty="0">
                <a:solidFill>
                  <a:srgbClr val="006600"/>
                </a:solidFill>
              </a:rPr>
              <a:t>최적 </a:t>
            </a:r>
            <a:r>
              <a:rPr lang="ko-KR" altLang="en-US" sz="800" b="0" dirty="0" err="1">
                <a:solidFill>
                  <a:srgbClr val="006600"/>
                </a:solidFill>
              </a:rPr>
              <a:t>수리건</a:t>
            </a:r>
            <a:r>
              <a:rPr lang="ko-KR" altLang="en-US" sz="800" b="0" dirty="0">
                <a:solidFill>
                  <a:srgbClr val="006600"/>
                </a:solidFill>
              </a:rPr>
              <a:t> 및 순서 전송</a:t>
            </a:r>
            <a:r>
              <a:rPr lang="en-US" altLang="ko-KR" sz="800" b="0" dirty="0">
                <a:solidFill>
                  <a:srgbClr val="006600"/>
                </a:solidFill>
              </a:rPr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8BAF24-2302-8969-BF60-8239E1808AF8}"/>
              </a:ext>
            </a:extLst>
          </p:cNvPr>
          <p:cNvSpPr txBox="1"/>
          <p:nvPr/>
        </p:nvSpPr>
        <p:spPr>
          <a:xfrm>
            <a:off x="6762357" y="2478186"/>
            <a:ext cx="1244658" cy="1362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ko-KR" altLang="en-US" sz="800" b="0" dirty="0">
                <a:solidFill>
                  <a:srgbClr val="006600"/>
                </a:solidFill>
              </a:rPr>
              <a:t>④ 수리 </a:t>
            </a:r>
            <a:r>
              <a:rPr lang="ko-KR" altLang="en-US" sz="800" b="0" dirty="0" err="1">
                <a:solidFill>
                  <a:srgbClr val="006600"/>
                </a:solidFill>
              </a:rPr>
              <a:t>기사별</a:t>
            </a:r>
            <a:r>
              <a:rPr lang="ko-KR" altLang="en-US" sz="800" b="0" dirty="0">
                <a:solidFill>
                  <a:srgbClr val="006600"/>
                </a:solidFill>
              </a:rPr>
              <a:t> </a:t>
            </a:r>
            <a:r>
              <a:rPr lang="ko-KR" altLang="en-US" sz="800" b="0" dirty="0" err="1">
                <a:solidFill>
                  <a:srgbClr val="006600"/>
                </a:solidFill>
              </a:rPr>
              <a:t>수리건</a:t>
            </a:r>
            <a:r>
              <a:rPr lang="ko-KR" altLang="en-US" sz="800" b="0" dirty="0">
                <a:solidFill>
                  <a:srgbClr val="006600"/>
                </a:solidFill>
              </a:rPr>
              <a:t> </a:t>
            </a:r>
            <a:r>
              <a:rPr lang="en-US" altLang="ko-KR" sz="800" b="0" dirty="0">
                <a:solidFill>
                  <a:srgbClr val="006600"/>
                </a:solidFill>
              </a:rPr>
              <a:t>update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1274F0-AAC2-004E-4F7C-CD4889EA9307}"/>
              </a:ext>
            </a:extLst>
          </p:cNvPr>
          <p:cNvSpPr txBox="1"/>
          <p:nvPr/>
        </p:nvSpPr>
        <p:spPr>
          <a:xfrm>
            <a:off x="6248303" y="3312586"/>
            <a:ext cx="2643030" cy="283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ko-KR" altLang="en-US" sz="800" b="0" dirty="0">
                <a:solidFill>
                  <a:srgbClr val="006600"/>
                </a:solidFill>
              </a:rPr>
              <a:t>⑤ </a:t>
            </a:r>
            <a:r>
              <a:rPr lang="en-US" altLang="ko-KR" sz="800" b="0" dirty="0">
                <a:solidFill>
                  <a:srgbClr val="006600"/>
                </a:solidFill>
              </a:rPr>
              <a:t>“</a:t>
            </a:r>
            <a:r>
              <a:rPr lang="ko-KR" altLang="en-US" sz="800" b="0" dirty="0">
                <a:solidFill>
                  <a:srgbClr val="006600"/>
                </a:solidFill>
              </a:rPr>
              <a:t>④ 수행 전</a:t>
            </a:r>
            <a:r>
              <a:rPr lang="en-US" altLang="ko-KR" sz="800" b="0" dirty="0">
                <a:solidFill>
                  <a:srgbClr val="006600"/>
                </a:solidFill>
              </a:rPr>
              <a:t>”</a:t>
            </a:r>
            <a:r>
              <a:rPr lang="ko-KR" altLang="en-US" sz="800" b="0" dirty="0">
                <a:solidFill>
                  <a:srgbClr val="006600"/>
                </a:solidFill>
              </a:rPr>
              <a:t> 편집 중이던 수리 내용 저장 방어 로직 개발 </a:t>
            </a:r>
            <a:br>
              <a:rPr lang="en-US" altLang="ko-KR" sz="800" b="0" dirty="0">
                <a:solidFill>
                  <a:srgbClr val="006600"/>
                </a:solidFill>
              </a:rPr>
            </a:br>
            <a:r>
              <a:rPr lang="en-US" altLang="ko-KR" sz="800" b="0" dirty="0">
                <a:solidFill>
                  <a:srgbClr val="006600"/>
                </a:solidFill>
              </a:rPr>
              <a:t> - Web, Upload, </a:t>
            </a:r>
            <a:r>
              <a:rPr lang="en-US" altLang="ko-KR" sz="800" b="0" dirty="0" err="1">
                <a:solidFill>
                  <a:srgbClr val="006600"/>
                </a:solidFill>
              </a:rPr>
              <a:t>mGSFS</a:t>
            </a:r>
            <a:r>
              <a:rPr lang="en-US" altLang="ko-KR" sz="800" b="0" dirty="0">
                <a:solidFill>
                  <a:srgbClr val="006600"/>
                </a:solidFill>
              </a:rPr>
              <a:t>, MCS Global </a:t>
            </a:r>
            <a:r>
              <a:rPr lang="ko-KR" altLang="en-US" sz="800" b="0" dirty="0">
                <a:solidFill>
                  <a:srgbClr val="006600"/>
                </a:solidFill>
              </a:rPr>
              <a:t>모두 포함 필요</a:t>
            </a:r>
            <a:endParaRPr lang="en-US" altLang="ko-KR" sz="800" b="0" dirty="0">
              <a:solidFill>
                <a:srgbClr val="006600"/>
              </a:solidFill>
            </a:endParaRPr>
          </a:p>
        </p:txBody>
      </p:sp>
      <p:sp>
        <p:nvSpPr>
          <p:cNvPr id="48" name="실행 단추: 앞으로 또는 다음으로 이동 4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B8778B1-2715-DD72-19D2-411DCA706F4F}"/>
              </a:ext>
            </a:extLst>
          </p:cNvPr>
          <p:cNvSpPr/>
          <p:nvPr/>
        </p:nvSpPr>
        <p:spPr>
          <a:xfrm>
            <a:off x="9531734" y="2295206"/>
            <a:ext cx="170442" cy="187486"/>
          </a:xfrm>
          <a:prstGeom prst="actionButtonForwardNext">
            <a:avLst/>
          </a:prstGeom>
          <a:solidFill>
            <a:srgbClr val="CC00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Straight Arrow Connector 20">
            <a:extLst>
              <a:ext uri="{FF2B5EF4-FFF2-40B4-BE49-F238E27FC236}">
                <a16:creationId xmlns:a16="http://schemas.microsoft.com/office/drawing/2014/main" id="{B949FBBB-57EC-9665-3AF7-308E692702DD}"/>
              </a:ext>
            </a:extLst>
          </p:cNvPr>
          <p:cNvCxnSpPr>
            <a:cxnSpLocks/>
          </p:cNvCxnSpPr>
          <p:nvPr/>
        </p:nvCxnSpPr>
        <p:spPr bwMode="auto">
          <a:xfrm flipH="1">
            <a:off x="8247575" y="2295916"/>
            <a:ext cx="1407648" cy="0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none"/>
          </a:ln>
          <a:effectLst/>
        </p:spPr>
      </p:cxnSp>
      <p:sp>
        <p:nvSpPr>
          <p:cNvPr id="50" name="Action Button: Go Home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CDE37E2-50E2-2FB4-EDA1-59A5402EF271}"/>
              </a:ext>
            </a:extLst>
          </p:cNvPr>
          <p:cNvSpPr/>
          <p:nvPr/>
        </p:nvSpPr>
        <p:spPr bwMode="auto">
          <a:xfrm>
            <a:off x="11792709" y="143972"/>
            <a:ext cx="244728" cy="283998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LG Smart_H Regular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0793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7E3DFB345DAC74393F3F09E88971F90" ma:contentTypeVersion="17" ma:contentTypeDescription="새 문서를 만듭니다." ma:contentTypeScope="" ma:versionID="d50e2acdbd873137b5531f70b23ed6ea">
  <xsd:schema xmlns:xsd="http://www.w3.org/2001/XMLSchema" xmlns:xs="http://www.w3.org/2001/XMLSchema" xmlns:p="http://schemas.microsoft.com/office/2006/metadata/properties" xmlns:ns2="9caeb2e5-d126-42e2-8717-18fe2ea65dc5" xmlns:ns3="346295b5-5de2-4756-a0a6-95b34bbe7489" targetNamespace="http://schemas.microsoft.com/office/2006/metadata/properties" ma:root="true" ma:fieldsID="20325a95580438f7e1f96955de930690" ns2:_="" ns3:_="">
    <xsd:import namespace="9caeb2e5-d126-42e2-8717-18fe2ea65dc5"/>
    <xsd:import namespace="346295b5-5de2-4756-a0a6-95b34bbe74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CR" minOccurs="0"/>
                <xsd:element ref="ns2:MediaServiceLocation" minOccurs="0"/>
                <xsd:element ref="ns2:_xbc95__xc77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eb2e5-d126-42e2-8717-18fe2ea65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7fbd4038-13c0-4266-8e70-5a68fe662a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_xbc95__xc778_" ma:index="23" nillable="true" ma:displayName="지역" ma:format="Dropdown" ma:internalName="_xbc95__xc778_">
      <xsd:simpleType>
        <xsd:union memberTypes="dms:Text">
          <xsd:simpleType>
            <xsd:restriction base="dms:Choice">
              <xsd:enumeration value="미국"/>
              <xsd:enumeration value="캐나다"/>
              <xsd:enumeration value="브라질"/>
              <xsd:enumeration value="인도"/>
              <xsd:enumeration value="한국"/>
              <xsd:enumeration value="북미"/>
              <xsd:enumeration value="중남미"/>
              <xsd:enumeration value="아시아"/>
              <xsd:enumeration value="유럽"/>
              <xsd:enumeration value="중아"/>
            </xsd:restriction>
          </xsd:simpleType>
        </xsd:un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295b5-5de2-4756-a0a6-95b34bbe748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ae43a0f7-8a50-4b7a-8607-fd0225027744}" ma:internalName="TaxCatchAll" ma:showField="CatchAllData" ma:web="346295b5-5de2-4756-a0a6-95b34bbe74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6295b5-5de2-4756-a0a6-95b34bbe7489" xsi:nil="true"/>
    <lcf76f155ced4ddcb4097134ff3c332f xmlns="9caeb2e5-d126-42e2-8717-18fe2ea65dc5">
      <Terms xmlns="http://schemas.microsoft.com/office/infopath/2007/PartnerControls"/>
    </lcf76f155ced4ddcb4097134ff3c332f>
    <_xbc95__xc778_ xmlns="9caeb2e5-d126-42e2-8717-18fe2ea65dc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539CD7-ABD9-4092-A192-702F12DE2D04}">
  <ds:schemaRefs>
    <ds:schemaRef ds:uri="346295b5-5de2-4756-a0a6-95b34bbe7489"/>
    <ds:schemaRef ds:uri="9caeb2e5-d126-42e2-8717-18fe2ea65d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E2C230E-E8A1-4F37-9AD3-2AA9F24B7D91}">
  <ds:schemaRefs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346295b5-5de2-4756-a0a6-95b34bbe7489"/>
    <ds:schemaRef ds:uri="9caeb2e5-d126-42e2-8717-18fe2ea65dc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E535E27-5A3F-4B8F-85A6-F62C34FEC1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41560</TotalTime>
  <Words>479</Words>
  <Application>Microsoft Office PowerPoint</Application>
  <PresentationFormat>와이드스크린</PresentationFormat>
  <Paragraphs>65</Paragraphs>
  <Slides>2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Arial Narrow</vt:lpstr>
      <vt:lpstr>Wingdings</vt:lpstr>
      <vt:lpstr>디자인 사용자 지정</vt:lpstr>
      <vt:lpstr>1_디자인 사용자 지정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Colin Choi</dc:creator>
  <cp:lastModifiedBy>황기연/책임/해외CC&amp;S네트워크운영팀</cp:lastModifiedBy>
  <cp:revision>811</cp:revision>
  <cp:lastPrinted>2026-03-03T09:29:00Z</cp:lastPrinted>
  <dcterms:created xsi:type="dcterms:W3CDTF">2024-11-22T04:44:58Z</dcterms:created>
  <dcterms:modified xsi:type="dcterms:W3CDTF">2026-05-13T00:44:12Z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0x01010077E3DFB345DAC74393F3F09E88971F90</vt:lpwstr>
  </property>
  <property fmtid="{D5CDD505-2E9C-101B-9397-08002B2CF9AE}" pid="3" name="MediaServiceImageTags">
    <vt:lpwstr/>
  </property>
  <property fmtid="{D5CDD505-2E9C-101B-9397-08002B2CF9AE}" pid="4" name="MSIP_Label_cc6ed9fc-fefc-4a0c-a6d6-10cf236c0d4f_SiteId">
    <vt:lpwstr>5069cde4-642a-45c0-8094-d0c2dec10be3</vt:lpwstr>
  </property>
  <property fmtid="{D5CDD505-2E9C-101B-9397-08002B2CF9AE}" pid="5" name="MSIP_Label_cc6ed9fc-fefc-4a0c-a6d6-10cf236c0d4f_Method">
    <vt:lpwstr>Standard</vt:lpwstr>
  </property>
  <property fmtid="{D5CDD505-2E9C-101B-9397-08002B2CF9AE}" pid="6" name="ClassificationContentMarkingHeaderLocations">
    <vt:lpwstr>디자인 사용자 지정:3</vt:lpwstr>
  </property>
  <property fmtid="{D5CDD505-2E9C-101B-9397-08002B2CF9AE}" pid="7" name="MSIP_Label_cc6ed9fc-fefc-4a0c-a6d6-10cf236c0d4f_ContentBits">
    <vt:lpwstr>1</vt:lpwstr>
  </property>
  <property fmtid="{D5CDD505-2E9C-101B-9397-08002B2CF9AE}" pid="8" name="MSIP_Label_cc6ed9fc-fefc-4a0c-a6d6-10cf236c0d4f_Name">
    <vt:lpwstr>Internal use only</vt:lpwstr>
  </property>
  <property fmtid="{D5CDD505-2E9C-101B-9397-08002B2CF9AE}" pid="9" name="ClassificationContentMarkingHeaderText">
    <vt:lpwstr>LGE Internal Use Only</vt:lpwstr>
  </property>
  <property fmtid="{D5CDD505-2E9C-101B-9397-08002B2CF9AE}" pid="10" name="MSIP_Label_cc6ed9fc-fefc-4a0c-a6d6-10cf236c0d4f_ActionId">
    <vt:lpwstr>f073bc25-ba4c-4083-89b8-e82ac1a41f6b</vt:lpwstr>
  </property>
  <property fmtid="{D5CDD505-2E9C-101B-9397-08002B2CF9AE}" pid="11" name="MSIP_Label_cc6ed9fc-fefc-4a0c-a6d6-10cf236c0d4f_Enabled">
    <vt:lpwstr>true</vt:lpwstr>
  </property>
  <property fmtid="{D5CDD505-2E9C-101B-9397-08002B2CF9AE}" pid="12" name="MSIP_Label_cc6ed9fc-fefc-4a0c-a6d6-10cf236c0d4f_SetDate">
    <vt:lpwstr>2025-01-14T00:13:48Z</vt:lpwstr>
  </property>
</Properties>
</file>