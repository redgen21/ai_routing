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22" r:id="rId2"/>
    <p:sldId id="2080110783" r:id="rId3"/>
    <p:sldId id="258" r:id="rId4"/>
    <p:sldId id="260" r:id="rId5"/>
    <p:sldId id="261" r:id="rId6"/>
    <p:sldId id="266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63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6" autoAdjust="0"/>
    <p:restoredTop sz="97151" autoAdjust="0"/>
  </p:normalViewPr>
  <p:slideViewPr>
    <p:cSldViewPr snapToGrid="0" showGuides="1">
      <p:cViewPr>
        <p:scale>
          <a:sx n="150" d="100"/>
          <a:sy n="150" d="100"/>
        </p:scale>
        <p:origin x="2754" y="234"/>
      </p:cViewPr>
      <p:guideLst>
        <p:guide pos="386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6BCD5-DF3D-4663-892B-1091CB7440DB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2C15F-5CC8-464E-AAB3-07143D5B1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20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D7827-1997-9112-1605-0EAF905E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DA95C3-C0B8-4DDF-0E05-EA7ED6D36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CBDAC3-00D5-DCB7-2B45-A17581E98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D5E63E-5B2B-BD15-B76F-17611DFC8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48D7-3445-4816-8EB0-C65F461BA11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98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72C15F-5CC8-464E-AAB3-07143D5B1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418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79BC2-1C6F-BAA2-25C3-94DF7AA42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DE5279-3EA8-0A69-25D7-5969FA932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A116D3-BD12-AEE9-9FCE-E2BB5255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1AF5-4CBD-432B-BD1E-B67F14A1C9E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663738-147B-C4AF-A4A5-A2F5FBBC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44AB10-3E96-D761-D15D-6408A57A9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6483-8247-4682-B193-0F79AF323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061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5EB14D-0D3D-F600-40DD-4D868EAA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C983F5-8F42-E3C9-6E3F-5A1DE39AF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1A77CA-F825-A18B-0C2F-21056CFE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1AF5-4CBD-432B-BD1E-B67F14A1C9E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8E2F13-2E51-7B0C-13A7-4C7D87A0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EFB29C-8EAC-64F8-7CC6-32C59535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6483-8247-4682-B193-0F79AF323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284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01D9F-E345-42C3-F26A-5AD87ED3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F8F9F2-FEA0-C437-2363-02FAE0758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6A7ECD-D17E-0901-EF6E-B43DA70B0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1AF5-4CBD-432B-BD1E-B67F14A1C9E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099C63-3340-BBD0-1AA1-B967ED50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59A1FE-39C4-AE9D-EF41-4611F1D15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6483-8247-4682-B193-0F79AF323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90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0C237-6B49-19D7-AFDE-024B9797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6809B6-45F5-D5B7-B78D-3D450F270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A61B49-3A75-519D-32A8-681FC262D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53614D-DA2A-3720-7CAE-43EEFA464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1AF5-4CBD-432B-BD1E-B67F14A1C9E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B07035-D327-2AD0-775C-7850CFA9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A0743A-B940-AFD2-75D7-24ACA060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6483-8247-4682-B193-0F79AF323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038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BA029-3020-A9BB-A3E3-4558752F9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40DDF7-E804-1B81-427E-7D1311E9A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FEAFA0-22A2-E9F8-6E37-43C899EC4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DE6B23-A707-E991-4335-038E7BC12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E5425F3-A31E-5E32-ECA8-7CBFDC1F9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010F6C-8690-36A0-0758-6F3A2D117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1AF5-4CBD-432B-BD1E-B67F14A1C9E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81D51F-73E1-569D-4FB9-F7F1436B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99A0BE-37BB-5195-26C4-C3B3B682A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6483-8247-4682-B193-0F79AF323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5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38929-A586-2839-A0B1-CA8F88B9E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A559DE-8A92-8683-688A-9E01530D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1AF5-4CBD-432B-BD1E-B67F14A1C9E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E9F8A0-0614-8AC1-D2DD-2CE4150F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589AF3-99C7-DD98-03B6-36F72D8E1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6483-8247-4682-B193-0F79AF323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833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8C1EB4-7FED-7AFA-7157-AEEACC2FB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1AF5-4CBD-432B-BD1E-B67F14A1C9E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8EF154-9282-6662-BA70-8129F428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07A3D8-A7F4-5DFA-74BE-E748C82F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6483-8247-4682-B193-0F79AF323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27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43718-8F2E-D1BD-AB79-EE723237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34F332-5B19-0788-2A09-F48E15C5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D27D67-D69B-70BD-F8B4-126E942CA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DB8D75-DF86-E14F-5843-0B109734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1AF5-4CBD-432B-BD1E-B67F14A1C9E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84B4E9-D622-2927-6777-14417DC01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D6E382-4096-A165-C7F5-324A08918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6483-8247-4682-B193-0F79AF323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44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95FD9-ED2C-F327-5C05-5D59B0E15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A00F39-68BE-B5F0-EEC7-A2982E20B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8224BD-1AC6-FBE1-71B9-E98BD5CBB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5791DF-9569-1A4B-4088-4B1143C30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1AF5-4CBD-432B-BD1E-B67F14A1C9E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5888AD-935F-D662-834F-0BECFD47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B3B1B5-3227-CB99-A94D-D86A88E9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6483-8247-4682-B193-0F79AF323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00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05EAC-DCCE-FB2A-7EF0-B8FBF527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DCD2FE-EC46-F79E-9893-28D629C4B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56F2A9-BE0B-1C66-9D84-9AFD69F3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1AF5-4CBD-432B-BD1E-B67F14A1C9E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AC5ABB-F1D4-C96A-9157-35854CEB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30C5C7-AF25-61D4-A73B-BD905F8C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6483-8247-4682-B193-0F79AF323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46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95720E-D655-1651-5553-63F316A836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21F299-D7DF-6B2A-644A-146BAF180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1A9BE0-0F55-DDB0-FA78-0B5F4634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1AF5-4CBD-432B-BD1E-B67F14A1C9E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1626E-FDAB-0CE6-22E2-6AA783F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526CAC-7FA7-0EFD-0B29-5FC94E5F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6483-8247-4682-B193-0F79AF323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55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58413E4-491D-304B-66AC-70900DFFB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3881D-013A-E273-A9FC-567AA151F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F42F57-F2E4-5109-E02E-597FB0E00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01AF5-4CBD-432B-BD1E-B67F14A1C9ED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16FEC0-FD0D-F7ED-9896-7CFF5AE39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38C455-4B33-0A11-BCA8-3D534CEE3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06483-8247-4682-B193-0F79AF3234F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00070-5F03-6F85-565F-3EEAFD46BB5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1807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slide" Target="slide7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333A8-E283-8D8E-4945-ACE5FF981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0FECFF-AE7B-0E75-6E4D-95D2CE1E2A1E}"/>
              </a:ext>
            </a:extLst>
          </p:cNvPr>
          <p:cNvSpPr txBox="1"/>
          <p:nvPr/>
        </p:nvSpPr>
        <p:spPr>
          <a:xfrm>
            <a:off x="2981325" y="1975808"/>
            <a:ext cx="6495019" cy="50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2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 Reason Code </a:t>
            </a:r>
            <a:r>
              <a:rPr lang="ko-KR" altLang="en-US" sz="2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사용 현황과 표준 </a:t>
            </a:r>
            <a:r>
              <a:rPr lang="ko-KR" altLang="en-US" sz="24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통합안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641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6CA48-17F9-07A3-90CA-E4E6864D4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0EB250-AFD3-F880-D472-FE6606D94F56}"/>
              </a:ext>
            </a:extLst>
          </p:cNvPr>
          <p:cNvCxnSpPr>
            <a:cxnSpLocks/>
          </p:cNvCxnSpPr>
          <p:nvPr/>
        </p:nvCxnSpPr>
        <p:spPr>
          <a:xfrm>
            <a:off x="0" y="538239"/>
            <a:ext cx="12142694" cy="0"/>
          </a:xfrm>
          <a:prstGeom prst="line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2ADAC86-60C5-2AE2-9F83-8B60875C5E8D}"/>
              </a:ext>
            </a:extLst>
          </p:cNvPr>
          <p:cNvSpPr txBox="1"/>
          <p:nvPr/>
        </p:nvSpPr>
        <p:spPr>
          <a:xfrm>
            <a:off x="70803" y="52044"/>
            <a:ext cx="4443845" cy="43281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한국과 해외 </a:t>
            </a:r>
            <a:r>
              <a:rPr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 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 프로세스의 차이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A5BCD0F-C3A0-50AD-D13D-E4C2E621E4E0}"/>
              </a:ext>
            </a:extLst>
          </p:cNvPr>
          <p:cNvCxnSpPr>
            <a:cxnSpLocks/>
          </p:cNvCxnSpPr>
          <p:nvPr/>
        </p:nvCxnSpPr>
        <p:spPr>
          <a:xfrm>
            <a:off x="16487931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FB306D8-2D9C-1609-F6AD-D86D4B9655FC}"/>
              </a:ext>
            </a:extLst>
          </p:cNvPr>
          <p:cNvCxnSpPr>
            <a:cxnSpLocks/>
          </p:cNvCxnSpPr>
          <p:nvPr/>
        </p:nvCxnSpPr>
        <p:spPr>
          <a:xfrm>
            <a:off x="17150871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B6C4D69-EFF0-08C5-22DC-5844CE685F51}"/>
              </a:ext>
            </a:extLst>
          </p:cNvPr>
          <p:cNvCxnSpPr>
            <a:cxnSpLocks/>
          </p:cNvCxnSpPr>
          <p:nvPr/>
        </p:nvCxnSpPr>
        <p:spPr>
          <a:xfrm>
            <a:off x="13112318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D4B62C1-232A-0DA5-0163-DA9B245860C3}"/>
              </a:ext>
            </a:extLst>
          </p:cNvPr>
          <p:cNvCxnSpPr>
            <a:cxnSpLocks/>
          </p:cNvCxnSpPr>
          <p:nvPr/>
        </p:nvCxnSpPr>
        <p:spPr>
          <a:xfrm>
            <a:off x="13790239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4C110827-DAC9-3B9D-E9B5-AFCB12C04226}"/>
              </a:ext>
            </a:extLst>
          </p:cNvPr>
          <p:cNvCxnSpPr>
            <a:cxnSpLocks/>
          </p:cNvCxnSpPr>
          <p:nvPr/>
        </p:nvCxnSpPr>
        <p:spPr>
          <a:xfrm>
            <a:off x="14495089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96FD8C17-7FD3-183D-24D8-AB088DABB588}"/>
              </a:ext>
            </a:extLst>
          </p:cNvPr>
          <p:cNvCxnSpPr>
            <a:cxnSpLocks/>
          </p:cNvCxnSpPr>
          <p:nvPr/>
        </p:nvCxnSpPr>
        <p:spPr>
          <a:xfrm>
            <a:off x="15171364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8C7B795-5DF4-CFFD-94A7-DA14DAC1128E}"/>
              </a:ext>
            </a:extLst>
          </p:cNvPr>
          <p:cNvCxnSpPr>
            <a:cxnSpLocks/>
          </p:cNvCxnSpPr>
          <p:nvPr/>
        </p:nvCxnSpPr>
        <p:spPr>
          <a:xfrm>
            <a:off x="15828589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D40D74A5-6619-3CC7-E0AA-33C27AD15D9D}"/>
              </a:ext>
            </a:extLst>
          </p:cNvPr>
          <p:cNvCxnSpPr>
            <a:cxnSpLocks/>
          </p:cNvCxnSpPr>
          <p:nvPr/>
        </p:nvCxnSpPr>
        <p:spPr>
          <a:xfrm>
            <a:off x="22685130" y="1838011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E2BC7A74-4B1C-FC0C-A403-4EFA05769266}"/>
              </a:ext>
            </a:extLst>
          </p:cNvPr>
          <p:cNvCxnSpPr>
            <a:cxnSpLocks/>
          </p:cNvCxnSpPr>
          <p:nvPr/>
        </p:nvCxnSpPr>
        <p:spPr>
          <a:xfrm>
            <a:off x="18678400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04C744BE-CD96-91DE-18FD-DDDC90849A13}"/>
              </a:ext>
            </a:extLst>
          </p:cNvPr>
          <p:cNvCxnSpPr>
            <a:cxnSpLocks/>
          </p:cNvCxnSpPr>
          <p:nvPr/>
        </p:nvCxnSpPr>
        <p:spPr>
          <a:xfrm>
            <a:off x="19114238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658E399-1A4F-7B29-3AAB-5A81F9362F25}"/>
              </a:ext>
            </a:extLst>
          </p:cNvPr>
          <p:cNvSpPr txBox="1"/>
          <p:nvPr/>
        </p:nvSpPr>
        <p:spPr>
          <a:xfrm>
            <a:off x="1788532" y="1191459"/>
            <a:ext cx="7497565" cy="58920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한국은 서비스에서 설치 하지 않아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 없음 </a:t>
            </a:r>
            <a:endParaRPr lang="en-US" altLang="ko-KR" sz="14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: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해외 에어컨 설치 시 전기공사 등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Site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4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미준비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시 지연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설치 후 가스충전을 타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SM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 진행으로 대기 발생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B61273-1BFF-4F30-E0B1-92B5EE504FA4}"/>
              </a:ext>
            </a:extLst>
          </p:cNvPr>
          <p:cNvSpPr txBox="1"/>
          <p:nvPr/>
        </p:nvSpPr>
        <p:spPr>
          <a:xfrm>
            <a:off x="1788532" y="2058986"/>
            <a:ext cx="7342075" cy="330668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한국은 접수 시 기사배정 완료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약속시간 확정이나 해외는 센터 이관 후 기사 배정 및 약속시간 확정 됨</a:t>
            </a:r>
            <a:endParaRPr lang="en-US" altLang="ko-KR" sz="14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0A50F6-F588-5176-15ED-243AB0A049E2}"/>
              </a:ext>
            </a:extLst>
          </p:cNvPr>
          <p:cNvSpPr txBox="1"/>
          <p:nvPr/>
        </p:nvSpPr>
        <p:spPr>
          <a:xfrm>
            <a:off x="1788532" y="2631047"/>
            <a:ext cx="6085320" cy="330668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한국은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95%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4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수리건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 내 처리로 약속시간 장기 지연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각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SM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Pre-screening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진행</a:t>
            </a:r>
            <a:endParaRPr lang="en-US" altLang="ko-KR" sz="14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FFF61-34A7-9497-E919-99AF4DCBECEC}"/>
              </a:ext>
            </a:extLst>
          </p:cNvPr>
          <p:cNvSpPr txBox="1"/>
          <p:nvPr/>
        </p:nvSpPr>
        <p:spPr>
          <a:xfrm>
            <a:off x="1788532" y="3203108"/>
            <a:ext cx="8393644" cy="330668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4.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부품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주문 시 한국은 익일까지 수급 완료되나 해외는 부품 주문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수급 진행상태 관리가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관리의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중요 </a:t>
            </a:r>
            <a:r>
              <a:rPr lang="ko-KR" altLang="en-US" sz="14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상태값임</a:t>
            </a:r>
            <a:endParaRPr lang="en-US" altLang="ko-KR" sz="14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C02C98-85A0-5984-0379-5DB812F49981}"/>
              </a:ext>
            </a:extLst>
          </p:cNvPr>
          <p:cNvSpPr txBox="1"/>
          <p:nvPr/>
        </p:nvSpPr>
        <p:spPr>
          <a:xfrm>
            <a:off x="1788532" y="4069530"/>
            <a:ext cx="8529899" cy="330668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5.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취소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4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예외건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4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승인건이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한국은 기사 권한 내에서 완료되나 해외는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 승인 요청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승인이 필요하여 지연상태 관리 필요</a:t>
            </a:r>
            <a:endParaRPr lang="en-US" altLang="ko-KR" sz="14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FC78F8-1618-595B-4BDA-C681256C2971}"/>
              </a:ext>
            </a:extLst>
          </p:cNvPr>
          <p:cNvSpPr txBox="1"/>
          <p:nvPr/>
        </p:nvSpPr>
        <p:spPr>
          <a:xfrm>
            <a:off x="1788532" y="4347230"/>
            <a:ext cx="7721922" cy="330668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6.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한국은 반입수리 경우가 적고 수리 후 별도의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Aging test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하지 않으나 해외는 반입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수리 후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Test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진행 중임</a:t>
            </a:r>
            <a:endParaRPr lang="en-US" altLang="ko-KR" sz="14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572433-2F80-4DD1-5013-F488063DE5D4}"/>
              </a:ext>
            </a:extLst>
          </p:cNvPr>
          <p:cNvSpPr txBox="1"/>
          <p:nvPr/>
        </p:nvSpPr>
        <p:spPr>
          <a:xfrm>
            <a:off x="1788532" y="4919293"/>
            <a:ext cx="7394460" cy="330668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7.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수리결과 입력 시 해외는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Admin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 입력하는 경우 다수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해외 외주는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MCS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미사용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결과입력 대기 발생 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89F582-E5FB-5D98-BC6B-3D5A6286582D}"/>
              </a:ext>
            </a:extLst>
          </p:cNvPr>
          <p:cNvSpPr txBox="1"/>
          <p:nvPr/>
        </p:nvSpPr>
        <p:spPr>
          <a:xfrm>
            <a:off x="1788532" y="5401545"/>
            <a:ext cx="6316153" cy="330668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8.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교환환불 시 한국은 </a:t>
            </a:r>
            <a:r>
              <a:rPr lang="ko-KR" altLang="en-US" sz="14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교품증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발행 후 종결</a:t>
            </a:r>
            <a:r>
              <a: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각 센터가 환불 결정으로 장기 지연 사례 낮음</a:t>
            </a:r>
            <a:endParaRPr lang="en-US" altLang="ko-KR" sz="14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2552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C457-FA72-AA3A-E49A-ECB85556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400948E-D48B-7F83-D478-24CEEDFBF197}"/>
              </a:ext>
            </a:extLst>
          </p:cNvPr>
          <p:cNvCxnSpPr>
            <a:cxnSpLocks/>
          </p:cNvCxnSpPr>
          <p:nvPr/>
        </p:nvCxnSpPr>
        <p:spPr>
          <a:xfrm>
            <a:off x="0" y="538239"/>
            <a:ext cx="12142694" cy="0"/>
          </a:xfrm>
          <a:prstGeom prst="line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9DFBD0-8BCD-5FFF-244D-775E662B294B}"/>
              </a:ext>
            </a:extLst>
          </p:cNvPr>
          <p:cNvSpPr txBox="1"/>
          <p:nvPr/>
        </p:nvSpPr>
        <p:spPr>
          <a:xfrm>
            <a:off x="326260" y="640631"/>
            <a:ext cx="2747868" cy="36471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해외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Reason code 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현황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961A9B-691C-0553-1A26-1ECC36F42D91}"/>
              </a:ext>
            </a:extLst>
          </p:cNvPr>
          <p:cNvSpPr txBox="1"/>
          <p:nvPr/>
        </p:nvSpPr>
        <p:spPr>
          <a:xfrm>
            <a:off x="70803" y="52044"/>
            <a:ext cx="3005951" cy="43281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해외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 reason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현황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CED3ADD6-DA6C-4F75-F980-E356EA341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10" y="1037203"/>
            <a:ext cx="3571875" cy="85725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DE31BDC-72A4-1C56-7C68-4C9C0ACEE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244" y="1037202"/>
            <a:ext cx="2854503" cy="568120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63BF02A8-C413-EB70-3E13-AD72F24FB90A}"/>
              </a:ext>
            </a:extLst>
          </p:cNvPr>
          <p:cNvSpPr txBox="1"/>
          <p:nvPr/>
        </p:nvSpPr>
        <p:spPr>
          <a:xfrm>
            <a:off x="4183885" y="650156"/>
            <a:ext cx="2375971" cy="359266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APIC Pending reason code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8491D7-F2E8-CEE9-F66E-E521FF55ADE7}"/>
              </a:ext>
            </a:extLst>
          </p:cNvPr>
          <p:cNvSpPr txBox="1"/>
          <p:nvPr/>
        </p:nvSpPr>
        <p:spPr>
          <a:xfrm>
            <a:off x="4255306" y="6613997"/>
            <a:ext cx="691215" cy="27969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11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총 </a:t>
            </a:r>
            <a:r>
              <a:rPr lang="en-US" altLang="ko-KR" sz="11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209</a:t>
            </a:r>
            <a:r>
              <a:rPr lang="ko-KR" altLang="en-US" sz="11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</a:t>
            </a:r>
            <a:endParaRPr kumimoji="0" lang="ko-KR" altLang="en-US" sz="11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7D4E8E4-1FD3-422D-E192-EDC13EE8B1B8}"/>
              </a:ext>
            </a:extLst>
          </p:cNvPr>
          <p:cNvCxnSpPr>
            <a:cxnSpLocks/>
          </p:cNvCxnSpPr>
          <p:nvPr/>
        </p:nvCxnSpPr>
        <p:spPr>
          <a:xfrm>
            <a:off x="3990975" y="1333500"/>
            <a:ext cx="307269" cy="0"/>
          </a:xfrm>
          <a:prstGeom prst="straightConnector1">
            <a:avLst/>
          </a:prstGeom>
          <a:ln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8836D8F-EC1A-4C2C-0181-76E423933E1D}"/>
              </a:ext>
            </a:extLst>
          </p:cNvPr>
          <p:cNvSpPr/>
          <p:nvPr/>
        </p:nvSpPr>
        <p:spPr>
          <a:xfrm>
            <a:off x="419100" y="1247775"/>
            <a:ext cx="3552825" cy="2190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D0CC9EC-58B0-20C9-39DE-7A7FF8B217FD}"/>
              </a:ext>
            </a:extLst>
          </p:cNvPr>
          <p:cNvSpPr txBox="1"/>
          <p:nvPr/>
        </p:nvSpPr>
        <p:spPr>
          <a:xfrm>
            <a:off x="354397" y="1908816"/>
            <a:ext cx="3802668" cy="79380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전체 </a:t>
            </a:r>
            <a:r>
              <a:rPr lang="en-US" altLang="ko-KR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 reason</a:t>
            </a: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code </a:t>
            </a: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 </a:t>
            </a:r>
            <a:r>
              <a:rPr lang="en-US" altLang="ko-KR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123</a:t>
            </a: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개의  </a:t>
            </a:r>
            <a:r>
              <a:rPr lang="en-US" altLang="ko-KR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code</a:t>
            </a: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</a:t>
            </a:r>
            <a:r>
              <a:rPr lang="en-US" altLang="ko-KR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사용하나</a:t>
            </a:r>
            <a:endParaRPr lang="en-US" altLang="ko-KR" sz="13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각 지역</a:t>
            </a:r>
            <a:r>
              <a:rPr lang="en-US" altLang="ko-KR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법인별</a:t>
            </a: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다른 코드 사용으로 동일 기준 분석</a:t>
            </a:r>
            <a:r>
              <a:rPr lang="en-US" altLang="ko-KR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</a:p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개선이 어려움</a:t>
            </a:r>
            <a:endParaRPr kumimoji="0" lang="ko-KR" altLang="en-US" sz="1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1" name="실행 단추: 앞으로 또는 다음으로 이동 8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474A250-A482-6CB3-032D-9FAAA9E26530}"/>
              </a:ext>
            </a:extLst>
          </p:cNvPr>
          <p:cNvSpPr/>
          <p:nvPr/>
        </p:nvSpPr>
        <p:spPr>
          <a:xfrm>
            <a:off x="2986252" y="764472"/>
            <a:ext cx="175751" cy="147974"/>
          </a:xfrm>
          <a:prstGeom prst="actionButtonForwardNex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F44CA17F-C424-DF27-FAF0-7EE64F18D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80867"/>
              </p:ext>
            </p:extLst>
          </p:nvPr>
        </p:nvGraphicFramePr>
        <p:xfrm>
          <a:off x="697765" y="3687736"/>
          <a:ext cx="2146554" cy="29477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268">
                  <a:extLst>
                    <a:ext uri="{9D8B030D-6E8A-4147-A177-3AD203B41FA5}">
                      <a16:colId xmlns:a16="http://schemas.microsoft.com/office/drawing/2014/main" val="284197767"/>
                    </a:ext>
                  </a:extLst>
                </a:gridCol>
                <a:gridCol w="1494286">
                  <a:extLst>
                    <a:ext uri="{9D8B030D-6E8A-4147-A177-3AD203B41FA5}">
                      <a16:colId xmlns:a16="http://schemas.microsoft.com/office/drawing/2014/main" val="3508663913"/>
                    </a:ext>
                  </a:extLst>
                </a:gridCol>
              </a:tblGrid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n-US" sz="1050" b="0" i="0" u="none" strike="noStrike" dirty="0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부품미지참</a:t>
                      </a:r>
                      <a:endParaRPr lang="ko-KR" alt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510486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n-US" sz="1050" b="0" i="0" u="none" strike="noStrike" dirty="0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부품품절</a:t>
                      </a:r>
                      <a:endParaRPr lang="ko-KR" alt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50838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고객부재</a:t>
                      </a:r>
                      <a:endParaRPr lang="ko-KR" alt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924245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D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고객연기</a:t>
                      </a:r>
                      <a:endParaRPr lang="ko-KR" altLang="en-US" sz="1050" b="0" i="0" u="none" strike="noStrike" dirty="0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284875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E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사업부의뢰</a:t>
                      </a:r>
                      <a:r>
                        <a:rPr lang="en-US" altLang="ko-KR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/</a:t>
                      </a:r>
                      <a:r>
                        <a:rPr lang="ko-KR" altLang="en-US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지원요청</a:t>
                      </a:r>
                      <a:endParaRPr lang="ko-KR" altLang="en-US" sz="1050" b="0" i="0" u="none" strike="noStrike" dirty="0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375506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F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센터 반입</a:t>
                      </a:r>
                      <a:endParaRPr lang="ko-KR" altLang="en-US" sz="1050" b="0" i="0" u="none" strike="noStrike" dirty="0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84526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G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교환</a:t>
                      </a:r>
                      <a:r>
                        <a:rPr lang="en-US" altLang="ko-KR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/</a:t>
                      </a:r>
                      <a:r>
                        <a:rPr lang="ko-KR" altLang="en-US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환불 </a:t>
                      </a:r>
                      <a:r>
                        <a:rPr lang="ko-KR" altLang="en-US" sz="1050" u="none" strike="noStrike" dirty="0" err="1">
                          <a:solidFill>
                            <a:srgbClr val="00B050"/>
                          </a:solidFill>
                          <a:effectLst/>
                        </a:rPr>
                        <a:t>처리중</a:t>
                      </a:r>
                      <a:endParaRPr lang="ko-KR" altLang="en-US" sz="1050" b="0" i="0" u="none" strike="noStrike" dirty="0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146346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H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인도후품절관리</a:t>
                      </a:r>
                      <a:endParaRPr lang="ko-KR" alt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534608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I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미반출</a:t>
                      </a:r>
                      <a:endParaRPr lang="ko-KR" alt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362744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K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난수리지연</a:t>
                      </a:r>
                      <a:endParaRPr lang="ko-KR" alt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11431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L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PL</a:t>
                      </a:r>
                      <a:r>
                        <a:rPr lang="ko-KR" altLang="en-US" sz="1050" u="none" strike="noStrike" dirty="0" err="1">
                          <a:solidFill>
                            <a:srgbClr val="00B050"/>
                          </a:solidFill>
                          <a:effectLst/>
                        </a:rPr>
                        <a:t>처리중</a:t>
                      </a:r>
                      <a:endParaRPr lang="ko-KR" altLang="en-US" sz="1050" b="0" i="0" u="none" strike="noStrike" dirty="0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33751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M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중수리이관</a:t>
                      </a:r>
                      <a:endParaRPr lang="ko-KR" alt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843678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N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부품입고</a:t>
                      </a:r>
                      <a:endParaRPr lang="ko-KR" altLang="en-US" sz="1050" b="0" i="0" u="none" strike="noStrike" dirty="0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129704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P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타센터이관</a:t>
                      </a:r>
                      <a:endParaRPr lang="ko-KR" alt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443177"/>
                  </a:ext>
                </a:extLst>
              </a:tr>
              <a:tr h="196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solidFill>
                            <a:srgbClr val="00B050"/>
                          </a:solidFill>
                          <a:effectLst/>
                        </a:rPr>
                        <a:t>Q</a:t>
                      </a:r>
                      <a:endParaRPr lang="en-US" sz="105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영업</a:t>
                      </a:r>
                      <a:r>
                        <a:rPr lang="en-US" altLang="ko-KR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/</a:t>
                      </a:r>
                      <a:r>
                        <a:rPr lang="ko-KR" altLang="en-US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물류</a:t>
                      </a:r>
                      <a:r>
                        <a:rPr lang="en-US" altLang="ko-KR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/</a:t>
                      </a:r>
                      <a:r>
                        <a:rPr lang="ko-KR" altLang="en-US" sz="1050" u="none" strike="noStrike" dirty="0" err="1">
                          <a:solidFill>
                            <a:srgbClr val="00B050"/>
                          </a:solidFill>
                          <a:effectLst/>
                        </a:rPr>
                        <a:t>설치처이관</a:t>
                      </a:r>
                      <a:r>
                        <a:rPr lang="en-US" altLang="ko-KR" sz="1050" u="none" strike="noStrike" dirty="0">
                          <a:solidFill>
                            <a:srgbClr val="00B050"/>
                          </a:solidFill>
                          <a:effectLst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B05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38647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89ADEC25-A783-C58F-5CC4-C857390039AE}"/>
              </a:ext>
            </a:extLst>
          </p:cNvPr>
          <p:cNvSpPr txBox="1"/>
          <p:nvPr/>
        </p:nvSpPr>
        <p:spPr>
          <a:xfrm>
            <a:off x="587517" y="3387602"/>
            <a:ext cx="1444626" cy="27969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11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 </a:t>
            </a:r>
            <a:r>
              <a:rPr lang="en-US" altLang="ko-KR" sz="11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Smile </a:t>
            </a:r>
            <a:r>
              <a:rPr lang="ko-KR" altLang="en-US" sz="11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미처리 코드</a:t>
            </a:r>
            <a:endParaRPr kumimoji="0" lang="ko-KR" altLang="en-US" sz="11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F0A2EE6-719C-832C-A083-27A1EEBDA544}"/>
              </a:ext>
            </a:extLst>
          </p:cNvPr>
          <p:cNvSpPr txBox="1"/>
          <p:nvPr/>
        </p:nvSpPr>
        <p:spPr>
          <a:xfrm>
            <a:off x="381217" y="2716338"/>
            <a:ext cx="3802668" cy="54963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한국은 </a:t>
            </a:r>
            <a:r>
              <a:rPr lang="en-US" altLang="ko-KR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미처리코드를 사용</a:t>
            </a:r>
            <a:r>
              <a:rPr lang="en-US" altLang="ko-KR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해외와 프로세스를 </a:t>
            </a:r>
            <a:endParaRPr lang="en-US" altLang="ko-KR" sz="13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13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검토하여 표준안 정비 필요</a:t>
            </a:r>
            <a:endParaRPr lang="en-US" altLang="ko-KR" sz="13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82199912-94A8-2F1D-F254-6866FD5C43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055" y="1037202"/>
            <a:ext cx="4097428" cy="5649341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D13A4CA1-FDAD-3725-C72A-E8F97DFCEAA6}"/>
              </a:ext>
            </a:extLst>
          </p:cNvPr>
          <p:cNvSpPr txBox="1"/>
          <p:nvPr/>
        </p:nvSpPr>
        <p:spPr>
          <a:xfrm>
            <a:off x="7418686" y="650156"/>
            <a:ext cx="2659702" cy="36471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건별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Pe</a:t>
            </a:r>
            <a:r>
              <a:rPr lang="en-US" altLang="ko-KR" sz="16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nding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reason 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입력 사례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990DCB7E-5232-344A-6EE6-86B0088F90C1}"/>
              </a:ext>
            </a:extLst>
          </p:cNvPr>
          <p:cNvCxnSpPr>
            <a:cxnSpLocks/>
          </p:cNvCxnSpPr>
          <p:nvPr/>
        </p:nvCxnSpPr>
        <p:spPr>
          <a:xfrm>
            <a:off x="8493429" y="1271331"/>
            <a:ext cx="0" cy="1210612"/>
          </a:xfrm>
          <a:prstGeom prst="straightConnector1">
            <a:avLst/>
          </a:prstGeom>
          <a:ln>
            <a:solidFill>
              <a:srgbClr val="00B05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97FA0A4-74F0-810C-BAAF-D32AE27460A0}"/>
              </a:ext>
            </a:extLst>
          </p:cNvPr>
          <p:cNvSpPr txBox="1"/>
          <p:nvPr/>
        </p:nvSpPr>
        <p:spPr>
          <a:xfrm>
            <a:off x="7958631" y="1339911"/>
            <a:ext cx="598241" cy="24250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Time-line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AC181A7E-8350-9C90-037E-82171304619D}"/>
              </a:ext>
            </a:extLst>
          </p:cNvPr>
          <p:cNvCxnSpPr>
            <a:cxnSpLocks/>
          </p:cNvCxnSpPr>
          <p:nvPr/>
        </p:nvCxnSpPr>
        <p:spPr>
          <a:xfrm>
            <a:off x="8493429" y="2574351"/>
            <a:ext cx="0" cy="1807149"/>
          </a:xfrm>
          <a:prstGeom prst="straightConnector1">
            <a:avLst/>
          </a:prstGeom>
          <a:ln>
            <a:solidFill>
              <a:srgbClr val="00B05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84FDB872-25BF-DC5A-468E-A4D86A44B28F}"/>
              </a:ext>
            </a:extLst>
          </p:cNvPr>
          <p:cNvCxnSpPr>
            <a:cxnSpLocks/>
          </p:cNvCxnSpPr>
          <p:nvPr/>
        </p:nvCxnSpPr>
        <p:spPr>
          <a:xfrm>
            <a:off x="8493429" y="4450080"/>
            <a:ext cx="0" cy="1074420"/>
          </a:xfrm>
          <a:prstGeom prst="straightConnector1">
            <a:avLst/>
          </a:prstGeom>
          <a:ln>
            <a:solidFill>
              <a:srgbClr val="00B05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F77AEAF3-E654-A79D-9600-371A4CBDA785}"/>
              </a:ext>
            </a:extLst>
          </p:cNvPr>
          <p:cNvCxnSpPr>
            <a:cxnSpLocks/>
          </p:cNvCxnSpPr>
          <p:nvPr/>
        </p:nvCxnSpPr>
        <p:spPr>
          <a:xfrm>
            <a:off x="8493429" y="5585460"/>
            <a:ext cx="0" cy="1074420"/>
          </a:xfrm>
          <a:prstGeom prst="straightConnector1">
            <a:avLst/>
          </a:prstGeom>
          <a:ln>
            <a:solidFill>
              <a:srgbClr val="00B05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11000EB-5C86-D8BE-D2F5-4EF9DB8A751A}"/>
              </a:ext>
            </a:extLst>
          </p:cNvPr>
          <p:cNvSpPr txBox="1"/>
          <p:nvPr/>
        </p:nvSpPr>
        <p:spPr>
          <a:xfrm>
            <a:off x="5826034" y="6639473"/>
            <a:ext cx="386644" cy="24622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 / 4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740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330A-3C62-42C6-66A0-39071B7F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961EBAE8-8D16-2E16-5B1B-C19BA72BE81F}"/>
              </a:ext>
            </a:extLst>
          </p:cNvPr>
          <p:cNvCxnSpPr>
            <a:cxnSpLocks/>
            <a:stCxn id="187" idx="6"/>
          </p:cNvCxnSpPr>
          <p:nvPr/>
        </p:nvCxnSpPr>
        <p:spPr>
          <a:xfrm>
            <a:off x="1813004" y="4008581"/>
            <a:ext cx="10261397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45CB684-21CD-55EC-710E-F60050ED1ED1}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1919168" y="1718982"/>
            <a:ext cx="10141952" cy="0"/>
          </a:xfrm>
          <a:prstGeom prst="straightConnector1">
            <a:avLst/>
          </a:prstGeom>
          <a:ln w="28575">
            <a:solidFill>
              <a:srgbClr val="CC0099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160A057-413D-9425-7EE3-DBD2652EA1CA}"/>
              </a:ext>
            </a:extLst>
          </p:cNvPr>
          <p:cNvCxnSpPr>
            <a:cxnSpLocks/>
            <a:stCxn id="13" idx="6"/>
            <a:endCxn id="19" idx="2"/>
          </p:cNvCxnSpPr>
          <p:nvPr/>
        </p:nvCxnSpPr>
        <p:spPr>
          <a:xfrm>
            <a:off x="899272" y="1389558"/>
            <a:ext cx="798545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372A666-EA55-B62D-C786-88A0BA64E165}"/>
              </a:ext>
            </a:extLst>
          </p:cNvPr>
          <p:cNvSpPr/>
          <p:nvPr/>
        </p:nvSpPr>
        <p:spPr>
          <a:xfrm>
            <a:off x="490974" y="4743603"/>
            <a:ext cx="11514979" cy="1450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EA68EF4-A4A2-1E93-5CB4-0292B49369E4}"/>
              </a:ext>
            </a:extLst>
          </p:cNvPr>
          <p:cNvCxnSpPr>
            <a:cxnSpLocks/>
          </p:cNvCxnSpPr>
          <p:nvPr/>
        </p:nvCxnSpPr>
        <p:spPr>
          <a:xfrm>
            <a:off x="1763202" y="1838011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46C20E47-6669-F5F1-E6C2-14C2492B4C12}"/>
              </a:ext>
            </a:extLst>
          </p:cNvPr>
          <p:cNvCxnSpPr>
            <a:cxnSpLocks/>
          </p:cNvCxnSpPr>
          <p:nvPr/>
        </p:nvCxnSpPr>
        <p:spPr>
          <a:xfrm>
            <a:off x="4628891" y="1838011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C1D3A64-B253-E8FC-8BA6-E02F27116786}"/>
              </a:ext>
            </a:extLst>
          </p:cNvPr>
          <p:cNvCxnSpPr>
            <a:cxnSpLocks/>
          </p:cNvCxnSpPr>
          <p:nvPr/>
        </p:nvCxnSpPr>
        <p:spPr>
          <a:xfrm>
            <a:off x="0" y="538239"/>
            <a:ext cx="12142694" cy="0"/>
          </a:xfrm>
          <a:prstGeom prst="line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5E39A1-897A-ED22-3016-C57CE80ECDD2}"/>
              </a:ext>
            </a:extLst>
          </p:cNvPr>
          <p:cNvSpPr txBox="1"/>
          <p:nvPr/>
        </p:nvSpPr>
        <p:spPr>
          <a:xfrm>
            <a:off x="420579" y="638225"/>
            <a:ext cx="9597499" cy="36471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 Reason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은 지역별 상이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과다한 코드를 정비하여 통합하고 한국과 함께 집계가 </a:t>
            </a:r>
            <a:r>
              <a:rPr lang="ko-KR" altLang="en-US" sz="16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가능토록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코드체계를 정비하겠음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CC8A87-02B0-2D95-70D7-D249400E0963}"/>
              </a:ext>
            </a:extLst>
          </p:cNvPr>
          <p:cNvSpPr txBox="1"/>
          <p:nvPr/>
        </p:nvSpPr>
        <p:spPr>
          <a:xfrm>
            <a:off x="70803" y="52044"/>
            <a:ext cx="4224233" cy="43281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Pending Reason Code 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통합 운영 방안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462A04A-A6FD-EFD7-DCBB-97AB0477339A}"/>
              </a:ext>
            </a:extLst>
          </p:cNvPr>
          <p:cNvSpPr/>
          <p:nvPr/>
        </p:nvSpPr>
        <p:spPr>
          <a:xfrm>
            <a:off x="707260" y="1293552"/>
            <a:ext cx="192012" cy="1920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FE78576-C30C-B54C-2CB3-CC7C6C63F008}"/>
              </a:ext>
            </a:extLst>
          </p:cNvPr>
          <p:cNvSpPr/>
          <p:nvPr/>
        </p:nvSpPr>
        <p:spPr>
          <a:xfrm>
            <a:off x="1229666" y="129355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E34A56A-E966-86EB-9605-45CE33085386}"/>
              </a:ext>
            </a:extLst>
          </p:cNvPr>
          <p:cNvSpPr/>
          <p:nvPr/>
        </p:nvSpPr>
        <p:spPr>
          <a:xfrm>
            <a:off x="1697817" y="129355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E5F6AA3-5D1B-7E11-43E6-6E124FD40F80}"/>
              </a:ext>
            </a:extLst>
          </p:cNvPr>
          <p:cNvSpPr/>
          <p:nvPr/>
        </p:nvSpPr>
        <p:spPr>
          <a:xfrm>
            <a:off x="4527318" y="1628507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6D28A7-7466-6560-E27D-1DDBC6804B74}"/>
              </a:ext>
            </a:extLst>
          </p:cNvPr>
          <p:cNvSpPr txBox="1"/>
          <p:nvPr/>
        </p:nvSpPr>
        <p:spPr>
          <a:xfrm>
            <a:off x="615003" y="1088089"/>
            <a:ext cx="364202" cy="22852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접수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704649-CB12-B6E2-8504-0E2DF473A294}"/>
              </a:ext>
            </a:extLst>
          </p:cNvPr>
          <p:cNvSpPr txBox="1"/>
          <p:nvPr/>
        </p:nvSpPr>
        <p:spPr>
          <a:xfrm>
            <a:off x="1040665" y="1088089"/>
            <a:ext cx="567784" cy="22852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센터 이관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4BAC3F-8C7F-2118-7FF9-E76326540D68}"/>
              </a:ext>
            </a:extLst>
          </p:cNvPr>
          <p:cNvSpPr txBox="1"/>
          <p:nvPr/>
        </p:nvSpPr>
        <p:spPr>
          <a:xfrm>
            <a:off x="1531408" y="1089436"/>
            <a:ext cx="463588" cy="225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Accept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BEFD66-6D28-FA70-5AB1-CCB784E74F6E}"/>
              </a:ext>
            </a:extLst>
          </p:cNvPr>
          <p:cNvSpPr txBox="1"/>
          <p:nvPr/>
        </p:nvSpPr>
        <p:spPr>
          <a:xfrm>
            <a:off x="4284270" y="1185502"/>
            <a:ext cx="740908" cy="35394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타 센터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이관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Transfer to ~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ABF48F70-4E0C-F644-BAC8-7726006A8F33}"/>
              </a:ext>
            </a:extLst>
          </p:cNvPr>
          <p:cNvCxnSpPr>
            <a:cxnSpLocks/>
          </p:cNvCxnSpPr>
          <p:nvPr/>
        </p:nvCxnSpPr>
        <p:spPr>
          <a:xfrm flipH="1">
            <a:off x="490975" y="3667762"/>
            <a:ext cx="11514978" cy="0"/>
          </a:xfrm>
          <a:prstGeom prst="line">
            <a:avLst/>
          </a:prstGeom>
          <a:noFill/>
          <a:ln w="22225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847E7744-0626-592A-F0F4-637D285F21A4}"/>
              </a:ext>
            </a:extLst>
          </p:cNvPr>
          <p:cNvSpPr txBox="1"/>
          <p:nvPr/>
        </p:nvSpPr>
        <p:spPr>
          <a:xfrm>
            <a:off x="577946" y="3744388"/>
            <a:ext cx="986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한국</a:t>
            </a:r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(15</a:t>
            </a:r>
            <a:r>
              <a:rPr lang="ko-KR" altLang="en-US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개</a:t>
            </a:r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)</a:t>
            </a:r>
            <a:endParaRPr lang="ko-KR" altLang="en-US" sz="16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6FB9171-18ED-4BC6-DAE8-4720200000F1}"/>
              </a:ext>
            </a:extLst>
          </p:cNvPr>
          <p:cNvSpPr txBox="1"/>
          <p:nvPr/>
        </p:nvSpPr>
        <p:spPr>
          <a:xfrm>
            <a:off x="509017" y="5031370"/>
            <a:ext cx="732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해외</a:t>
            </a:r>
            <a:endParaRPr lang="en-US" altLang="ko-KR" sz="16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  <a:p>
            <a:pPr algn="ctr"/>
            <a:r>
              <a:rPr lang="ko-KR" altLang="en-US" sz="16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표준안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1C6DE1A7-5BC8-2A11-8121-0393AA6F9D1D}"/>
              </a:ext>
            </a:extLst>
          </p:cNvPr>
          <p:cNvSpPr/>
          <p:nvPr/>
        </p:nvSpPr>
        <p:spPr>
          <a:xfrm>
            <a:off x="1217723" y="6221585"/>
            <a:ext cx="10772711" cy="3684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한국과 비교 했을 때 해외는 외주센터 미처리 관리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Visibility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확보를 위한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Micro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한 관리가 필요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통합운영을 하되 한국 불필요 코드는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Use Flag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활용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121FD7-46C4-28D9-6CBC-29D35DBD3690}"/>
              </a:ext>
            </a:extLst>
          </p:cNvPr>
          <p:cNvSpPr txBox="1"/>
          <p:nvPr/>
        </p:nvSpPr>
        <p:spPr>
          <a:xfrm>
            <a:off x="490975" y="1588705"/>
            <a:ext cx="1197764" cy="279628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 시작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E119EE6-40CF-EA58-57B6-AA8E2C532463}"/>
              </a:ext>
            </a:extLst>
          </p:cNvPr>
          <p:cNvSpPr/>
          <p:nvPr/>
        </p:nvSpPr>
        <p:spPr>
          <a:xfrm>
            <a:off x="1668480" y="1593639"/>
            <a:ext cx="250688" cy="250686"/>
          </a:xfrm>
          <a:prstGeom prst="ellipse">
            <a:avLst/>
          </a:prstGeom>
          <a:solidFill>
            <a:srgbClr val="CC009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BD04E2BB-0985-E43E-1D9A-F530516B20A8}"/>
              </a:ext>
            </a:extLst>
          </p:cNvPr>
          <p:cNvCxnSpPr>
            <a:cxnSpLocks/>
            <a:stCxn id="19" idx="4"/>
            <a:endCxn id="29" idx="0"/>
          </p:cNvCxnSpPr>
          <p:nvPr/>
        </p:nvCxnSpPr>
        <p:spPr>
          <a:xfrm>
            <a:off x="1793823" y="1485564"/>
            <a:ext cx="1" cy="108075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4C3E2725-7A52-AE3F-B17E-E2D04C787608}"/>
              </a:ext>
            </a:extLst>
          </p:cNvPr>
          <p:cNvCxnSpPr>
            <a:cxnSpLocks/>
          </p:cNvCxnSpPr>
          <p:nvPr/>
        </p:nvCxnSpPr>
        <p:spPr>
          <a:xfrm>
            <a:off x="5299857" y="1838011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91" name="타원 90">
            <a:extLst>
              <a:ext uri="{FF2B5EF4-FFF2-40B4-BE49-F238E27FC236}">
                <a16:creationId xmlns:a16="http://schemas.microsoft.com/office/drawing/2014/main" id="{12D23177-4DE5-5F3A-B2A8-260A19148153}"/>
              </a:ext>
            </a:extLst>
          </p:cNvPr>
          <p:cNvSpPr/>
          <p:nvPr/>
        </p:nvSpPr>
        <p:spPr>
          <a:xfrm>
            <a:off x="5198284" y="1628507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8C0FF1B-C453-805D-C1B7-FFAF9E2C2E36}"/>
              </a:ext>
            </a:extLst>
          </p:cNvPr>
          <p:cNvSpPr txBox="1"/>
          <p:nvPr/>
        </p:nvSpPr>
        <p:spPr>
          <a:xfrm>
            <a:off x="4978479" y="1185502"/>
            <a:ext cx="614271" cy="35394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기사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배정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Allocation~</a:t>
            </a:r>
            <a:endParaRPr lang="en-US" altLang="ko-KR" sz="8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4AD8EF47-454E-DFEF-03A9-74D1F381057E}"/>
              </a:ext>
            </a:extLst>
          </p:cNvPr>
          <p:cNvCxnSpPr>
            <a:cxnSpLocks/>
            <a:stCxn id="196" idx="4"/>
          </p:cNvCxnSpPr>
          <p:nvPr/>
        </p:nvCxnSpPr>
        <p:spPr>
          <a:xfrm>
            <a:off x="5891620" y="2553944"/>
            <a:ext cx="1271" cy="3688629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94" name="타원 93">
            <a:extLst>
              <a:ext uri="{FF2B5EF4-FFF2-40B4-BE49-F238E27FC236}">
                <a16:creationId xmlns:a16="http://schemas.microsoft.com/office/drawing/2014/main" id="{834F1A23-6824-F120-A77C-A0524B7288A3}"/>
              </a:ext>
            </a:extLst>
          </p:cNvPr>
          <p:cNvSpPr/>
          <p:nvPr/>
        </p:nvSpPr>
        <p:spPr>
          <a:xfrm>
            <a:off x="6388648" y="1628507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41BA8-8D30-1DA8-A701-CC5C61BADBEC}"/>
              </a:ext>
            </a:extLst>
          </p:cNvPr>
          <p:cNvSpPr txBox="1"/>
          <p:nvPr/>
        </p:nvSpPr>
        <p:spPr>
          <a:xfrm>
            <a:off x="6188403" y="1185502"/>
            <a:ext cx="614271" cy="35394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 예약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Scheduling</a:t>
            </a:r>
            <a:endParaRPr lang="en-US" altLang="ko-KR" sz="8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057E7D5-B85D-AD6B-E042-7BADCB91D153}"/>
              </a:ext>
            </a:extLst>
          </p:cNvPr>
          <p:cNvCxnSpPr>
            <a:cxnSpLocks/>
          </p:cNvCxnSpPr>
          <p:nvPr/>
        </p:nvCxnSpPr>
        <p:spPr>
          <a:xfrm>
            <a:off x="6478232" y="1792399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8BF91FA3-9E3D-494D-9E47-6238BD692A14}"/>
              </a:ext>
            </a:extLst>
          </p:cNvPr>
          <p:cNvSpPr/>
          <p:nvPr/>
        </p:nvSpPr>
        <p:spPr>
          <a:xfrm>
            <a:off x="7013488" y="1628507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F40531-026F-BE56-DC9B-3094B83F7FF2}"/>
              </a:ext>
            </a:extLst>
          </p:cNvPr>
          <p:cNvSpPr txBox="1"/>
          <p:nvPr/>
        </p:nvSpPr>
        <p:spPr>
          <a:xfrm>
            <a:off x="6699431" y="1185502"/>
            <a:ext cx="841897" cy="35394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고객 예약변경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Rescheduling</a:t>
            </a:r>
            <a:endParaRPr lang="en-US" altLang="ko-KR" sz="8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126629C-3CCD-D180-84CF-7B2347A9AC8E}"/>
              </a:ext>
            </a:extLst>
          </p:cNvPr>
          <p:cNvCxnSpPr>
            <a:cxnSpLocks/>
            <a:stCxn id="380" idx="4"/>
          </p:cNvCxnSpPr>
          <p:nvPr/>
        </p:nvCxnSpPr>
        <p:spPr>
          <a:xfrm>
            <a:off x="7757214" y="2453157"/>
            <a:ext cx="0" cy="372990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85DE8270-8894-93B0-6D6D-26D264ACCB29}"/>
              </a:ext>
            </a:extLst>
          </p:cNvPr>
          <p:cNvSpPr/>
          <p:nvPr/>
        </p:nvSpPr>
        <p:spPr>
          <a:xfrm>
            <a:off x="9618501" y="1628507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A7778D-1E91-D4A4-269E-F08D74878729}"/>
              </a:ext>
            </a:extLst>
          </p:cNvPr>
          <p:cNvSpPr txBox="1"/>
          <p:nvPr/>
        </p:nvSpPr>
        <p:spPr>
          <a:xfrm>
            <a:off x="9281199" y="1185502"/>
            <a:ext cx="888385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고객 부재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Customer absence</a:t>
            </a:r>
            <a:endParaRPr lang="en-US" altLang="ko-KR" sz="8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CCCB971-3B8A-16D6-EFD4-FC87CF0E15AB}"/>
              </a:ext>
            </a:extLst>
          </p:cNvPr>
          <p:cNvCxnSpPr>
            <a:cxnSpLocks/>
            <a:stCxn id="383" idx="4"/>
          </p:cNvCxnSpPr>
          <p:nvPr/>
        </p:nvCxnSpPr>
        <p:spPr>
          <a:xfrm>
            <a:off x="8413164" y="3006305"/>
            <a:ext cx="0" cy="3149139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C5DBB761-7EAB-8A2C-DA53-A4FE1DF8156F}"/>
              </a:ext>
            </a:extLst>
          </p:cNvPr>
          <p:cNvSpPr/>
          <p:nvPr/>
        </p:nvSpPr>
        <p:spPr>
          <a:xfrm>
            <a:off x="10311975" y="1628507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26FDBA-9B0F-1E24-2381-46FE3844095A}"/>
              </a:ext>
            </a:extLst>
          </p:cNvPr>
          <p:cNvSpPr txBox="1"/>
          <p:nvPr/>
        </p:nvSpPr>
        <p:spPr>
          <a:xfrm>
            <a:off x="10043602" y="1185502"/>
            <a:ext cx="750525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증빙 확인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 err="1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W’ty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doc </a:t>
            </a:r>
            <a:r>
              <a:rPr lang="en-US" altLang="ko-KR" sz="8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check</a:t>
            </a:r>
            <a:endParaRPr lang="en-US" altLang="ko-KR" sz="8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08490CC-9FE7-1138-C033-B85DA77F74F6}"/>
              </a:ext>
            </a:extLst>
          </p:cNvPr>
          <p:cNvCxnSpPr>
            <a:cxnSpLocks/>
            <a:stCxn id="386" idx="4"/>
          </p:cNvCxnSpPr>
          <p:nvPr/>
        </p:nvCxnSpPr>
        <p:spPr>
          <a:xfrm>
            <a:off x="9050351" y="3602531"/>
            <a:ext cx="0" cy="264004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F6CCC377-70D6-EA87-E272-A1F56B2B52BC}"/>
              </a:ext>
            </a:extLst>
          </p:cNvPr>
          <p:cNvSpPr/>
          <p:nvPr/>
        </p:nvSpPr>
        <p:spPr>
          <a:xfrm>
            <a:off x="10953325" y="1628507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0F4058-ED41-6733-0E09-8DD1716135E7}"/>
              </a:ext>
            </a:extLst>
          </p:cNvPr>
          <p:cNvSpPr txBox="1"/>
          <p:nvPr/>
        </p:nvSpPr>
        <p:spPr>
          <a:xfrm>
            <a:off x="10749874" y="1185502"/>
            <a:ext cx="620683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사전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Pre-screen</a:t>
            </a:r>
            <a:endParaRPr lang="en-US" altLang="ko-KR" sz="8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17A5B93-C0F8-AB3A-E5D2-DCD395AE792A}"/>
              </a:ext>
            </a:extLst>
          </p:cNvPr>
          <p:cNvCxnSpPr>
            <a:cxnSpLocks/>
          </p:cNvCxnSpPr>
          <p:nvPr/>
        </p:nvCxnSpPr>
        <p:spPr>
          <a:xfrm>
            <a:off x="11049331" y="1838011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B60E9474-2472-9238-BB39-270050B79BA7}"/>
              </a:ext>
            </a:extLst>
          </p:cNvPr>
          <p:cNvSpPr/>
          <p:nvPr/>
        </p:nvSpPr>
        <p:spPr>
          <a:xfrm>
            <a:off x="11647092" y="1628507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81EE25-0970-8DCE-BAD1-26BF37EBD27F}"/>
              </a:ext>
            </a:extLst>
          </p:cNvPr>
          <p:cNvSpPr txBox="1"/>
          <p:nvPr/>
        </p:nvSpPr>
        <p:spPr>
          <a:xfrm>
            <a:off x="11446849" y="1185502"/>
            <a:ext cx="614271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부품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주문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Part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order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46" name="직선 연결선 345">
            <a:extLst>
              <a:ext uri="{FF2B5EF4-FFF2-40B4-BE49-F238E27FC236}">
                <a16:creationId xmlns:a16="http://schemas.microsoft.com/office/drawing/2014/main" id="{44FD3759-1E91-F3F8-B4DA-9BBD5785F226}"/>
              </a:ext>
            </a:extLst>
          </p:cNvPr>
          <p:cNvCxnSpPr>
            <a:cxnSpLocks/>
            <a:stCxn id="348" idx="4"/>
          </p:cNvCxnSpPr>
          <p:nvPr/>
        </p:nvCxnSpPr>
        <p:spPr>
          <a:xfrm>
            <a:off x="2461881" y="2615292"/>
            <a:ext cx="0" cy="3627281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47" name="TextBox 346">
            <a:extLst>
              <a:ext uri="{FF2B5EF4-FFF2-40B4-BE49-F238E27FC236}">
                <a16:creationId xmlns:a16="http://schemas.microsoft.com/office/drawing/2014/main" id="{1D5C612B-A424-6998-A1AA-11E1B5562847}"/>
              </a:ext>
            </a:extLst>
          </p:cNvPr>
          <p:cNvSpPr txBox="1"/>
          <p:nvPr/>
        </p:nvSpPr>
        <p:spPr>
          <a:xfrm>
            <a:off x="2048916" y="2104010"/>
            <a:ext cx="830677" cy="35394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설치 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Site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준비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b="1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Installation</a:t>
            </a:r>
            <a:r>
              <a:rPr lang="ko-KR" altLang="en-US" sz="800" b="1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Site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1CC53100-B3C6-1A2E-81C7-CA7C5314A50B}"/>
              </a:ext>
            </a:extLst>
          </p:cNvPr>
          <p:cNvSpPr txBox="1"/>
          <p:nvPr/>
        </p:nvSpPr>
        <p:spPr>
          <a:xfrm>
            <a:off x="2755851" y="2104010"/>
            <a:ext cx="867545" cy="35394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가스 충전 지연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b="1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Gas</a:t>
            </a:r>
            <a:r>
              <a:rPr lang="ko-KR" altLang="en-US" sz="800" b="1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charging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0" name="타원 349">
            <a:extLst>
              <a:ext uri="{FF2B5EF4-FFF2-40B4-BE49-F238E27FC236}">
                <a16:creationId xmlns:a16="http://schemas.microsoft.com/office/drawing/2014/main" id="{95C86BFB-286E-164D-C770-D05C088A404A}"/>
              </a:ext>
            </a:extLst>
          </p:cNvPr>
          <p:cNvSpPr/>
          <p:nvPr/>
        </p:nvSpPr>
        <p:spPr>
          <a:xfrm>
            <a:off x="3091245" y="2423280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52" name="직선 연결선 351">
            <a:extLst>
              <a:ext uri="{FF2B5EF4-FFF2-40B4-BE49-F238E27FC236}">
                <a16:creationId xmlns:a16="http://schemas.microsoft.com/office/drawing/2014/main" id="{35E4988A-74DF-AC59-6FF5-EE53FDA1EDD2}"/>
              </a:ext>
            </a:extLst>
          </p:cNvPr>
          <p:cNvCxnSpPr>
            <a:cxnSpLocks/>
            <a:stCxn id="350" idx="4"/>
          </p:cNvCxnSpPr>
          <p:nvPr/>
        </p:nvCxnSpPr>
        <p:spPr>
          <a:xfrm>
            <a:off x="3187251" y="2615292"/>
            <a:ext cx="0" cy="3627281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53" name="TextBox 352">
            <a:extLst>
              <a:ext uri="{FF2B5EF4-FFF2-40B4-BE49-F238E27FC236}">
                <a16:creationId xmlns:a16="http://schemas.microsoft.com/office/drawing/2014/main" id="{E6323BB5-2C78-9A8A-9A05-3B26B1C8E1E8}"/>
              </a:ext>
            </a:extLst>
          </p:cNvPr>
          <p:cNvSpPr txBox="1"/>
          <p:nvPr/>
        </p:nvSpPr>
        <p:spPr>
          <a:xfrm>
            <a:off x="3543871" y="1185502"/>
            <a:ext cx="739305" cy="35394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Site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준비 중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b="1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Site not ready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4" name="타원 353">
            <a:extLst>
              <a:ext uri="{FF2B5EF4-FFF2-40B4-BE49-F238E27FC236}">
                <a16:creationId xmlns:a16="http://schemas.microsoft.com/office/drawing/2014/main" id="{56C0E0BC-A3ED-B218-A58A-E09C82191819}"/>
              </a:ext>
            </a:extLst>
          </p:cNvPr>
          <p:cNvSpPr/>
          <p:nvPr/>
        </p:nvSpPr>
        <p:spPr>
          <a:xfrm>
            <a:off x="3815145" y="1628507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55" name="직선 연결선 354">
            <a:extLst>
              <a:ext uri="{FF2B5EF4-FFF2-40B4-BE49-F238E27FC236}">
                <a16:creationId xmlns:a16="http://schemas.microsoft.com/office/drawing/2014/main" id="{CD0E8A8A-5BBA-3A86-B946-51B5A96727B0}"/>
              </a:ext>
            </a:extLst>
          </p:cNvPr>
          <p:cNvCxnSpPr>
            <a:cxnSpLocks/>
          </p:cNvCxnSpPr>
          <p:nvPr/>
        </p:nvCxnSpPr>
        <p:spPr>
          <a:xfrm>
            <a:off x="3891935" y="1838011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56" name="연결선: 꺾임 355">
            <a:extLst>
              <a:ext uri="{FF2B5EF4-FFF2-40B4-BE49-F238E27FC236}">
                <a16:creationId xmlns:a16="http://schemas.microsoft.com/office/drawing/2014/main" id="{41DA467D-5C45-0453-48C6-F15E42056296}"/>
              </a:ext>
            </a:extLst>
          </p:cNvPr>
          <p:cNvCxnSpPr>
            <a:cxnSpLocks/>
            <a:stCxn id="29" idx="4"/>
            <a:endCxn id="350" idx="2"/>
          </p:cNvCxnSpPr>
          <p:nvPr/>
        </p:nvCxnSpPr>
        <p:spPr>
          <a:xfrm rot="16200000" flipH="1">
            <a:off x="2105054" y="1533094"/>
            <a:ext cx="674961" cy="1297421"/>
          </a:xfrm>
          <a:prstGeom prst="bentConnector2">
            <a:avLst/>
          </a:prstGeom>
          <a:ln>
            <a:solidFill>
              <a:srgbClr val="CC0099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TextBox 361">
            <a:extLst>
              <a:ext uri="{FF2B5EF4-FFF2-40B4-BE49-F238E27FC236}">
                <a16:creationId xmlns:a16="http://schemas.microsoft.com/office/drawing/2014/main" id="{3C9DC42D-A765-CC2B-D939-B37ABB033177}"/>
              </a:ext>
            </a:extLst>
          </p:cNvPr>
          <p:cNvSpPr txBox="1"/>
          <p:nvPr/>
        </p:nvSpPr>
        <p:spPr>
          <a:xfrm>
            <a:off x="1530766" y="1979203"/>
            <a:ext cx="431528" cy="279628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설치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8AC4AF1A-218F-C7EC-472C-3F88A671D20C}"/>
              </a:ext>
            </a:extLst>
          </p:cNvPr>
          <p:cNvSpPr txBox="1"/>
          <p:nvPr/>
        </p:nvSpPr>
        <p:spPr>
          <a:xfrm>
            <a:off x="1978441" y="1569628"/>
            <a:ext cx="431528" cy="279628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수리</a:t>
            </a:r>
          </a:p>
        </p:txBody>
      </p:sp>
      <p:sp>
        <p:nvSpPr>
          <p:cNvPr id="348" name="타원 347">
            <a:extLst>
              <a:ext uri="{FF2B5EF4-FFF2-40B4-BE49-F238E27FC236}">
                <a16:creationId xmlns:a16="http://schemas.microsoft.com/office/drawing/2014/main" id="{CF2915E0-0E99-31E4-F2A0-ABA3F31BCDD1}"/>
              </a:ext>
            </a:extLst>
          </p:cNvPr>
          <p:cNvSpPr/>
          <p:nvPr/>
        </p:nvSpPr>
        <p:spPr>
          <a:xfrm>
            <a:off x="2365875" y="2423280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1" name="직사각형 370">
            <a:extLst>
              <a:ext uri="{FF2B5EF4-FFF2-40B4-BE49-F238E27FC236}">
                <a16:creationId xmlns:a16="http://schemas.microsoft.com/office/drawing/2014/main" id="{5DB68906-53F8-3C69-229A-587A13893F6E}"/>
              </a:ext>
            </a:extLst>
          </p:cNvPr>
          <p:cNvSpPr/>
          <p:nvPr/>
        </p:nvSpPr>
        <p:spPr>
          <a:xfrm>
            <a:off x="1972687" y="2094523"/>
            <a:ext cx="1662604" cy="578230"/>
          </a:xfrm>
          <a:prstGeom prst="rect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5F594D3A-F4FC-462A-AF8E-E6FE56973FD8}"/>
              </a:ext>
            </a:extLst>
          </p:cNvPr>
          <p:cNvSpPr txBox="1"/>
          <p:nvPr/>
        </p:nvSpPr>
        <p:spPr>
          <a:xfrm>
            <a:off x="1898040" y="2660270"/>
            <a:ext cx="614271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인도 설치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71877D9D-0E41-02C9-0D5D-6A1623ABD9D8}"/>
              </a:ext>
            </a:extLst>
          </p:cNvPr>
          <p:cNvSpPr txBox="1"/>
          <p:nvPr/>
        </p:nvSpPr>
        <p:spPr>
          <a:xfrm>
            <a:off x="3498110" y="1446409"/>
            <a:ext cx="689612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전기 없음 등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4" name="직사각형 373">
            <a:extLst>
              <a:ext uri="{FF2B5EF4-FFF2-40B4-BE49-F238E27FC236}">
                <a16:creationId xmlns:a16="http://schemas.microsoft.com/office/drawing/2014/main" id="{96097982-92E9-06DE-9CA8-DD419BCABFE6}"/>
              </a:ext>
            </a:extLst>
          </p:cNvPr>
          <p:cNvSpPr/>
          <p:nvPr/>
        </p:nvSpPr>
        <p:spPr>
          <a:xfrm>
            <a:off x="3581399" y="1217385"/>
            <a:ext cx="663491" cy="269024"/>
          </a:xfrm>
          <a:prstGeom prst="rect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AF440EBE-E72C-65AB-631A-41F079D653F9}"/>
              </a:ext>
            </a:extLst>
          </p:cNvPr>
          <p:cNvSpPr txBox="1"/>
          <p:nvPr/>
        </p:nvSpPr>
        <p:spPr>
          <a:xfrm>
            <a:off x="3465732" y="1020155"/>
            <a:ext cx="614271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인도 수리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6B3876B6-901B-00F6-E263-0594948C3A87}"/>
              </a:ext>
            </a:extLst>
          </p:cNvPr>
          <p:cNvSpPr txBox="1"/>
          <p:nvPr/>
        </p:nvSpPr>
        <p:spPr>
          <a:xfrm>
            <a:off x="4446228" y="1446409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2.3%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BDDB7822-540C-2555-A6BB-209A7B8F25DA}"/>
              </a:ext>
            </a:extLst>
          </p:cNvPr>
          <p:cNvSpPr txBox="1"/>
          <p:nvPr/>
        </p:nvSpPr>
        <p:spPr>
          <a:xfrm>
            <a:off x="5132028" y="1446409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9.5%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5CF4E5E4-26AC-F423-3572-5373CFC557CE}"/>
              </a:ext>
            </a:extLst>
          </p:cNvPr>
          <p:cNvSpPr txBox="1"/>
          <p:nvPr/>
        </p:nvSpPr>
        <p:spPr>
          <a:xfrm>
            <a:off x="6308096" y="1446409"/>
            <a:ext cx="423513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30.5%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8E49327E-9055-D52A-DA90-A1204D52EBA0}"/>
              </a:ext>
            </a:extLst>
          </p:cNvPr>
          <p:cNvSpPr txBox="1"/>
          <p:nvPr/>
        </p:nvSpPr>
        <p:spPr>
          <a:xfrm>
            <a:off x="6940939" y="1446409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3.1%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0" name="타원 379">
            <a:extLst>
              <a:ext uri="{FF2B5EF4-FFF2-40B4-BE49-F238E27FC236}">
                <a16:creationId xmlns:a16="http://schemas.microsoft.com/office/drawing/2014/main" id="{3FDF0E96-4CEA-838A-DC21-0DEB770AA82E}"/>
              </a:ext>
            </a:extLst>
          </p:cNvPr>
          <p:cNvSpPr/>
          <p:nvPr/>
        </p:nvSpPr>
        <p:spPr>
          <a:xfrm>
            <a:off x="7661208" y="2261145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DABEEFA-51D1-9845-BF01-1B37F86CB71C}"/>
              </a:ext>
            </a:extLst>
          </p:cNvPr>
          <p:cNvSpPr txBox="1"/>
          <p:nvPr/>
        </p:nvSpPr>
        <p:spPr>
          <a:xfrm>
            <a:off x="7290245" y="1818140"/>
            <a:ext cx="955710" cy="35394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기사 일정변경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Rescheduling by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SM</a:t>
            </a:r>
            <a:endParaRPr lang="en-US" altLang="ko-KR" sz="8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6E8898E-3537-886C-454D-5BC2BD5030AA}"/>
              </a:ext>
            </a:extLst>
          </p:cNvPr>
          <p:cNvSpPr txBox="1"/>
          <p:nvPr/>
        </p:nvSpPr>
        <p:spPr>
          <a:xfrm>
            <a:off x="7588659" y="2079047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0.8%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3" name="타원 382">
            <a:extLst>
              <a:ext uri="{FF2B5EF4-FFF2-40B4-BE49-F238E27FC236}">
                <a16:creationId xmlns:a16="http://schemas.microsoft.com/office/drawing/2014/main" id="{A5161C86-B73A-F5D9-2CE4-1958E549BBDC}"/>
              </a:ext>
            </a:extLst>
          </p:cNvPr>
          <p:cNvSpPr/>
          <p:nvPr/>
        </p:nvSpPr>
        <p:spPr>
          <a:xfrm>
            <a:off x="8317158" y="2814293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FE98E084-03AB-8DCE-7CA7-03F21CE26F04}"/>
              </a:ext>
            </a:extLst>
          </p:cNvPr>
          <p:cNvSpPr txBox="1"/>
          <p:nvPr/>
        </p:nvSpPr>
        <p:spPr>
          <a:xfrm>
            <a:off x="7861238" y="2371288"/>
            <a:ext cx="1125629" cy="35394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이후 예약변경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Rescheduling over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3days</a:t>
            </a:r>
            <a:endParaRPr lang="en-US" altLang="ko-KR" sz="8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A494B7B0-4BE3-6F11-DE20-F7F8B360B56F}"/>
              </a:ext>
            </a:extLst>
          </p:cNvPr>
          <p:cNvSpPr txBox="1"/>
          <p:nvPr/>
        </p:nvSpPr>
        <p:spPr>
          <a:xfrm>
            <a:off x="8244609" y="2651942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0.3%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6" name="타원 385">
            <a:extLst>
              <a:ext uri="{FF2B5EF4-FFF2-40B4-BE49-F238E27FC236}">
                <a16:creationId xmlns:a16="http://schemas.microsoft.com/office/drawing/2014/main" id="{9991F267-45CD-88F1-F393-97B93118D2AB}"/>
              </a:ext>
            </a:extLst>
          </p:cNvPr>
          <p:cNvSpPr/>
          <p:nvPr/>
        </p:nvSpPr>
        <p:spPr>
          <a:xfrm>
            <a:off x="8954345" y="34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D105A480-7BD7-756B-DD91-479571C695FF}"/>
              </a:ext>
            </a:extLst>
          </p:cNvPr>
          <p:cNvSpPr txBox="1"/>
          <p:nvPr/>
        </p:nvSpPr>
        <p:spPr>
          <a:xfrm>
            <a:off x="8606630" y="2991264"/>
            <a:ext cx="909223" cy="35394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재방문 약속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Next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visit arranged</a:t>
            </a:r>
            <a:endParaRPr lang="en-US" altLang="ko-KR" sz="8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579A029E-90A9-B21D-D698-96D3DF05818F}"/>
              </a:ext>
            </a:extLst>
          </p:cNvPr>
          <p:cNvSpPr txBox="1"/>
          <p:nvPr/>
        </p:nvSpPr>
        <p:spPr>
          <a:xfrm>
            <a:off x="8881796" y="3252171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2.4%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89" name="연결선: 꺾임 388">
            <a:extLst>
              <a:ext uri="{FF2B5EF4-FFF2-40B4-BE49-F238E27FC236}">
                <a16:creationId xmlns:a16="http://schemas.microsoft.com/office/drawing/2014/main" id="{CA844482-EC18-1E89-731A-8634DA44DBC1}"/>
              </a:ext>
            </a:extLst>
          </p:cNvPr>
          <p:cNvCxnSpPr>
            <a:cxnSpLocks/>
            <a:stCxn id="91" idx="4"/>
            <a:endCxn id="196" idx="2"/>
          </p:cNvCxnSpPr>
          <p:nvPr/>
        </p:nvCxnSpPr>
        <p:spPr>
          <a:xfrm rot="16200000" flipH="1">
            <a:off x="5226243" y="1888566"/>
            <a:ext cx="637419" cy="501324"/>
          </a:xfrm>
          <a:prstGeom prst="bentConnector2">
            <a:avLst/>
          </a:prstGeom>
          <a:ln>
            <a:solidFill>
              <a:srgbClr val="CC0099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연결선: 꺾임 391">
            <a:extLst>
              <a:ext uri="{FF2B5EF4-FFF2-40B4-BE49-F238E27FC236}">
                <a16:creationId xmlns:a16="http://schemas.microsoft.com/office/drawing/2014/main" id="{AA969EB1-6A8D-15E2-48F0-65DE41985962}"/>
              </a:ext>
            </a:extLst>
          </p:cNvPr>
          <p:cNvCxnSpPr>
            <a:cxnSpLocks/>
            <a:stCxn id="94" idx="4"/>
            <a:endCxn id="383" idx="2"/>
          </p:cNvCxnSpPr>
          <p:nvPr/>
        </p:nvCxnSpPr>
        <p:spPr>
          <a:xfrm rot="16200000" flipH="1">
            <a:off x="6856016" y="1449157"/>
            <a:ext cx="1089780" cy="1832504"/>
          </a:xfrm>
          <a:prstGeom prst="bentConnector2">
            <a:avLst/>
          </a:prstGeom>
          <a:ln>
            <a:solidFill>
              <a:srgbClr val="CC0099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연결선: 꺾임 394">
            <a:extLst>
              <a:ext uri="{FF2B5EF4-FFF2-40B4-BE49-F238E27FC236}">
                <a16:creationId xmlns:a16="http://schemas.microsoft.com/office/drawing/2014/main" id="{0F36CB6E-C9FE-471F-A58C-78313FD8C00F}"/>
              </a:ext>
            </a:extLst>
          </p:cNvPr>
          <p:cNvCxnSpPr>
            <a:cxnSpLocks/>
            <a:stCxn id="168" idx="2"/>
            <a:endCxn id="386" idx="2"/>
          </p:cNvCxnSpPr>
          <p:nvPr/>
        </p:nvCxnSpPr>
        <p:spPr>
          <a:xfrm rot="10800000" flipV="1">
            <a:off x="8954346" y="3292769"/>
            <a:ext cx="2811447" cy="213755"/>
          </a:xfrm>
          <a:prstGeom prst="bentConnector3">
            <a:avLst>
              <a:gd name="adj1" fmla="val 108131"/>
            </a:avLst>
          </a:prstGeom>
          <a:ln>
            <a:solidFill>
              <a:srgbClr val="CC0099"/>
            </a:solidFill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B524FD31-365E-DD50-DDF3-A4ADC43FD415}"/>
              </a:ext>
            </a:extLst>
          </p:cNvPr>
          <p:cNvCxnSpPr>
            <a:cxnSpLocks/>
          </p:cNvCxnSpPr>
          <p:nvPr/>
        </p:nvCxnSpPr>
        <p:spPr>
          <a:xfrm>
            <a:off x="9709754" y="1838011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01E4945D-DA74-9AF2-0FFC-36D85FC132E3}"/>
              </a:ext>
            </a:extLst>
          </p:cNvPr>
          <p:cNvCxnSpPr>
            <a:cxnSpLocks/>
          </p:cNvCxnSpPr>
          <p:nvPr/>
        </p:nvCxnSpPr>
        <p:spPr>
          <a:xfrm>
            <a:off x="10418864" y="1838011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481116C2-2091-E71E-7C13-A6683A1B47E7}"/>
              </a:ext>
            </a:extLst>
          </p:cNvPr>
          <p:cNvSpPr txBox="1"/>
          <p:nvPr/>
        </p:nvSpPr>
        <p:spPr>
          <a:xfrm>
            <a:off x="9569839" y="1446409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1.4%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9E40FF6-E599-AAA1-8986-CB9E1AB8C22A}"/>
              </a:ext>
            </a:extLst>
          </p:cNvPr>
          <p:cNvSpPr txBox="1"/>
          <p:nvPr/>
        </p:nvSpPr>
        <p:spPr>
          <a:xfrm>
            <a:off x="10236589" y="1446409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0.5%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3AC3AA0-438C-F795-1E1D-6C28B5512D7F}"/>
              </a:ext>
            </a:extLst>
          </p:cNvPr>
          <p:cNvSpPr/>
          <p:nvPr/>
        </p:nvSpPr>
        <p:spPr>
          <a:xfrm>
            <a:off x="4527318" y="391917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965B23A1-D32B-8463-AC1C-03CB721D7446}"/>
              </a:ext>
            </a:extLst>
          </p:cNvPr>
          <p:cNvSpPr/>
          <p:nvPr/>
        </p:nvSpPr>
        <p:spPr>
          <a:xfrm>
            <a:off x="7013488" y="391917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D03C061B-5519-3640-434A-C9E0B327DDD2}"/>
              </a:ext>
            </a:extLst>
          </p:cNvPr>
          <p:cNvSpPr/>
          <p:nvPr/>
        </p:nvSpPr>
        <p:spPr>
          <a:xfrm>
            <a:off x="9618501" y="391917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4CD0DF1-4E14-BAA8-821B-608C6113CE8A}"/>
              </a:ext>
            </a:extLst>
          </p:cNvPr>
          <p:cNvSpPr/>
          <p:nvPr/>
        </p:nvSpPr>
        <p:spPr>
          <a:xfrm>
            <a:off x="2080665" y="3863064"/>
            <a:ext cx="1283903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설치 없음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098C1930-E395-E445-5247-2EC8168EA568}"/>
              </a:ext>
            </a:extLst>
          </p:cNvPr>
          <p:cNvSpPr/>
          <p:nvPr/>
        </p:nvSpPr>
        <p:spPr>
          <a:xfrm>
            <a:off x="3393380" y="3863064"/>
            <a:ext cx="999888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Site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문제인 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</a:rPr>
              <a:t>경우없음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7A7424DC-84C5-C6FD-C0CA-A9B853CD8DF1}"/>
              </a:ext>
            </a:extLst>
          </p:cNvPr>
          <p:cNvSpPr/>
          <p:nvPr/>
        </p:nvSpPr>
        <p:spPr>
          <a:xfrm>
            <a:off x="4879279" y="3863064"/>
            <a:ext cx="1381807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기사배정과 예약시간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확정 후 이관됨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D05A04B-27C7-C662-324B-94F1BD039671}"/>
              </a:ext>
            </a:extLst>
          </p:cNvPr>
          <p:cNvSpPr/>
          <p:nvPr/>
        </p:nvSpPr>
        <p:spPr>
          <a:xfrm>
            <a:off x="7410184" y="3863064"/>
            <a:ext cx="2031621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1~3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일 내 완료로 필요 없음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1DAC869-6777-F8CC-7ABB-3BED902BD428}"/>
              </a:ext>
            </a:extLst>
          </p:cNvPr>
          <p:cNvSpPr txBox="1"/>
          <p:nvPr/>
        </p:nvSpPr>
        <p:spPr>
          <a:xfrm>
            <a:off x="4284270" y="3690577"/>
            <a:ext cx="740908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타 센터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이관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1D0A5EF-D10C-BB9A-9632-113984525AC5}"/>
              </a:ext>
            </a:extLst>
          </p:cNvPr>
          <p:cNvSpPr txBox="1"/>
          <p:nvPr/>
        </p:nvSpPr>
        <p:spPr>
          <a:xfrm>
            <a:off x="6830869" y="3690577"/>
            <a:ext cx="614271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고객 연기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F90D5E4-15D5-C574-E475-443FE50241E3}"/>
              </a:ext>
            </a:extLst>
          </p:cNvPr>
          <p:cNvSpPr txBox="1"/>
          <p:nvPr/>
        </p:nvSpPr>
        <p:spPr>
          <a:xfrm>
            <a:off x="9402619" y="3690577"/>
            <a:ext cx="614271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고객 부재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0FC4033-4E8B-BA6A-0A49-DE09BC716AC7}"/>
              </a:ext>
            </a:extLst>
          </p:cNvPr>
          <p:cNvSpPr txBox="1"/>
          <p:nvPr/>
        </p:nvSpPr>
        <p:spPr>
          <a:xfrm>
            <a:off x="930967" y="4230607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RTAT</a:t>
            </a:r>
            <a:endParaRPr lang="ko-KR" altLang="en-US" sz="1000" dirty="0"/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99363B70-0A0A-9A32-4B1C-E0CCC477EB5C}"/>
              </a:ext>
            </a:extLst>
          </p:cNvPr>
          <p:cNvCxnSpPr>
            <a:cxnSpLocks/>
            <a:stCxn id="147" idx="3"/>
          </p:cNvCxnSpPr>
          <p:nvPr/>
        </p:nvCxnSpPr>
        <p:spPr>
          <a:xfrm flipV="1">
            <a:off x="1416997" y="4341638"/>
            <a:ext cx="4479138" cy="12080"/>
          </a:xfrm>
          <a:prstGeom prst="straightConnector1">
            <a:avLst/>
          </a:prstGeom>
          <a:ln w="9525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340845BC-E44E-655F-94D0-7232A23706EE}"/>
              </a:ext>
            </a:extLst>
          </p:cNvPr>
          <p:cNvSpPr txBox="1"/>
          <p:nvPr/>
        </p:nvSpPr>
        <p:spPr>
          <a:xfrm>
            <a:off x="1288408" y="4362106"/>
            <a:ext cx="26005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3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 내 처리율 </a:t>
            </a:r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95%, 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익일 처리 약 </a:t>
            </a:r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50%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618BFDF8-B531-6A48-811E-D1247A3988BF}"/>
              </a:ext>
            </a:extLst>
          </p:cNvPr>
          <p:cNvSpPr/>
          <p:nvPr/>
        </p:nvSpPr>
        <p:spPr>
          <a:xfrm>
            <a:off x="9915877" y="3863064"/>
            <a:ext cx="777287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</a:rPr>
              <a:t>필요없음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SN/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설치정보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81833B17-5B7C-A6B5-35C1-65C30FFF11C8}"/>
              </a:ext>
            </a:extLst>
          </p:cNvPr>
          <p:cNvSpPr/>
          <p:nvPr/>
        </p:nvSpPr>
        <p:spPr>
          <a:xfrm>
            <a:off x="10769363" y="3863064"/>
            <a:ext cx="1396291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필요 없음 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</a:rPr>
              <a:t>기사별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 자체 진행 후 주문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6FC4816-EC01-1018-C1BC-27AD8A1B2B53}"/>
              </a:ext>
            </a:extLst>
          </p:cNvPr>
          <p:cNvSpPr txBox="1"/>
          <p:nvPr/>
        </p:nvSpPr>
        <p:spPr>
          <a:xfrm>
            <a:off x="5229799" y="4219309"/>
            <a:ext cx="454015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당일</a:t>
            </a:r>
            <a:endParaRPr lang="en-US" altLang="ko-KR" sz="1100" dirty="0">
              <a:solidFill>
                <a:srgbClr val="00B050"/>
              </a:solidFill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996635CC-7F69-1D68-5570-FF43532DBEA7}"/>
              </a:ext>
            </a:extLst>
          </p:cNvPr>
          <p:cNvCxnSpPr>
            <a:cxnSpLocks/>
          </p:cNvCxnSpPr>
          <p:nvPr/>
        </p:nvCxnSpPr>
        <p:spPr>
          <a:xfrm flipV="1">
            <a:off x="6500602" y="4344375"/>
            <a:ext cx="5505351" cy="9343"/>
          </a:xfrm>
          <a:prstGeom prst="straightConnector1">
            <a:avLst/>
          </a:prstGeom>
          <a:ln w="9525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013BC281-BED4-0643-7BE7-B2A37C4CC684}"/>
              </a:ext>
            </a:extLst>
          </p:cNvPr>
          <p:cNvSpPr txBox="1"/>
          <p:nvPr/>
        </p:nvSpPr>
        <p:spPr>
          <a:xfrm>
            <a:off x="11235011" y="4219309"/>
            <a:ext cx="622695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~ 1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</a:t>
            </a:r>
            <a:endParaRPr lang="en-US" altLang="ko-KR" sz="1100" dirty="0">
              <a:solidFill>
                <a:srgbClr val="00B050"/>
              </a:solidFill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6FF541FD-EE99-B8CD-E323-E888B7D54FF7}"/>
              </a:ext>
            </a:extLst>
          </p:cNvPr>
          <p:cNvSpPr/>
          <p:nvPr/>
        </p:nvSpPr>
        <p:spPr>
          <a:xfrm>
            <a:off x="11765792" y="3196764"/>
            <a:ext cx="192012" cy="1920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299A35C8-DE79-A12C-B460-969399C4F940}"/>
              </a:ext>
            </a:extLst>
          </p:cNvPr>
          <p:cNvSpPr txBox="1"/>
          <p:nvPr/>
        </p:nvSpPr>
        <p:spPr>
          <a:xfrm>
            <a:off x="11288739" y="2986563"/>
            <a:ext cx="954107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 후 미완료시</a:t>
            </a:r>
            <a:endParaRPr lang="en-US" altLang="ko-KR" sz="900" dirty="0">
              <a:solidFill>
                <a:srgbClr val="00B05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7B521892-A7DB-5D92-4F5F-D0CBA811FB14}"/>
              </a:ext>
            </a:extLst>
          </p:cNvPr>
          <p:cNvCxnSpPr>
            <a:cxnSpLocks/>
          </p:cNvCxnSpPr>
          <p:nvPr/>
        </p:nvCxnSpPr>
        <p:spPr>
          <a:xfrm flipH="1">
            <a:off x="490975" y="4668262"/>
            <a:ext cx="11514978" cy="0"/>
          </a:xfrm>
          <a:prstGeom prst="line">
            <a:avLst/>
          </a:prstGeom>
          <a:noFill/>
          <a:ln w="22225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95534730-3229-887F-F4F3-99E781641579}"/>
              </a:ext>
            </a:extLst>
          </p:cNvPr>
          <p:cNvSpPr txBox="1"/>
          <p:nvPr/>
        </p:nvSpPr>
        <p:spPr>
          <a:xfrm>
            <a:off x="1149680" y="4988242"/>
            <a:ext cx="58541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공통</a:t>
            </a:r>
            <a:endParaRPr lang="en-US" altLang="ko-KR" sz="11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  <a:p>
            <a:pPr algn="ctr"/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(32</a:t>
            </a:r>
            <a:r>
              <a:rPr lang="ko-KR" altLang="en-US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개</a:t>
            </a:r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)</a:t>
            </a:r>
            <a:endParaRPr lang="ko-KR" altLang="en-US" sz="11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3844277-CD5D-D7A7-CA6F-EAA61019528E}"/>
              </a:ext>
            </a:extLst>
          </p:cNvPr>
          <p:cNvSpPr txBox="1"/>
          <p:nvPr/>
        </p:nvSpPr>
        <p:spPr>
          <a:xfrm>
            <a:off x="1130447" y="5511577"/>
            <a:ext cx="59182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Local</a:t>
            </a:r>
          </a:p>
          <a:p>
            <a:pPr algn="ctr"/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(5</a:t>
            </a:r>
            <a:r>
              <a:rPr lang="ko-KR" altLang="en-US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개</a:t>
            </a:r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)</a:t>
            </a:r>
            <a:endParaRPr lang="ko-KR" altLang="en-US" sz="11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626A2FE-20B9-E701-2881-8D287B278AEE}"/>
              </a:ext>
            </a:extLst>
          </p:cNvPr>
          <p:cNvSpPr txBox="1"/>
          <p:nvPr/>
        </p:nvSpPr>
        <p:spPr>
          <a:xfrm>
            <a:off x="2084984" y="5300537"/>
            <a:ext cx="758541" cy="33855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Installation</a:t>
            </a:r>
            <a:r>
              <a:rPr lang="ko-KR" altLang="en-US" sz="8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Site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Not ready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B307717-7FFF-02CD-C239-545EB3F17601}"/>
              </a:ext>
            </a:extLst>
          </p:cNvPr>
          <p:cNvSpPr txBox="1"/>
          <p:nvPr/>
        </p:nvSpPr>
        <p:spPr>
          <a:xfrm>
            <a:off x="2848023" y="5292843"/>
            <a:ext cx="683200" cy="35394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 for</a:t>
            </a:r>
            <a:endParaRPr kumimoji="0" lang="en-US" altLang="ko-KR" sz="90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Gas</a:t>
            </a:r>
            <a:r>
              <a:rPr lang="ko-KR" altLang="en-US" sz="8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charging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D51C2228-0711-46B8-D2DE-EBC014A772C6}"/>
              </a:ext>
            </a:extLst>
          </p:cNvPr>
          <p:cNvSpPr/>
          <p:nvPr/>
        </p:nvSpPr>
        <p:spPr>
          <a:xfrm>
            <a:off x="1620992" y="3912575"/>
            <a:ext cx="192012" cy="1920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BC614332-8482-8CA8-8A15-610DD16CCD4C}"/>
              </a:ext>
            </a:extLst>
          </p:cNvPr>
          <p:cNvSpPr txBox="1"/>
          <p:nvPr/>
        </p:nvSpPr>
        <p:spPr>
          <a:xfrm>
            <a:off x="3536228" y="5292843"/>
            <a:ext cx="678391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Repair Site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Not ready</a:t>
            </a:r>
            <a:endParaRPr kumimoji="0" lang="ko-KR" altLang="en-US" sz="90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6176B3DB-3747-23ED-C095-518C202478FF}"/>
              </a:ext>
            </a:extLst>
          </p:cNvPr>
          <p:cNvSpPr/>
          <p:nvPr/>
        </p:nvSpPr>
        <p:spPr>
          <a:xfrm>
            <a:off x="5795614" y="236193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899992B-FCD7-3DB2-447D-774EA464C38C}"/>
              </a:ext>
            </a:extLst>
          </p:cNvPr>
          <p:cNvSpPr txBox="1"/>
          <p:nvPr/>
        </p:nvSpPr>
        <p:spPr>
          <a:xfrm>
            <a:off x="5322539" y="1918927"/>
            <a:ext cx="1120820" cy="353943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서비스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공백지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No servicer to cover area</a:t>
            </a:r>
            <a:endParaRPr lang="en-US" altLang="ko-KR" sz="8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D495E3B-22FB-C509-B628-0403F6BE516B}"/>
              </a:ext>
            </a:extLst>
          </p:cNvPr>
          <p:cNvSpPr txBox="1"/>
          <p:nvPr/>
        </p:nvSpPr>
        <p:spPr>
          <a:xfrm>
            <a:off x="5713054" y="2179834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AE51635C-0B4C-7820-A33C-BC951F4DFD39}"/>
              </a:ext>
            </a:extLst>
          </p:cNvPr>
          <p:cNvCxnSpPr>
            <a:cxnSpLocks/>
          </p:cNvCxnSpPr>
          <p:nvPr/>
        </p:nvCxnSpPr>
        <p:spPr>
          <a:xfrm>
            <a:off x="7097357" y="1792399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C9F32239-EC09-8792-7808-5B392D41FAEC}"/>
              </a:ext>
            </a:extLst>
          </p:cNvPr>
          <p:cNvCxnSpPr>
            <a:cxnSpLocks/>
            <a:stCxn id="278" idx="6"/>
          </p:cNvCxnSpPr>
          <p:nvPr/>
        </p:nvCxnSpPr>
        <p:spPr>
          <a:xfrm>
            <a:off x="1860492" y="5123381"/>
            <a:ext cx="10129942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타원 277">
            <a:extLst>
              <a:ext uri="{FF2B5EF4-FFF2-40B4-BE49-F238E27FC236}">
                <a16:creationId xmlns:a16="http://schemas.microsoft.com/office/drawing/2014/main" id="{ECACB46D-4DCD-6B88-A432-C83AD36CCB74}"/>
              </a:ext>
            </a:extLst>
          </p:cNvPr>
          <p:cNvSpPr/>
          <p:nvPr/>
        </p:nvSpPr>
        <p:spPr>
          <a:xfrm>
            <a:off x="1668480" y="5027375"/>
            <a:ext cx="192012" cy="1920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 dirty="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1E1EAAE-FC17-EBF5-517E-5B1C0E7168A3}"/>
              </a:ext>
            </a:extLst>
          </p:cNvPr>
          <p:cNvSpPr txBox="1"/>
          <p:nvPr/>
        </p:nvSpPr>
        <p:spPr>
          <a:xfrm>
            <a:off x="4243726" y="4709175"/>
            <a:ext cx="78739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Transfer to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Correct center</a:t>
            </a:r>
            <a:endParaRPr kumimoji="0" lang="ko-KR" altLang="en-US" sz="90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endParaRPr kumimoji="0" lang="ko-KR" altLang="en-US" sz="90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E6117658-D630-EE64-B0FB-7126FA934915}"/>
              </a:ext>
            </a:extLst>
          </p:cNvPr>
          <p:cNvSpPr/>
          <p:nvPr/>
        </p:nvSpPr>
        <p:spPr>
          <a:xfrm>
            <a:off x="4539045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70098F4-2F83-106B-654E-F11A74E51C5B}"/>
              </a:ext>
            </a:extLst>
          </p:cNvPr>
          <p:cNvSpPr txBox="1"/>
          <p:nvPr/>
        </p:nvSpPr>
        <p:spPr>
          <a:xfrm>
            <a:off x="4894539" y="4709175"/>
            <a:ext cx="800219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Job Allocation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to engineer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B0618A4D-1599-2EFF-A17B-9BBC097375CA}"/>
              </a:ext>
            </a:extLst>
          </p:cNvPr>
          <p:cNvSpPr/>
          <p:nvPr/>
        </p:nvSpPr>
        <p:spPr>
          <a:xfrm>
            <a:off x="519627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F6838361-1213-4AB1-B4E1-E0B81C0449BD}"/>
              </a:ext>
            </a:extLst>
          </p:cNvPr>
          <p:cNvSpPr txBox="1"/>
          <p:nvPr/>
        </p:nvSpPr>
        <p:spPr>
          <a:xfrm>
            <a:off x="5521772" y="4709175"/>
            <a:ext cx="764953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No servicer</a:t>
            </a: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to cover area</a:t>
            </a:r>
            <a:endParaRPr lang="en-US" altLang="ko-KR" sz="9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3" name="타원 262">
            <a:extLst>
              <a:ext uri="{FF2B5EF4-FFF2-40B4-BE49-F238E27FC236}">
                <a16:creationId xmlns:a16="http://schemas.microsoft.com/office/drawing/2014/main" id="{DDC19BC2-6BEF-3602-C73D-4B5E8A45B561}"/>
              </a:ext>
            </a:extLst>
          </p:cNvPr>
          <p:cNvSpPr/>
          <p:nvPr/>
        </p:nvSpPr>
        <p:spPr>
          <a:xfrm>
            <a:off x="580587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3996134-BE0E-A968-223E-A370D42AD5A5}"/>
              </a:ext>
            </a:extLst>
          </p:cNvPr>
          <p:cNvSpPr txBox="1"/>
          <p:nvPr/>
        </p:nvSpPr>
        <p:spPr>
          <a:xfrm>
            <a:off x="6192658" y="4709175"/>
            <a:ext cx="566181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First visit</a:t>
            </a: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arranged</a:t>
            </a:r>
            <a:endParaRPr lang="en-US" altLang="ko-KR" sz="9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5" name="타원 264">
            <a:extLst>
              <a:ext uri="{FF2B5EF4-FFF2-40B4-BE49-F238E27FC236}">
                <a16:creationId xmlns:a16="http://schemas.microsoft.com/office/drawing/2014/main" id="{EE9E357E-3EB5-99FD-8708-135E63937500}"/>
              </a:ext>
            </a:extLst>
          </p:cNvPr>
          <p:cNvSpPr/>
          <p:nvPr/>
        </p:nvSpPr>
        <p:spPr>
          <a:xfrm>
            <a:off x="637737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9BD2DCB-9657-2B80-9B9B-79EE5019BC7C}"/>
              </a:ext>
            </a:extLst>
          </p:cNvPr>
          <p:cNvSpPr txBox="1"/>
          <p:nvPr/>
        </p:nvSpPr>
        <p:spPr>
          <a:xfrm>
            <a:off x="6634558" y="4709175"/>
            <a:ext cx="939681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Customer request</a:t>
            </a: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reschedule</a:t>
            </a:r>
            <a:endParaRPr lang="en-US" altLang="ko-KR" sz="9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8" name="타원 267">
            <a:extLst>
              <a:ext uri="{FF2B5EF4-FFF2-40B4-BE49-F238E27FC236}">
                <a16:creationId xmlns:a16="http://schemas.microsoft.com/office/drawing/2014/main" id="{424105A2-8B25-C3F5-6087-90D6A5E4AD4D}"/>
              </a:ext>
            </a:extLst>
          </p:cNvPr>
          <p:cNvSpPr/>
          <p:nvPr/>
        </p:nvSpPr>
        <p:spPr>
          <a:xfrm>
            <a:off x="700602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6C4402D1-C06A-F00A-322A-3100859BBC5F}"/>
              </a:ext>
            </a:extLst>
          </p:cNvPr>
          <p:cNvSpPr txBox="1"/>
          <p:nvPr/>
        </p:nvSpPr>
        <p:spPr>
          <a:xfrm>
            <a:off x="7088388" y="5187484"/>
            <a:ext cx="1308370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Rescheduled </a:t>
            </a: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due to technician schedule</a:t>
            </a:r>
            <a:endParaRPr lang="en-US" altLang="ko-KR" sz="9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0" name="타원 269">
            <a:extLst>
              <a:ext uri="{FF2B5EF4-FFF2-40B4-BE49-F238E27FC236}">
                <a16:creationId xmlns:a16="http://schemas.microsoft.com/office/drawing/2014/main" id="{E8609AB8-7F7A-33A3-B39D-248BEC6BE9A6}"/>
              </a:ext>
            </a:extLst>
          </p:cNvPr>
          <p:cNvSpPr/>
          <p:nvPr/>
        </p:nvSpPr>
        <p:spPr>
          <a:xfrm>
            <a:off x="7644195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43396EF1-F597-5B2F-6FDE-B862F9CE6808}"/>
              </a:ext>
            </a:extLst>
          </p:cNvPr>
          <p:cNvSpPr txBox="1"/>
          <p:nvPr/>
        </p:nvSpPr>
        <p:spPr>
          <a:xfrm>
            <a:off x="8024443" y="4709175"/>
            <a:ext cx="769762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Visit arranged</a:t>
            </a: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(over 3days)</a:t>
            </a:r>
            <a:endParaRPr lang="en-US" altLang="ko-KR" sz="9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AA8D1D95-0C84-33D4-42C2-534EB45D5405}"/>
              </a:ext>
            </a:extLst>
          </p:cNvPr>
          <p:cNvSpPr/>
          <p:nvPr/>
        </p:nvSpPr>
        <p:spPr>
          <a:xfrm>
            <a:off x="8310945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07D0C2F6-62DF-70E1-DC07-5DF849CED436}"/>
              </a:ext>
            </a:extLst>
          </p:cNvPr>
          <p:cNvCxnSpPr>
            <a:cxnSpLocks/>
          </p:cNvCxnSpPr>
          <p:nvPr/>
        </p:nvCxnSpPr>
        <p:spPr>
          <a:xfrm flipH="1">
            <a:off x="8096276" y="4791450"/>
            <a:ext cx="638149" cy="258567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5450AB2B-E0AD-3E92-80C4-D4D6C4CBF6B7}"/>
              </a:ext>
            </a:extLst>
          </p:cNvPr>
          <p:cNvSpPr txBox="1"/>
          <p:nvPr/>
        </p:nvSpPr>
        <p:spPr>
          <a:xfrm>
            <a:off x="8563139" y="5187484"/>
            <a:ext cx="987770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Next visit arranged</a:t>
            </a: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(not fixed first time)</a:t>
            </a:r>
            <a:endParaRPr lang="en-US" altLang="ko-KR" sz="9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5" name="타원 284">
            <a:extLst>
              <a:ext uri="{FF2B5EF4-FFF2-40B4-BE49-F238E27FC236}">
                <a16:creationId xmlns:a16="http://schemas.microsoft.com/office/drawing/2014/main" id="{763B9EDE-7F49-FE2C-A577-139D2B2B752D}"/>
              </a:ext>
            </a:extLst>
          </p:cNvPr>
          <p:cNvSpPr/>
          <p:nvPr/>
        </p:nvSpPr>
        <p:spPr>
          <a:xfrm>
            <a:off x="8958645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9C4B7621-B547-BEA2-9FFB-3B5B6881772E}"/>
              </a:ext>
            </a:extLst>
          </p:cNvPr>
          <p:cNvSpPr txBox="1"/>
          <p:nvPr/>
        </p:nvSpPr>
        <p:spPr>
          <a:xfrm>
            <a:off x="9006362" y="4709175"/>
            <a:ext cx="1415772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Customer absence</a:t>
            </a: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Not able to contact customer</a:t>
            </a:r>
            <a:endParaRPr lang="en-US" altLang="ko-KR" sz="9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7" name="타원 286">
            <a:extLst>
              <a:ext uri="{FF2B5EF4-FFF2-40B4-BE49-F238E27FC236}">
                <a16:creationId xmlns:a16="http://schemas.microsoft.com/office/drawing/2014/main" id="{18403358-8302-07D1-76AF-DA2FEACEDC9F}"/>
              </a:ext>
            </a:extLst>
          </p:cNvPr>
          <p:cNvSpPr/>
          <p:nvPr/>
        </p:nvSpPr>
        <p:spPr>
          <a:xfrm>
            <a:off x="961587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77E82CCD-CF0A-5FF6-DD29-A89AC5A41BAF}"/>
              </a:ext>
            </a:extLst>
          </p:cNvPr>
          <p:cNvSpPr txBox="1"/>
          <p:nvPr/>
        </p:nvSpPr>
        <p:spPr>
          <a:xfrm>
            <a:off x="9971701" y="5187484"/>
            <a:ext cx="894797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Information need</a:t>
            </a: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to be checked</a:t>
            </a:r>
            <a:endParaRPr lang="en-US" altLang="ko-KR" sz="9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9" name="타원 288">
            <a:extLst>
              <a:ext uri="{FF2B5EF4-FFF2-40B4-BE49-F238E27FC236}">
                <a16:creationId xmlns:a16="http://schemas.microsoft.com/office/drawing/2014/main" id="{54583D32-720D-27CC-EDEF-C8B45CC47620}"/>
              </a:ext>
            </a:extLst>
          </p:cNvPr>
          <p:cNvSpPr/>
          <p:nvPr/>
        </p:nvSpPr>
        <p:spPr>
          <a:xfrm>
            <a:off x="1032072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6CF48F2C-3262-DD0A-CB44-367E28188312}"/>
              </a:ext>
            </a:extLst>
          </p:cNvPr>
          <p:cNvSpPr txBox="1"/>
          <p:nvPr/>
        </p:nvSpPr>
        <p:spPr>
          <a:xfrm>
            <a:off x="10665365" y="4795475"/>
            <a:ext cx="745717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Prescreening</a:t>
            </a:r>
            <a:endParaRPr lang="en-US" altLang="ko-KR" sz="9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1" name="타원 290">
            <a:extLst>
              <a:ext uri="{FF2B5EF4-FFF2-40B4-BE49-F238E27FC236}">
                <a16:creationId xmlns:a16="http://schemas.microsoft.com/office/drawing/2014/main" id="{F8360E19-5FCE-B0DB-9753-FD6C887557B8}"/>
              </a:ext>
            </a:extLst>
          </p:cNvPr>
          <p:cNvSpPr/>
          <p:nvPr/>
        </p:nvSpPr>
        <p:spPr>
          <a:xfrm>
            <a:off x="10939845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6BC23EC-9A11-D630-4ECA-0DC618C33F73}"/>
              </a:ext>
            </a:extLst>
          </p:cNvPr>
          <p:cNvSpPr txBox="1"/>
          <p:nvPr/>
        </p:nvSpPr>
        <p:spPr>
          <a:xfrm>
            <a:off x="11326412" y="4709175"/>
            <a:ext cx="776174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Parts have</a:t>
            </a:r>
          </a:p>
          <a:p>
            <a:pPr algn="ctr" defTabSz="779252" latinLnBrk="0"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been ordered</a:t>
            </a:r>
            <a:endParaRPr lang="en-US" altLang="ko-KR" sz="900" b="1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3" name="타원 292">
            <a:extLst>
              <a:ext uri="{FF2B5EF4-FFF2-40B4-BE49-F238E27FC236}">
                <a16:creationId xmlns:a16="http://schemas.microsoft.com/office/drawing/2014/main" id="{154A9DFF-1C22-FDCA-D6DF-983DF1C5DA72}"/>
              </a:ext>
            </a:extLst>
          </p:cNvPr>
          <p:cNvSpPr/>
          <p:nvPr/>
        </p:nvSpPr>
        <p:spPr>
          <a:xfrm>
            <a:off x="1161612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08" name="직선 화살표 연결선 307">
            <a:extLst>
              <a:ext uri="{FF2B5EF4-FFF2-40B4-BE49-F238E27FC236}">
                <a16:creationId xmlns:a16="http://schemas.microsoft.com/office/drawing/2014/main" id="{C6BC4A15-AE9C-0729-CC74-E3C0018956DA}"/>
              </a:ext>
            </a:extLst>
          </p:cNvPr>
          <p:cNvCxnSpPr>
            <a:cxnSpLocks/>
            <a:stCxn id="309" idx="6"/>
          </p:cNvCxnSpPr>
          <p:nvPr/>
        </p:nvCxnSpPr>
        <p:spPr>
          <a:xfrm>
            <a:off x="1860492" y="5728646"/>
            <a:ext cx="2296682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타원 308">
            <a:extLst>
              <a:ext uri="{FF2B5EF4-FFF2-40B4-BE49-F238E27FC236}">
                <a16:creationId xmlns:a16="http://schemas.microsoft.com/office/drawing/2014/main" id="{71C72B25-D742-9807-C429-8AB001EF4A7B}"/>
              </a:ext>
            </a:extLst>
          </p:cNvPr>
          <p:cNvSpPr/>
          <p:nvPr/>
        </p:nvSpPr>
        <p:spPr>
          <a:xfrm>
            <a:off x="1668480" y="5632640"/>
            <a:ext cx="192012" cy="1920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 dirty="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BAD7E10D-8462-4A74-2D9D-E7D0F192D47E}"/>
              </a:ext>
            </a:extLst>
          </p:cNvPr>
          <p:cNvSpPr/>
          <p:nvPr/>
        </p:nvSpPr>
        <p:spPr>
          <a:xfrm>
            <a:off x="3091245" y="561211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228B724-244E-3BAA-453C-533738921037}"/>
              </a:ext>
            </a:extLst>
          </p:cNvPr>
          <p:cNvSpPr/>
          <p:nvPr/>
        </p:nvSpPr>
        <p:spPr>
          <a:xfrm>
            <a:off x="2365875" y="561211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86489991-1F46-9E35-B353-7C4A3B767E89}"/>
              </a:ext>
            </a:extLst>
          </p:cNvPr>
          <p:cNvSpPr/>
          <p:nvPr/>
        </p:nvSpPr>
        <p:spPr>
          <a:xfrm>
            <a:off x="3777045" y="561211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878109F8-97C1-F055-C9EC-107E4CAC2201}"/>
              </a:ext>
            </a:extLst>
          </p:cNvPr>
          <p:cNvSpPr txBox="1"/>
          <p:nvPr/>
        </p:nvSpPr>
        <p:spPr>
          <a:xfrm>
            <a:off x="930967" y="5869402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RTAT</a:t>
            </a:r>
            <a:endParaRPr lang="ko-KR" altLang="en-US" sz="1000" dirty="0"/>
          </a:p>
        </p:txBody>
      </p:sp>
      <p:cxnSp>
        <p:nvCxnSpPr>
          <p:cNvPr id="321" name="직선 화살표 연결선 320">
            <a:extLst>
              <a:ext uri="{FF2B5EF4-FFF2-40B4-BE49-F238E27FC236}">
                <a16:creationId xmlns:a16="http://schemas.microsoft.com/office/drawing/2014/main" id="{385CB8B7-604D-0B67-841F-712383B6F95C}"/>
              </a:ext>
            </a:extLst>
          </p:cNvPr>
          <p:cNvCxnSpPr>
            <a:cxnSpLocks/>
            <a:stCxn id="320" idx="3"/>
          </p:cNvCxnSpPr>
          <p:nvPr/>
        </p:nvCxnSpPr>
        <p:spPr>
          <a:xfrm flipV="1">
            <a:off x="1416997" y="5973635"/>
            <a:ext cx="6999620" cy="18878"/>
          </a:xfrm>
          <a:prstGeom prst="straightConnector1">
            <a:avLst/>
          </a:prstGeom>
          <a:ln w="9525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F3C00D6D-55FE-8F14-51B0-6AC26F9F90D0}"/>
              </a:ext>
            </a:extLst>
          </p:cNvPr>
          <p:cNvSpPr txBox="1"/>
          <p:nvPr/>
        </p:nvSpPr>
        <p:spPr>
          <a:xfrm>
            <a:off x="7633957" y="5858104"/>
            <a:ext cx="611760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</a:t>
            </a:r>
            <a:endParaRPr lang="en-US" altLang="ko-KR" sz="1100" dirty="0">
              <a:solidFill>
                <a:srgbClr val="00B050"/>
              </a:solidFill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cxnSp>
        <p:nvCxnSpPr>
          <p:cNvPr id="325" name="직선 화살표 연결선 324">
            <a:extLst>
              <a:ext uri="{FF2B5EF4-FFF2-40B4-BE49-F238E27FC236}">
                <a16:creationId xmlns:a16="http://schemas.microsoft.com/office/drawing/2014/main" id="{A5A2B259-D76C-96EF-B1E2-65459C18630D}"/>
              </a:ext>
            </a:extLst>
          </p:cNvPr>
          <p:cNvCxnSpPr>
            <a:cxnSpLocks/>
          </p:cNvCxnSpPr>
          <p:nvPr/>
        </p:nvCxnSpPr>
        <p:spPr>
          <a:xfrm>
            <a:off x="8413164" y="5983170"/>
            <a:ext cx="3592789" cy="0"/>
          </a:xfrm>
          <a:prstGeom prst="straightConnector1">
            <a:avLst/>
          </a:prstGeom>
          <a:ln w="9525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TextBox 326">
            <a:extLst>
              <a:ext uri="{FF2B5EF4-FFF2-40B4-BE49-F238E27FC236}">
                <a16:creationId xmlns:a16="http://schemas.microsoft.com/office/drawing/2014/main" id="{1E9750D1-7F93-F98D-5EA0-D8F962F9C786}"/>
              </a:ext>
            </a:extLst>
          </p:cNvPr>
          <p:cNvSpPr txBox="1"/>
          <p:nvPr/>
        </p:nvSpPr>
        <p:spPr>
          <a:xfrm>
            <a:off x="11235011" y="5858104"/>
            <a:ext cx="622695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1~2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</a:t>
            </a:r>
            <a:endParaRPr lang="en-US" altLang="ko-KR" sz="1100" dirty="0">
              <a:solidFill>
                <a:srgbClr val="00B050"/>
              </a:solidFill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18B583AC-85E7-21CE-D3E8-DE01A843A981}"/>
              </a:ext>
            </a:extLst>
          </p:cNvPr>
          <p:cNvSpPr/>
          <p:nvPr/>
        </p:nvSpPr>
        <p:spPr>
          <a:xfrm>
            <a:off x="1972686" y="5244123"/>
            <a:ext cx="2215035" cy="578230"/>
          </a:xfrm>
          <a:prstGeom prst="rect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609CC23C-9568-A217-8E95-05B2368DFAA8}"/>
              </a:ext>
            </a:extLst>
          </p:cNvPr>
          <p:cNvSpPr txBox="1"/>
          <p:nvPr/>
        </p:nvSpPr>
        <p:spPr>
          <a:xfrm>
            <a:off x="4141984" y="5238107"/>
            <a:ext cx="622285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인도 </a:t>
            </a:r>
            <a:r>
              <a:rPr lang="en-US" altLang="ko-KR" sz="900" b="1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Only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3C008D6E-634D-9B7E-163E-4A06A9E298B5}"/>
              </a:ext>
            </a:extLst>
          </p:cNvPr>
          <p:cNvSpPr txBox="1"/>
          <p:nvPr/>
        </p:nvSpPr>
        <p:spPr>
          <a:xfrm>
            <a:off x="5826034" y="6587518"/>
            <a:ext cx="386644" cy="24622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 / 4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482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26CDD-9C48-05E2-7A0B-18F6E814B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B8CC488-BA1A-67E5-DE03-81631C1BA5CE}"/>
              </a:ext>
            </a:extLst>
          </p:cNvPr>
          <p:cNvSpPr>
            <a:spLocks/>
          </p:cNvSpPr>
          <p:nvPr/>
        </p:nvSpPr>
        <p:spPr>
          <a:xfrm>
            <a:off x="490974" y="4712347"/>
            <a:ext cx="11514979" cy="1450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76F32CDC-0DE8-81A2-89E1-41E15EAAD8D7}"/>
              </a:ext>
            </a:extLst>
          </p:cNvPr>
          <p:cNvCxnSpPr>
            <a:cxnSpLocks/>
          </p:cNvCxnSpPr>
          <p:nvPr/>
        </p:nvCxnSpPr>
        <p:spPr>
          <a:xfrm>
            <a:off x="1724132" y="1702532"/>
            <a:ext cx="0" cy="442205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85DB4DD0-FD01-7979-7024-F53EECED8140}"/>
              </a:ext>
            </a:extLst>
          </p:cNvPr>
          <p:cNvCxnSpPr>
            <a:cxnSpLocks/>
          </p:cNvCxnSpPr>
          <p:nvPr/>
        </p:nvCxnSpPr>
        <p:spPr>
          <a:xfrm>
            <a:off x="1252898" y="1600994"/>
            <a:ext cx="10708627" cy="0"/>
          </a:xfrm>
          <a:prstGeom prst="straightConnector1">
            <a:avLst/>
          </a:prstGeom>
          <a:ln w="28575">
            <a:solidFill>
              <a:srgbClr val="CC0099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517B76B-FE01-BBFB-C0CB-8A1E7F9F1093}"/>
              </a:ext>
            </a:extLst>
          </p:cNvPr>
          <p:cNvCxnSpPr>
            <a:cxnSpLocks/>
          </p:cNvCxnSpPr>
          <p:nvPr/>
        </p:nvCxnSpPr>
        <p:spPr>
          <a:xfrm>
            <a:off x="0" y="538239"/>
            <a:ext cx="12142694" cy="0"/>
          </a:xfrm>
          <a:prstGeom prst="line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CD2DC10-570A-252B-3BB9-5A6E01EADCBC}"/>
              </a:ext>
            </a:extLst>
          </p:cNvPr>
          <p:cNvSpPr txBox="1"/>
          <p:nvPr/>
        </p:nvSpPr>
        <p:spPr>
          <a:xfrm>
            <a:off x="70803" y="52044"/>
            <a:ext cx="4166525" cy="43281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Pending Reason Code 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통합 운영 방안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A54C1592-C029-4533-E27D-35EAB33AE59C}"/>
              </a:ext>
            </a:extLst>
          </p:cNvPr>
          <p:cNvCxnSpPr>
            <a:cxnSpLocks/>
          </p:cNvCxnSpPr>
          <p:nvPr/>
        </p:nvCxnSpPr>
        <p:spPr>
          <a:xfrm>
            <a:off x="6369129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9" name="타원 38">
            <a:extLst>
              <a:ext uri="{FF2B5EF4-FFF2-40B4-BE49-F238E27FC236}">
                <a16:creationId xmlns:a16="http://schemas.microsoft.com/office/drawing/2014/main" id="{898C156A-1572-63C1-3214-10BD304CF569}"/>
              </a:ext>
            </a:extLst>
          </p:cNvPr>
          <p:cNvSpPr/>
          <p:nvPr/>
        </p:nvSpPr>
        <p:spPr>
          <a:xfrm>
            <a:off x="6273123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AD4009-0E66-BEC6-18A4-E6D65A7174B4}"/>
              </a:ext>
            </a:extLst>
          </p:cNvPr>
          <p:cNvSpPr txBox="1"/>
          <p:nvPr/>
        </p:nvSpPr>
        <p:spPr>
          <a:xfrm>
            <a:off x="6020967" y="1067514"/>
            <a:ext cx="772614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기사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이동 중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En Route to~</a:t>
            </a:r>
            <a:endParaRPr lang="en-US" altLang="ko-KR" sz="8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1F6335F8-53BD-E2E1-8C99-A0EBB9B86AFA}"/>
              </a:ext>
            </a:extLst>
          </p:cNvPr>
          <p:cNvSpPr/>
          <p:nvPr/>
        </p:nvSpPr>
        <p:spPr>
          <a:xfrm>
            <a:off x="7539750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896D2D-1EC0-80FC-5A53-2B775ACF8367}"/>
              </a:ext>
            </a:extLst>
          </p:cNvPr>
          <p:cNvSpPr txBox="1"/>
          <p:nvPr/>
        </p:nvSpPr>
        <p:spPr>
          <a:xfrm>
            <a:off x="7342217" y="1067514"/>
            <a:ext cx="710451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방문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완료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Visit complete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14C2A30E-C1CB-08BA-72AB-6332F7A59917}"/>
              </a:ext>
            </a:extLst>
          </p:cNvPr>
          <p:cNvSpPr/>
          <p:nvPr/>
        </p:nvSpPr>
        <p:spPr>
          <a:xfrm>
            <a:off x="2199626" y="1510520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27EE28-09B0-98AB-C30F-3DD17F4078D6}"/>
              </a:ext>
            </a:extLst>
          </p:cNvPr>
          <p:cNvSpPr txBox="1"/>
          <p:nvPr/>
        </p:nvSpPr>
        <p:spPr>
          <a:xfrm>
            <a:off x="1988497" y="1067515"/>
            <a:ext cx="614271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부품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주문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Part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order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3E068CE-CBF5-FA98-5468-8C2709614EF2}"/>
              </a:ext>
            </a:extLst>
          </p:cNvPr>
          <p:cNvSpPr/>
          <p:nvPr/>
        </p:nvSpPr>
        <p:spPr>
          <a:xfrm>
            <a:off x="5057824" y="1510520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FC6AF5-0B7C-63F9-25D7-7063DC88BA30}"/>
              </a:ext>
            </a:extLst>
          </p:cNvPr>
          <p:cNvSpPr txBox="1"/>
          <p:nvPr/>
        </p:nvSpPr>
        <p:spPr>
          <a:xfrm>
            <a:off x="4783413" y="1067514"/>
            <a:ext cx="712053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배송사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지연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Delivery delay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F9132D98-922D-97FD-A6C2-4DA0C98A7962}"/>
              </a:ext>
            </a:extLst>
          </p:cNvPr>
          <p:cNvSpPr/>
          <p:nvPr/>
        </p:nvSpPr>
        <p:spPr>
          <a:xfrm>
            <a:off x="5662633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EED06D-78D8-3749-40FC-27FD03C19490}"/>
              </a:ext>
            </a:extLst>
          </p:cNvPr>
          <p:cNvSpPr txBox="1"/>
          <p:nvPr/>
        </p:nvSpPr>
        <p:spPr>
          <a:xfrm>
            <a:off x="5430332" y="1067514"/>
            <a:ext cx="678391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부품 입고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Part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received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E5A3A44-1752-AD3E-E445-E763CAC2518F}"/>
              </a:ext>
            </a:extLst>
          </p:cNvPr>
          <p:cNvSpPr/>
          <p:nvPr/>
        </p:nvSpPr>
        <p:spPr>
          <a:xfrm>
            <a:off x="2720256" y="1988420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FCB348-8DD6-29B0-FD0D-888916478984}"/>
              </a:ext>
            </a:extLst>
          </p:cNvPr>
          <p:cNvSpPr txBox="1"/>
          <p:nvPr/>
        </p:nvSpPr>
        <p:spPr>
          <a:xfrm>
            <a:off x="3077680" y="2129763"/>
            <a:ext cx="614271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부품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품절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Back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order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A787AF91-20FC-6A48-4677-7DFDBDED9E32}"/>
              </a:ext>
            </a:extLst>
          </p:cNvPr>
          <p:cNvSpPr/>
          <p:nvPr/>
        </p:nvSpPr>
        <p:spPr>
          <a:xfrm>
            <a:off x="3292479" y="2466320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B595884-3204-AD99-C240-6DA1A3228AC2}"/>
              </a:ext>
            </a:extLst>
          </p:cNvPr>
          <p:cNvSpPr txBox="1"/>
          <p:nvPr/>
        </p:nvSpPr>
        <p:spPr>
          <a:xfrm>
            <a:off x="3446411" y="2609366"/>
            <a:ext cx="1022110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부품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품절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(Depot)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Discontinued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186F4067-709E-1F79-05BE-542FCE364202}"/>
              </a:ext>
            </a:extLst>
          </p:cNvPr>
          <p:cNvCxnSpPr>
            <a:cxnSpLocks/>
            <a:stCxn id="48" idx="4"/>
            <a:endCxn id="56" idx="2"/>
          </p:cNvCxnSpPr>
          <p:nvPr/>
        </p:nvCxnSpPr>
        <p:spPr>
          <a:xfrm rot="16200000" flipH="1">
            <a:off x="2316997" y="1681167"/>
            <a:ext cx="381894" cy="424624"/>
          </a:xfrm>
          <a:prstGeom prst="bentConnector2">
            <a:avLst/>
          </a:prstGeom>
          <a:ln>
            <a:solidFill>
              <a:srgbClr val="CC009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5874445C-B4AB-51AC-F8AD-68D03694621E}"/>
              </a:ext>
            </a:extLst>
          </p:cNvPr>
          <p:cNvCxnSpPr>
            <a:cxnSpLocks/>
            <a:stCxn id="48" idx="4"/>
            <a:endCxn id="67" idx="2"/>
          </p:cNvCxnSpPr>
          <p:nvPr/>
        </p:nvCxnSpPr>
        <p:spPr>
          <a:xfrm rot="16200000" flipH="1">
            <a:off x="2364158" y="1634005"/>
            <a:ext cx="859794" cy="996847"/>
          </a:xfrm>
          <a:prstGeom prst="bentConnector2">
            <a:avLst/>
          </a:prstGeom>
          <a:ln>
            <a:solidFill>
              <a:srgbClr val="CC009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801C43BE-0AD9-2246-30C4-D987544C07CC}"/>
              </a:ext>
            </a:extLst>
          </p:cNvPr>
          <p:cNvSpPr txBox="1"/>
          <p:nvPr/>
        </p:nvSpPr>
        <p:spPr>
          <a:xfrm>
            <a:off x="7933799" y="1666989"/>
            <a:ext cx="676697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처리 중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case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5412A05B-87EB-D26C-8F7B-151E61A1E827}"/>
              </a:ext>
            </a:extLst>
          </p:cNvPr>
          <p:cNvSpPr/>
          <p:nvPr/>
        </p:nvSpPr>
        <p:spPr>
          <a:xfrm>
            <a:off x="3864702" y="2944220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E7C9F2D-11F6-C06E-86A3-6CBFD27CD0C7}"/>
              </a:ext>
            </a:extLst>
          </p:cNvPr>
          <p:cNvSpPr txBox="1"/>
          <p:nvPr/>
        </p:nvSpPr>
        <p:spPr>
          <a:xfrm>
            <a:off x="2539253" y="1651441"/>
            <a:ext cx="622285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부품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Hold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Part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hold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75" name="연결선: 꺾임 174">
            <a:extLst>
              <a:ext uri="{FF2B5EF4-FFF2-40B4-BE49-F238E27FC236}">
                <a16:creationId xmlns:a16="http://schemas.microsoft.com/office/drawing/2014/main" id="{46AAF1DD-6FF0-1C4D-FE28-05EDC3BFACA0}"/>
              </a:ext>
            </a:extLst>
          </p:cNvPr>
          <p:cNvCxnSpPr>
            <a:cxnSpLocks/>
            <a:stCxn id="48" idx="4"/>
            <a:endCxn id="173" idx="2"/>
          </p:cNvCxnSpPr>
          <p:nvPr/>
        </p:nvCxnSpPr>
        <p:spPr>
          <a:xfrm rot="16200000" flipH="1">
            <a:off x="2411320" y="1586844"/>
            <a:ext cx="1337694" cy="1569070"/>
          </a:xfrm>
          <a:prstGeom prst="bentConnector2">
            <a:avLst/>
          </a:prstGeom>
          <a:ln>
            <a:solidFill>
              <a:srgbClr val="CC009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연결선: 꺾임 227">
            <a:extLst>
              <a:ext uri="{FF2B5EF4-FFF2-40B4-BE49-F238E27FC236}">
                <a16:creationId xmlns:a16="http://schemas.microsoft.com/office/drawing/2014/main" id="{3C27741D-FB10-2281-8016-285688894D18}"/>
              </a:ext>
            </a:extLst>
          </p:cNvPr>
          <p:cNvCxnSpPr>
            <a:cxnSpLocks/>
            <a:stCxn id="109" idx="6"/>
            <a:endCxn id="260" idx="2"/>
          </p:cNvCxnSpPr>
          <p:nvPr/>
        </p:nvCxnSpPr>
        <p:spPr>
          <a:xfrm>
            <a:off x="8361345" y="2082265"/>
            <a:ext cx="2432029" cy="227017"/>
          </a:xfrm>
          <a:prstGeom prst="bentConnector3">
            <a:avLst>
              <a:gd name="adj1" fmla="val 62871"/>
            </a:avLst>
          </a:prstGeom>
          <a:ln w="9525">
            <a:solidFill>
              <a:srgbClr val="CC0099"/>
            </a:solidFill>
            <a:prstDash val="solid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연결선: 꺾임 254">
            <a:extLst>
              <a:ext uri="{FF2B5EF4-FFF2-40B4-BE49-F238E27FC236}">
                <a16:creationId xmlns:a16="http://schemas.microsoft.com/office/drawing/2014/main" id="{C06BC8FF-6CB1-4E02-2DED-3B6503FDE55C}"/>
              </a:ext>
            </a:extLst>
          </p:cNvPr>
          <p:cNvCxnSpPr>
            <a:cxnSpLocks/>
            <a:stCxn id="45" idx="4"/>
            <a:endCxn id="109" idx="2"/>
          </p:cNvCxnSpPr>
          <p:nvPr/>
        </p:nvCxnSpPr>
        <p:spPr>
          <a:xfrm rot="16200000" flipH="1">
            <a:off x="7712677" y="1625609"/>
            <a:ext cx="379734" cy="533577"/>
          </a:xfrm>
          <a:prstGeom prst="bentConnector2">
            <a:avLst/>
          </a:prstGeom>
          <a:ln>
            <a:solidFill>
              <a:srgbClr val="CC009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타원 259">
            <a:extLst>
              <a:ext uri="{FF2B5EF4-FFF2-40B4-BE49-F238E27FC236}">
                <a16:creationId xmlns:a16="http://schemas.microsoft.com/office/drawing/2014/main" id="{AC919D10-5DA0-9AE4-47BE-7557913D1603}"/>
              </a:ext>
            </a:extLst>
          </p:cNvPr>
          <p:cNvSpPr/>
          <p:nvPr/>
        </p:nvSpPr>
        <p:spPr>
          <a:xfrm>
            <a:off x="10793374" y="2213276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CF88E8F1-2F0E-B2FA-06B1-35E0F5F5A255}"/>
              </a:ext>
            </a:extLst>
          </p:cNvPr>
          <p:cNvSpPr txBox="1"/>
          <p:nvPr/>
        </p:nvSpPr>
        <p:spPr>
          <a:xfrm>
            <a:off x="10523401" y="1770271"/>
            <a:ext cx="753732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예외건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승인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Escalated for~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0672D95C-52AE-EE56-3572-0A2C67B7EA84}"/>
              </a:ext>
            </a:extLst>
          </p:cNvPr>
          <p:cNvSpPr/>
          <p:nvPr/>
        </p:nvSpPr>
        <p:spPr>
          <a:xfrm>
            <a:off x="8169333" y="198625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417C4C2-C75E-965A-A1AA-484CFE6888E4}"/>
              </a:ext>
            </a:extLst>
          </p:cNvPr>
          <p:cNvSpPr txBox="1"/>
          <p:nvPr/>
        </p:nvSpPr>
        <p:spPr>
          <a:xfrm>
            <a:off x="8544032" y="2137740"/>
            <a:ext cx="748923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취소 요청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Cancel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request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7" name="타원 316">
            <a:extLst>
              <a:ext uri="{FF2B5EF4-FFF2-40B4-BE49-F238E27FC236}">
                <a16:creationId xmlns:a16="http://schemas.microsoft.com/office/drawing/2014/main" id="{C654C380-2A62-8CFE-C912-5DB8364C9527}"/>
              </a:ext>
            </a:extLst>
          </p:cNvPr>
          <p:cNvSpPr/>
          <p:nvPr/>
        </p:nvSpPr>
        <p:spPr>
          <a:xfrm>
            <a:off x="8811597" y="2457010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23" name="연결선: 꺾임 322">
            <a:extLst>
              <a:ext uri="{FF2B5EF4-FFF2-40B4-BE49-F238E27FC236}">
                <a16:creationId xmlns:a16="http://schemas.microsoft.com/office/drawing/2014/main" id="{DDF64AD2-1E11-A908-8F01-23F6B80522CC}"/>
              </a:ext>
            </a:extLst>
          </p:cNvPr>
          <p:cNvCxnSpPr>
            <a:cxnSpLocks/>
            <a:stCxn id="45" idx="4"/>
            <a:endCxn id="317" idx="2"/>
          </p:cNvCxnSpPr>
          <p:nvPr/>
        </p:nvCxnSpPr>
        <p:spPr>
          <a:xfrm rot="16200000" flipH="1">
            <a:off x="7798434" y="1539852"/>
            <a:ext cx="850485" cy="1175841"/>
          </a:xfrm>
          <a:prstGeom prst="bentConnector2">
            <a:avLst/>
          </a:prstGeom>
          <a:ln>
            <a:solidFill>
              <a:srgbClr val="CC009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연결선: 꺾임 325">
            <a:extLst>
              <a:ext uri="{FF2B5EF4-FFF2-40B4-BE49-F238E27FC236}">
                <a16:creationId xmlns:a16="http://schemas.microsoft.com/office/drawing/2014/main" id="{C0CA1766-8C5A-339B-87F1-8DBEF7A40D6E}"/>
              </a:ext>
            </a:extLst>
          </p:cNvPr>
          <p:cNvCxnSpPr>
            <a:cxnSpLocks/>
            <a:stCxn id="317" idx="6"/>
            <a:endCxn id="260" idx="2"/>
          </p:cNvCxnSpPr>
          <p:nvPr/>
        </p:nvCxnSpPr>
        <p:spPr>
          <a:xfrm flipV="1">
            <a:off x="9003609" y="2309282"/>
            <a:ext cx="1789765" cy="243734"/>
          </a:xfrm>
          <a:prstGeom prst="bentConnector3">
            <a:avLst>
              <a:gd name="adj1" fmla="val 50000"/>
            </a:avLst>
          </a:prstGeom>
          <a:ln w="9525">
            <a:solidFill>
              <a:srgbClr val="CC0099"/>
            </a:solidFill>
            <a:prstDash val="solid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>
            <a:extLst>
              <a:ext uri="{FF2B5EF4-FFF2-40B4-BE49-F238E27FC236}">
                <a16:creationId xmlns:a16="http://schemas.microsoft.com/office/drawing/2014/main" id="{43611303-27E0-08A5-BD24-5AA0FF5F106F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2295632" y="1702532"/>
            <a:ext cx="0" cy="442205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52" name="직선 연결선 351">
            <a:extLst>
              <a:ext uri="{FF2B5EF4-FFF2-40B4-BE49-F238E27FC236}">
                <a16:creationId xmlns:a16="http://schemas.microsoft.com/office/drawing/2014/main" id="{9FC6DBB4-FAEE-11D9-1DCF-7564C5D2D874}"/>
              </a:ext>
            </a:extLst>
          </p:cNvPr>
          <p:cNvCxnSpPr>
            <a:cxnSpLocks/>
            <a:stCxn id="56" idx="4"/>
          </p:cNvCxnSpPr>
          <p:nvPr/>
        </p:nvCxnSpPr>
        <p:spPr>
          <a:xfrm>
            <a:off x="2816262" y="2180432"/>
            <a:ext cx="0" cy="393397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55" name="직선 연결선 354">
            <a:extLst>
              <a:ext uri="{FF2B5EF4-FFF2-40B4-BE49-F238E27FC236}">
                <a16:creationId xmlns:a16="http://schemas.microsoft.com/office/drawing/2014/main" id="{240FC7E8-BCFA-F416-DE15-D50E88E6F205}"/>
              </a:ext>
            </a:extLst>
          </p:cNvPr>
          <p:cNvCxnSpPr>
            <a:cxnSpLocks/>
          </p:cNvCxnSpPr>
          <p:nvPr/>
        </p:nvCxnSpPr>
        <p:spPr>
          <a:xfrm>
            <a:off x="5758639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7EC1788D-2178-8DB1-64D6-7398500088D1}"/>
              </a:ext>
            </a:extLst>
          </p:cNvPr>
          <p:cNvCxnSpPr>
            <a:cxnSpLocks/>
            <a:stCxn id="260" idx="4"/>
          </p:cNvCxnSpPr>
          <p:nvPr/>
        </p:nvCxnSpPr>
        <p:spPr>
          <a:xfrm>
            <a:off x="10889380" y="2405288"/>
            <a:ext cx="2771" cy="371929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2136D382-B3C5-2B96-6E54-50F794C354D5}"/>
              </a:ext>
            </a:extLst>
          </p:cNvPr>
          <p:cNvCxnSpPr>
            <a:cxnSpLocks/>
          </p:cNvCxnSpPr>
          <p:nvPr/>
        </p:nvCxnSpPr>
        <p:spPr>
          <a:xfrm>
            <a:off x="1724132" y="3977325"/>
            <a:ext cx="10237393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3D791C5-70B8-9D74-EF48-C0FDB823D71B}"/>
              </a:ext>
            </a:extLst>
          </p:cNvPr>
          <p:cNvCxnSpPr>
            <a:cxnSpLocks/>
          </p:cNvCxnSpPr>
          <p:nvPr/>
        </p:nvCxnSpPr>
        <p:spPr>
          <a:xfrm flipH="1">
            <a:off x="490975" y="3636506"/>
            <a:ext cx="11514978" cy="0"/>
          </a:xfrm>
          <a:prstGeom prst="line">
            <a:avLst/>
          </a:prstGeom>
          <a:noFill/>
          <a:ln w="22225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4615AB4-058D-E1FF-F40F-C2E4D7E02571}"/>
              </a:ext>
            </a:extLst>
          </p:cNvPr>
          <p:cNvSpPr txBox="1"/>
          <p:nvPr/>
        </p:nvSpPr>
        <p:spPr>
          <a:xfrm>
            <a:off x="509017" y="5000114"/>
            <a:ext cx="732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해외</a:t>
            </a:r>
            <a:endParaRPr lang="en-US" altLang="ko-KR" sz="16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  <a:p>
            <a:pPr algn="ctr"/>
            <a:r>
              <a:rPr lang="ko-KR" altLang="en-US" sz="16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표준안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4577522-21B9-6A96-F1CA-631D735E8234}"/>
              </a:ext>
            </a:extLst>
          </p:cNvPr>
          <p:cNvSpPr txBox="1"/>
          <p:nvPr/>
        </p:nvSpPr>
        <p:spPr>
          <a:xfrm>
            <a:off x="930967" y="4199351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RTAT</a:t>
            </a:r>
            <a:endParaRPr lang="ko-KR" altLang="en-US" sz="1000" dirty="0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CB54CA3F-B4FF-70FC-75BD-299004E3E23E}"/>
              </a:ext>
            </a:extLst>
          </p:cNvPr>
          <p:cNvCxnSpPr>
            <a:cxnSpLocks/>
            <a:stCxn id="96" idx="3"/>
          </p:cNvCxnSpPr>
          <p:nvPr/>
        </p:nvCxnSpPr>
        <p:spPr>
          <a:xfrm>
            <a:off x="1416997" y="4322462"/>
            <a:ext cx="4341642" cy="0"/>
          </a:xfrm>
          <a:prstGeom prst="straightConnector1">
            <a:avLst/>
          </a:prstGeom>
          <a:ln w="9525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CBF94B41-1ADD-EA3A-5823-14DC700EAF82}"/>
              </a:ext>
            </a:extLst>
          </p:cNvPr>
          <p:cNvSpPr txBox="1"/>
          <p:nvPr/>
        </p:nvSpPr>
        <p:spPr>
          <a:xfrm>
            <a:off x="1288408" y="4330850"/>
            <a:ext cx="26005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3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 내 처리율 </a:t>
            </a:r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95%, 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익일 처리 약 </a:t>
            </a:r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50%</a:t>
            </a: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69E3EF1-AC41-0C41-8988-DDA0A67F70E9}"/>
              </a:ext>
            </a:extLst>
          </p:cNvPr>
          <p:cNvCxnSpPr>
            <a:cxnSpLocks/>
          </p:cNvCxnSpPr>
          <p:nvPr/>
        </p:nvCxnSpPr>
        <p:spPr>
          <a:xfrm>
            <a:off x="5764320" y="4313119"/>
            <a:ext cx="5111355" cy="0"/>
          </a:xfrm>
          <a:prstGeom prst="straightConnector1">
            <a:avLst/>
          </a:prstGeom>
          <a:ln w="9525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4C248968-FD3A-7998-4610-E3970FA49E00}"/>
              </a:ext>
            </a:extLst>
          </p:cNvPr>
          <p:cNvSpPr txBox="1"/>
          <p:nvPr/>
        </p:nvSpPr>
        <p:spPr>
          <a:xfrm>
            <a:off x="10060023" y="4188053"/>
            <a:ext cx="622695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~ 2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</a:t>
            </a:r>
            <a:endParaRPr lang="en-US" altLang="ko-KR" sz="1100" dirty="0">
              <a:solidFill>
                <a:srgbClr val="00B050"/>
              </a:solidFill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B6278647-6027-255B-50AF-F0E334CA7252}"/>
              </a:ext>
            </a:extLst>
          </p:cNvPr>
          <p:cNvCxnSpPr>
            <a:cxnSpLocks/>
          </p:cNvCxnSpPr>
          <p:nvPr/>
        </p:nvCxnSpPr>
        <p:spPr>
          <a:xfrm flipH="1">
            <a:off x="490975" y="4637006"/>
            <a:ext cx="11514978" cy="0"/>
          </a:xfrm>
          <a:prstGeom prst="line">
            <a:avLst/>
          </a:prstGeom>
          <a:noFill/>
          <a:ln w="22225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0BC27E82-B743-771A-BE24-BBE9913D9375}"/>
              </a:ext>
            </a:extLst>
          </p:cNvPr>
          <p:cNvCxnSpPr>
            <a:cxnSpLocks/>
          </p:cNvCxnSpPr>
          <p:nvPr/>
        </p:nvCxnSpPr>
        <p:spPr>
          <a:xfrm>
            <a:off x="1860492" y="5111175"/>
            <a:ext cx="10129942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2DCA68DB-FCDF-2D04-B658-E0DB94FDC44C}"/>
              </a:ext>
            </a:extLst>
          </p:cNvPr>
          <p:cNvSpPr txBox="1"/>
          <p:nvPr/>
        </p:nvSpPr>
        <p:spPr>
          <a:xfrm>
            <a:off x="930967" y="5838146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RTAT</a:t>
            </a:r>
            <a:endParaRPr lang="ko-KR" altLang="en-US" sz="1000" dirty="0"/>
          </a:p>
        </p:txBody>
      </p: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44A709C0-5555-9AF6-5528-9CB6460AF7F2}"/>
              </a:ext>
            </a:extLst>
          </p:cNvPr>
          <p:cNvCxnSpPr>
            <a:cxnSpLocks/>
            <a:stCxn id="180" idx="3"/>
          </p:cNvCxnSpPr>
          <p:nvPr/>
        </p:nvCxnSpPr>
        <p:spPr>
          <a:xfrm flipV="1">
            <a:off x="1416997" y="5942865"/>
            <a:ext cx="6819539" cy="18392"/>
          </a:xfrm>
          <a:prstGeom prst="straightConnector1">
            <a:avLst/>
          </a:prstGeom>
          <a:ln w="9525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294C11F7-E27A-A9FD-5B92-9F6FF4904A6E}"/>
              </a:ext>
            </a:extLst>
          </p:cNvPr>
          <p:cNvSpPr txBox="1"/>
          <p:nvPr/>
        </p:nvSpPr>
        <p:spPr>
          <a:xfrm>
            <a:off x="7327060" y="5826848"/>
            <a:ext cx="728157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3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</a:t>
            </a:r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~</a:t>
            </a:r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19B7FD83-5082-128C-402A-45263262B515}"/>
              </a:ext>
            </a:extLst>
          </p:cNvPr>
          <p:cNvCxnSpPr>
            <a:cxnSpLocks/>
          </p:cNvCxnSpPr>
          <p:nvPr/>
        </p:nvCxnSpPr>
        <p:spPr>
          <a:xfrm>
            <a:off x="8307608" y="5942389"/>
            <a:ext cx="3653917" cy="0"/>
          </a:xfrm>
          <a:prstGeom prst="straightConnector1">
            <a:avLst/>
          </a:prstGeom>
          <a:ln w="9525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1D51CC47-DDD5-2C16-D13E-93D3C2538A7F}"/>
              </a:ext>
            </a:extLst>
          </p:cNvPr>
          <p:cNvSpPr txBox="1"/>
          <p:nvPr/>
        </p:nvSpPr>
        <p:spPr>
          <a:xfrm>
            <a:off x="10931433" y="5817323"/>
            <a:ext cx="777285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5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</a:t>
            </a:r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~</a:t>
            </a: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8388F1D4-4FCD-E4BB-0E7E-486807EA4A6C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5153830" y="1702532"/>
            <a:ext cx="0" cy="442205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023EB11B-F946-DC55-A625-2C98EF1C8863}"/>
              </a:ext>
            </a:extLst>
          </p:cNvPr>
          <p:cNvSpPr txBox="1"/>
          <p:nvPr/>
        </p:nvSpPr>
        <p:spPr>
          <a:xfrm>
            <a:off x="2121953" y="1328422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6.3%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C9711D5B-0BA4-4EB1-5B7B-CCACB2F224C7}"/>
              </a:ext>
            </a:extLst>
          </p:cNvPr>
          <p:cNvSpPr txBox="1"/>
          <p:nvPr/>
        </p:nvSpPr>
        <p:spPr>
          <a:xfrm>
            <a:off x="3551748" y="2157462"/>
            <a:ext cx="452368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1.5%%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7974DD5E-A215-A573-38E8-39655ADFC188}"/>
              </a:ext>
            </a:extLst>
          </p:cNvPr>
          <p:cNvSpPr txBox="1"/>
          <p:nvPr/>
        </p:nvSpPr>
        <p:spPr>
          <a:xfrm>
            <a:off x="4285772" y="2623822"/>
            <a:ext cx="452368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0.1%%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593790E7-CD60-A2F9-5B00-FADA646C7C35}"/>
              </a:ext>
            </a:extLst>
          </p:cNvPr>
          <p:cNvSpPr txBox="1"/>
          <p:nvPr/>
        </p:nvSpPr>
        <p:spPr>
          <a:xfrm>
            <a:off x="4219855" y="3104666"/>
            <a:ext cx="694421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부품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단종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Discontinued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1" name="타원 250">
            <a:extLst>
              <a:ext uri="{FF2B5EF4-FFF2-40B4-BE49-F238E27FC236}">
                <a16:creationId xmlns:a16="http://schemas.microsoft.com/office/drawing/2014/main" id="{01A63E95-877D-A98F-A341-E111A1C17292}"/>
              </a:ext>
            </a:extLst>
          </p:cNvPr>
          <p:cNvSpPr/>
          <p:nvPr/>
        </p:nvSpPr>
        <p:spPr>
          <a:xfrm>
            <a:off x="4436926" y="34221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3A38460-C325-151E-D1C3-415124199308}"/>
              </a:ext>
            </a:extLst>
          </p:cNvPr>
          <p:cNvSpPr txBox="1"/>
          <p:nvPr/>
        </p:nvSpPr>
        <p:spPr>
          <a:xfrm>
            <a:off x="4694132" y="3119122"/>
            <a:ext cx="452368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0.1%%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54" name="연결선: 꺾임 253">
            <a:extLst>
              <a:ext uri="{FF2B5EF4-FFF2-40B4-BE49-F238E27FC236}">
                <a16:creationId xmlns:a16="http://schemas.microsoft.com/office/drawing/2014/main" id="{80D76950-9BF6-900B-902C-4376AA97592C}"/>
              </a:ext>
            </a:extLst>
          </p:cNvPr>
          <p:cNvCxnSpPr>
            <a:cxnSpLocks/>
            <a:stCxn id="48" idx="4"/>
            <a:endCxn id="251" idx="2"/>
          </p:cNvCxnSpPr>
          <p:nvPr/>
        </p:nvCxnSpPr>
        <p:spPr>
          <a:xfrm rot="16200000" flipH="1">
            <a:off x="2458483" y="1539681"/>
            <a:ext cx="1815593" cy="2141294"/>
          </a:xfrm>
          <a:prstGeom prst="bentConnector2">
            <a:avLst/>
          </a:prstGeom>
          <a:ln>
            <a:solidFill>
              <a:srgbClr val="CC009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959DC0DC-013F-C8CF-588D-F4E4DAFF8D38}"/>
              </a:ext>
            </a:extLst>
          </p:cNvPr>
          <p:cNvCxnSpPr>
            <a:cxnSpLocks/>
            <a:stCxn id="67" idx="4"/>
          </p:cNvCxnSpPr>
          <p:nvPr/>
        </p:nvCxnSpPr>
        <p:spPr>
          <a:xfrm>
            <a:off x="3388485" y="2658332"/>
            <a:ext cx="0" cy="346625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211E3998-39E4-B528-E085-090F79F4D84A}"/>
              </a:ext>
            </a:extLst>
          </p:cNvPr>
          <p:cNvCxnSpPr>
            <a:cxnSpLocks/>
            <a:stCxn id="173" idx="4"/>
          </p:cNvCxnSpPr>
          <p:nvPr/>
        </p:nvCxnSpPr>
        <p:spPr>
          <a:xfrm>
            <a:off x="3960708" y="3136232"/>
            <a:ext cx="0" cy="298835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90B7F0AF-B69F-1D11-29BF-3358130BAC83}"/>
              </a:ext>
            </a:extLst>
          </p:cNvPr>
          <p:cNvCxnSpPr>
            <a:cxnSpLocks/>
            <a:stCxn id="251" idx="4"/>
          </p:cNvCxnSpPr>
          <p:nvPr/>
        </p:nvCxnSpPr>
        <p:spPr>
          <a:xfrm>
            <a:off x="4532932" y="3614131"/>
            <a:ext cx="0" cy="2510455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id="{CCAA1020-432F-5B2C-775B-8C1549D5C01F}"/>
              </a:ext>
            </a:extLst>
          </p:cNvPr>
          <p:cNvSpPr txBox="1"/>
          <p:nvPr/>
        </p:nvSpPr>
        <p:spPr>
          <a:xfrm>
            <a:off x="4978766" y="1318896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12743290-40AE-4B25-9BAC-86576D12D599}"/>
              </a:ext>
            </a:extLst>
          </p:cNvPr>
          <p:cNvSpPr txBox="1"/>
          <p:nvPr/>
        </p:nvSpPr>
        <p:spPr>
          <a:xfrm>
            <a:off x="5584660" y="1318896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1.9%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C958E94B-4C4A-03AF-53E3-3F1C04505521}"/>
              </a:ext>
            </a:extLst>
          </p:cNvPr>
          <p:cNvSpPr/>
          <p:nvPr/>
        </p:nvSpPr>
        <p:spPr>
          <a:xfrm>
            <a:off x="1628126" y="1510520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8E2D8CC8-0E9D-D528-DE54-4E91EA72E955}"/>
              </a:ext>
            </a:extLst>
          </p:cNvPr>
          <p:cNvSpPr txBox="1"/>
          <p:nvPr/>
        </p:nvSpPr>
        <p:spPr>
          <a:xfrm>
            <a:off x="1416997" y="1067515"/>
            <a:ext cx="614271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주문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Auto PO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D2157AD0-B1E5-31DA-549E-BD0BD0387786}"/>
              </a:ext>
            </a:extLst>
          </p:cNvPr>
          <p:cNvSpPr txBox="1"/>
          <p:nvPr/>
        </p:nvSpPr>
        <p:spPr>
          <a:xfrm>
            <a:off x="1559978" y="1328422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3.2%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622E39B7-F7D0-AAB7-5EE5-CF9C8480B808}"/>
              </a:ext>
            </a:extLst>
          </p:cNvPr>
          <p:cNvSpPr txBox="1"/>
          <p:nvPr/>
        </p:nvSpPr>
        <p:spPr>
          <a:xfrm>
            <a:off x="6216485" y="1318896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0.4%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21EA75E6-6950-C1EA-F7A7-0F3FB3F7E907}"/>
              </a:ext>
            </a:extLst>
          </p:cNvPr>
          <p:cNvCxnSpPr>
            <a:cxnSpLocks/>
          </p:cNvCxnSpPr>
          <p:nvPr/>
        </p:nvCxnSpPr>
        <p:spPr>
          <a:xfrm>
            <a:off x="6984965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82" name="타원 281">
            <a:extLst>
              <a:ext uri="{FF2B5EF4-FFF2-40B4-BE49-F238E27FC236}">
                <a16:creationId xmlns:a16="http://schemas.microsoft.com/office/drawing/2014/main" id="{8CC46A0C-4C91-93C3-C1E6-663BD1469888}"/>
              </a:ext>
            </a:extLst>
          </p:cNvPr>
          <p:cNvSpPr/>
          <p:nvPr/>
        </p:nvSpPr>
        <p:spPr>
          <a:xfrm>
            <a:off x="6888959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309CA008-852C-3AD2-10C9-5CE1C94D41F9}"/>
              </a:ext>
            </a:extLst>
          </p:cNvPr>
          <p:cNvSpPr txBox="1"/>
          <p:nvPr/>
        </p:nvSpPr>
        <p:spPr>
          <a:xfrm>
            <a:off x="6636803" y="1067514"/>
            <a:ext cx="772614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기사 도착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Arrived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on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site</a:t>
            </a:r>
            <a:endParaRPr lang="en-US" altLang="ko-KR" sz="8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25661795-E8FF-2AD6-2DB9-510800E55973}"/>
              </a:ext>
            </a:extLst>
          </p:cNvPr>
          <p:cNvSpPr txBox="1"/>
          <p:nvPr/>
        </p:nvSpPr>
        <p:spPr>
          <a:xfrm>
            <a:off x="6832321" y="1318896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0.8%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3CC2D92F-AD11-1775-D7D9-A93AD6241546}"/>
              </a:ext>
            </a:extLst>
          </p:cNvPr>
          <p:cNvSpPr txBox="1"/>
          <p:nvPr/>
        </p:nvSpPr>
        <p:spPr>
          <a:xfrm>
            <a:off x="7508596" y="1318896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0.0%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F4E4EDAD-0F0E-F1A3-E190-34C74C781913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7635756" y="1702531"/>
            <a:ext cx="0" cy="442205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F320D04E-2B71-8F2D-A114-5E8F6EADA629}"/>
              </a:ext>
            </a:extLst>
          </p:cNvPr>
          <p:cNvSpPr txBox="1"/>
          <p:nvPr/>
        </p:nvSpPr>
        <p:spPr>
          <a:xfrm>
            <a:off x="8460317" y="1680676"/>
            <a:ext cx="452368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0.0%%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06" name="직선 연결선 305">
            <a:extLst>
              <a:ext uri="{FF2B5EF4-FFF2-40B4-BE49-F238E27FC236}">
                <a16:creationId xmlns:a16="http://schemas.microsoft.com/office/drawing/2014/main" id="{5409BA4E-7866-35A9-ADDF-0E419817AF4A}"/>
              </a:ext>
            </a:extLst>
          </p:cNvPr>
          <p:cNvCxnSpPr>
            <a:cxnSpLocks/>
            <a:stCxn id="109" idx="4"/>
          </p:cNvCxnSpPr>
          <p:nvPr/>
        </p:nvCxnSpPr>
        <p:spPr>
          <a:xfrm>
            <a:off x="8265339" y="2178271"/>
            <a:ext cx="0" cy="394631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4A1F57A3-8486-5A97-AEC2-A8D3E59658D1}"/>
              </a:ext>
            </a:extLst>
          </p:cNvPr>
          <p:cNvCxnSpPr>
            <a:cxnSpLocks/>
            <a:stCxn id="317" idx="4"/>
          </p:cNvCxnSpPr>
          <p:nvPr/>
        </p:nvCxnSpPr>
        <p:spPr>
          <a:xfrm>
            <a:off x="8907603" y="2649022"/>
            <a:ext cx="0" cy="3494613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523C30B4-A602-3F66-95B4-4A37D676DBD5}"/>
              </a:ext>
            </a:extLst>
          </p:cNvPr>
          <p:cNvSpPr txBox="1"/>
          <p:nvPr/>
        </p:nvSpPr>
        <p:spPr>
          <a:xfrm>
            <a:off x="9065496" y="2137876"/>
            <a:ext cx="423513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10.6%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20" name="직선 연결선 319">
            <a:extLst>
              <a:ext uri="{FF2B5EF4-FFF2-40B4-BE49-F238E27FC236}">
                <a16:creationId xmlns:a16="http://schemas.microsoft.com/office/drawing/2014/main" id="{B62A2807-45C3-BA7C-F620-B07D0573F11F}"/>
              </a:ext>
            </a:extLst>
          </p:cNvPr>
          <p:cNvCxnSpPr>
            <a:cxnSpLocks/>
            <a:stCxn id="324" idx="4"/>
          </p:cNvCxnSpPr>
          <p:nvPr/>
        </p:nvCxnSpPr>
        <p:spPr>
          <a:xfrm>
            <a:off x="9539977" y="3122878"/>
            <a:ext cx="0" cy="300170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22" name="TextBox 321">
            <a:extLst>
              <a:ext uri="{FF2B5EF4-FFF2-40B4-BE49-F238E27FC236}">
                <a16:creationId xmlns:a16="http://schemas.microsoft.com/office/drawing/2014/main" id="{9475E795-03D0-F6D1-6AAD-2347716AB6B5}"/>
              </a:ext>
            </a:extLst>
          </p:cNvPr>
          <p:cNvSpPr txBox="1"/>
          <p:nvPr/>
        </p:nvSpPr>
        <p:spPr>
          <a:xfrm>
            <a:off x="9091077" y="2601039"/>
            <a:ext cx="873957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수리비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견적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Quotation confirm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E7ADF3E5-17AB-B40A-00CC-A76BDFC4DA62}"/>
              </a:ext>
            </a:extLst>
          </p:cNvPr>
          <p:cNvSpPr txBox="1"/>
          <p:nvPr/>
        </p:nvSpPr>
        <p:spPr>
          <a:xfrm>
            <a:off x="9729059" y="2613868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1.4%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27" name="연결선: 꺾임 326">
            <a:extLst>
              <a:ext uri="{FF2B5EF4-FFF2-40B4-BE49-F238E27FC236}">
                <a16:creationId xmlns:a16="http://schemas.microsoft.com/office/drawing/2014/main" id="{D391CA45-55E5-EEB0-B9DA-54D7B5BC8372}"/>
              </a:ext>
            </a:extLst>
          </p:cNvPr>
          <p:cNvCxnSpPr>
            <a:cxnSpLocks/>
            <a:stCxn id="45" idx="4"/>
            <a:endCxn id="332" idx="2"/>
          </p:cNvCxnSpPr>
          <p:nvPr/>
        </p:nvCxnSpPr>
        <p:spPr>
          <a:xfrm rot="16200000" flipH="1">
            <a:off x="8201543" y="1136743"/>
            <a:ext cx="1324341" cy="2455915"/>
          </a:xfrm>
          <a:prstGeom prst="bentConnector2">
            <a:avLst/>
          </a:prstGeom>
          <a:ln>
            <a:solidFill>
              <a:srgbClr val="CC009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D1F032CD-A373-7609-8EE9-6640A448E8A5}"/>
              </a:ext>
            </a:extLst>
          </p:cNvPr>
          <p:cNvSpPr txBox="1"/>
          <p:nvPr/>
        </p:nvSpPr>
        <p:spPr>
          <a:xfrm>
            <a:off x="9783369" y="2601039"/>
            <a:ext cx="873957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수리 거부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Refuse to repair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53D6B0BD-FCB6-5659-E30F-1A877553691F}"/>
              </a:ext>
            </a:extLst>
          </p:cNvPr>
          <p:cNvSpPr/>
          <p:nvPr/>
        </p:nvSpPr>
        <p:spPr>
          <a:xfrm>
            <a:off x="10091671" y="2930866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11D9C87C-6157-7F8B-AE55-312778DF83D0}"/>
              </a:ext>
            </a:extLst>
          </p:cNvPr>
          <p:cNvSpPr txBox="1"/>
          <p:nvPr/>
        </p:nvSpPr>
        <p:spPr>
          <a:xfrm>
            <a:off x="10338659" y="2613868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0.2%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4" name="타원 323">
            <a:extLst>
              <a:ext uri="{FF2B5EF4-FFF2-40B4-BE49-F238E27FC236}">
                <a16:creationId xmlns:a16="http://schemas.microsoft.com/office/drawing/2014/main" id="{EF617FC1-093C-48B6-50CE-16D5A923749F}"/>
              </a:ext>
            </a:extLst>
          </p:cNvPr>
          <p:cNvSpPr/>
          <p:nvPr/>
        </p:nvSpPr>
        <p:spPr>
          <a:xfrm>
            <a:off x="9443971" y="2930866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39" name="직선 연결선 338">
            <a:extLst>
              <a:ext uri="{FF2B5EF4-FFF2-40B4-BE49-F238E27FC236}">
                <a16:creationId xmlns:a16="http://schemas.microsoft.com/office/drawing/2014/main" id="{50FEA0F0-868B-398B-43C6-5CCEA8C1F9C0}"/>
              </a:ext>
            </a:extLst>
          </p:cNvPr>
          <p:cNvCxnSpPr>
            <a:cxnSpLocks/>
            <a:stCxn id="332" idx="4"/>
          </p:cNvCxnSpPr>
          <p:nvPr/>
        </p:nvCxnSpPr>
        <p:spPr>
          <a:xfrm>
            <a:off x="10187677" y="3122878"/>
            <a:ext cx="0" cy="300170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37D243AF-9BC4-9338-A5CB-0BDFBBAB1F84}"/>
              </a:ext>
            </a:extLst>
          </p:cNvPr>
          <p:cNvSpPr txBox="1"/>
          <p:nvPr/>
        </p:nvSpPr>
        <p:spPr>
          <a:xfrm>
            <a:off x="3037660" y="1661796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0.0%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DA51C603-4606-50F7-78FE-695ADC99CEAF}"/>
              </a:ext>
            </a:extLst>
          </p:cNvPr>
          <p:cNvCxnSpPr>
            <a:cxnSpLocks/>
          </p:cNvCxnSpPr>
          <p:nvPr/>
        </p:nvCxnSpPr>
        <p:spPr>
          <a:xfrm>
            <a:off x="11576113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70" name="연결선: 꺾임 369">
            <a:extLst>
              <a:ext uri="{FF2B5EF4-FFF2-40B4-BE49-F238E27FC236}">
                <a16:creationId xmlns:a16="http://schemas.microsoft.com/office/drawing/2014/main" id="{0DAC6C8F-6208-CEF4-5A30-1347718CC207}"/>
              </a:ext>
            </a:extLst>
          </p:cNvPr>
          <p:cNvCxnSpPr>
            <a:cxnSpLocks/>
            <a:stCxn id="332" idx="6"/>
            <a:endCxn id="260" idx="2"/>
          </p:cNvCxnSpPr>
          <p:nvPr/>
        </p:nvCxnSpPr>
        <p:spPr>
          <a:xfrm flipV="1">
            <a:off x="10283683" y="2309282"/>
            <a:ext cx="509691" cy="717590"/>
          </a:xfrm>
          <a:prstGeom prst="bentConnector3">
            <a:avLst>
              <a:gd name="adj1" fmla="val 76163"/>
            </a:avLst>
          </a:prstGeom>
          <a:ln w="9525">
            <a:solidFill>
              <a:srgbClr val="CC0099"/>
            </a:solidFill>
            <a:prstDash val="solid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사각형: 둥근 모서리 393">
            <a:extLst>
              <a:ext uri="{FF2B5EF4-FFF2-40B4-BE49-F238E27FC236}">
                <a16:creationId xmlns:a16="http://schemas.microsoft.com/office/drawing/2014/main" id="{A7D6E62E-88D3-F6C5-39DD-1B189F009EFE}"/>
              </a:ext>
            </a:extLst>
          </p:cNvPr>
          <p:cNvSpPr/>
          <p:nvPr/>
        </p:nvSpPr>
        <p:spPr>
          <a:xfrm>
            <a:off x="1217723" y="6221585"/>
            <a:ext cx="10772711" cy="3684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한국과 비교 했을 때 해외는 외주센터 미처리 관리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Visibility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확보를 위한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Micro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한 관리가 필요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통합운영을 하되 한국 불필요 코드는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Use Flag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활용</a:t>
            </a:r>
          </a:p>
        </p:txBody>
      </p:sp>
      <p:sp>
        <p:nvSpPr>
          <p:cNvPr id="397" name="직사각형 396">
            <a:extLst>
              <a:ext uri="{FF2B5EF4-FFF2-40B4-BE49-F238E27FC236}">
                <a16:creationId xmlns:a16="http://schemas.microsoft.com/office/drawing/2014/main" id="{2FF3C4E8-CA8E-3DA0-48D6-4ADD238D6D46}"/>
              </a:ext>
            </a:extLst>
          </p:cNvPr>
          <p:cNvSpPr/>
          <p:nvPr/>
        </p:nvSpPr>
        <p:spPr>
          <a:xfrm>
            <a:off x="1391413" y="3863064"/>
            <a:ext cx="625528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해당 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없음</a:t>
            </a:r>
          </a:p>
        </p:txBody>
      </p:sp>
      <p:sp>
        <p:nvSpPr>
          <p:cNvPr id="398" name="직사각형 397">
            <a:extLst>
              <a:ext uri="{FF2B5EF4-FFF2-40B4-BE49-F238E27FC236}">
                <a16:creationId xmlns:a16="http://schemas.microsoft.com/office/drawing/2014/main" id="{A63B3C47-6F3D-379F-D629-6FBEC035DF63}"/>
              </a:ext>
            </a:extLst>
          </p:cNvPr>
          <p:cNvSpPr/>
          <p:nvPr/>
        </p:nvSpPr>
        <p:spPr>
          <a:xfrm>
            <a:off x="2068306" y="3863064"/>
            <a:ext cx="999812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해당 없음</a:t>
            </a:r>
          </a:p>
        </p:txBody>
      </p:sp>
      <p:sp>
        <p:nvSpPr>
          <p:cNvPr id="400" name="타원 399">
            <a:extLst>
              <a:ext uri="{FF2B5EF4-FFF2-40B4-BE49-F238E27FC236}">
                <a16:creationId xmlns:a16="http://schemas.microsoft.com/office/drawing/2014/main" id="{3CBC7CD0-2824-8E17-B684-0F29A0EDD45F}"/>
              </a:ext>
            </a:extLst>
          </p:cNvPr>
          <p:cNvSpPr/>
          <p:nvPr/>
        </p:nvSpPr>
        <p:spPr>
          <a:xfrm>
            <a:off x="3293877" y="389542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9440DF7B-472D-0892-9D99-F6DD845CECDF}"/>
              </a:ext>
            </a:extLst>
          </p:cNvPr>
          <p:cNvSpPr txBox="1"/>
          <p:nvPr/>
        </p:nvSpPr>
        <p:spPr>
          <a:xfrm>
            <a:off x="3114148" y="3666827"/>
            <a:ext cx="614271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부품 품절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ADCA949D-711A-4932-8EEC-F8F58AD9B451}"/>
              </a:ext>
            </a:extLst>
          </p:cNvPr>
          <p:cNvSpPr/>
          <p:nvPr/>
        </p:nvSpPr>
        <p:spPr>
          <a:xfrm>
            <a:off x="3659601" y="3863064"/>
            <a:ext cx="625528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해당 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없음</a:t>
            </a:r>
          </a:p>
        </p:txBody>
      </p: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8B96C5A0-A7F9-38BD-8EB7-7848804AF44C}"/>
              </a:ext>
            </a:extLst>
          </p:cNvPr>
          <p:cNvSpPr/>
          <p:nvPr/>
        </p:nvSpPr>
        <p:spPr>
          <a:xfrm>
            <a:off x="4335876" y="3863064"/>
            <a:ext cx="519912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단종 시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SM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 결정</a:t>
            </a:r>
          </a:p>
        </p:txBody>
      </p:sp>
      <p:sp>
        <p:nvSpPr>
          <p:cNvPr id="407" name="직사각형 406">
            <a:extLst>
              <a:ext uri="{FF2B5EF4-FFF2-40B4-BE49-F238E27FC236}">
                <a16:creationId xmlns:a16="http://schemas.microsoft.com/office/drawing/2014/main" id="{2D804C11-56EB-FA8F-99D2-717FCFE0BA9D}"/>
              </a:ext>
            </a:extLst>
          </p:cNvPr>
          <p:cNvSpPr/>
          <p:nvPr/>
        </p:nvSpPr>
        <p:spPr>
          <a:xfrm>
            <a:off x="4897851" y="3863064"/>
            <a:ext cx="519912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해당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없음</a:t>
            </a:r>
          </a:p>
        </p:txBody>
      </p:sp>
      <p:sp>
        <p:nvSpPr>
          <p:cNvPr id="408" name="타원 407">
            <a:extLst>
              <a:ext uri="{FF2B5EF4-FFF2-40B4-BE49-F238E27FC236}">
                <a16:creationId xmlns:a16="http://schemas.microsoft.com/office/drawing/2014/main" id="{D47D1630-BC80-983E-790A-6A9803C17B89}"/>
              </a:ext>
            </a:extLst>
          </p:cNvPr>
          <p:cNvSpPr/>
          <p:nvPr/>
        </p:nvSpPr>
        <p:spPr>
          <a:xfrm>
            <a:off x="5675127" y="389542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9A2A23FA-9D59-692E-C4B9-E0826FD997A6}"/>
              </a:ext>
            </a:extLst>
          </p:cNvPr>
          <p:cNvSpPr txBox="1"/>
          <p:nvPr/>
        </p:nvSpPr>
        <p:spPr>
          <a:xfrm>
            <a:off x="5495398" y="3666827"/>
            <a:ext cx="614271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부품 입고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0" name="직사각형 409">
            <a:extLst>
              <a:ext uri="{FF2B5EF4-FFF2-40B4-BE49-F238E27FC236}">
                <a16:creationId xmlns:a16="http://schemas.microsoft.com/office/drawing/2014/main" id="{684C18A9-0881-9DCD-8543-D1BA5C0F3977}"/>
              </a:ext>
            </a:extLst>
          </p:cNvPr>
          <p:cNvSpPr/>
          <p:nvPr/>
        </p:nvSpPr>
        <p:spPr>
          <a:xfrm>
            <a:off x="6012275" y="3863064"/>
            <a:ext cx="1943961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약속일 내 방문 처리로 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</a:rPr>
              <a:t>필요없음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1" name="타원 410">
            <a:extLst>
              <a:ext uri="{FF2B5EF4-FFF2-40B4-BE49-F238E27FC236}">
                <a16:creationId xmlns:a16="http://schemas.microsoft.com/office/drawing/2014/main" id="{8E1CE559-6EBB-D8E8-B908-8728FDDB0627}"/>
              </a:ext>
            </a:extLst>
          </p:cNvPr>
          <p:cNvSpPr/>
          <p:nvPr/>
        </p:nvSpPr>
        <p:spPr>
          <a:xfrm>
            <a:off x="8180202" y="389542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A5CDBF6F-1CC1-CCD6-1B44-AC1B86354294}"/>
              </a:ext>
            </a:extLst>
          </p:cNvPr>
          <p:cNvSpPr txBox="1"/>
          <p:nvPr/>
        </p:nvSpPr>
        <p:spPr>
          <a:xfrm>
            <a:off x="7978031" y="3666827"/>
            <a:ext cx="659155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PL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처리 중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5" name="직사각형 414">
            <a:extLst>
              <a:ext uri="{FF2B5EF4-FFF2-40B4-BE49-F238E27FC236}">
                <a16:creationId xmlns:a16="http://schemas.microsoft.com/office/drawing/2014/main" id="{316A58BD-A890-9EC0-36D1-6334AEA62CAB}"/>
              </a:ext>
            </a:extLst>
          </p:cNvPr>
          <p:cNvSpPr/>
          <p:nvPr/>
        </p:nvSpPr>
        <p:spPr>
          <a:xfrm>
            <a:off x="8507825" y="3863064"/>
            <a:ext cx="641935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SM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직접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취소 가능</a:t>
            </a:r>
          </a:p>
        </p:txBody>
      </p:sp>
      <p:sp>
        <p:nvSpPr>
          <p:cNvPr id="416" name="직사각형 415">
            <a:extLst>
              <a:ext uri="{FF2B5EF4-FFF2-40B4-BE49-F238E27FC236}">
                <a16:creationId xmlns:a16="http://schemas.microsoft.com/office/drawing/2014/main" id="{E34AB308-2357-CAD5-AC73-DB8D43C1BCCA}"/>
              </a:ext>
            </a:extLst>
          </p:cNvPr>
          <p:cNvSpPr/>
          <p:nvPr/>
        </p:nvSpPr>
        <p:spPr>
          <a:xfrm>
            <a:off x="9231148" y="3863064"/>
            <a:ext cx="578435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견적 지연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없음</a:t>
            </a: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ADAE63D2-BE2D-3480-5FC6-E97807A8FA97}"/>
              </a:ext>
            </a:extLst>
          </p:cNvPr>
          <p:cNvSpPr txBox="1"/>
          <p:nvPr/>
        </p:nvSpPr>
        <p:spPr>
          <a:xfrm>
            <a:off x="5023920" y="4219309"/>
            <a:ext cx="5884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~1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</a:t>
            </a:r>
            <a:endParaRPr lang="en-US" altLang="ko-KR" sz="1100" dirty="0">
              <a:solidFill>
                <a:srgbClr val="00B050"/>
              </a:solidFill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8C48AE0E-26E6-8D94-41BD-55DD0D8867CE}"/>
              </a:ext>
            </a:extLst>
          </p:cNvPr>
          <p:cNvSpPr txBox="1"/>
          <p:nvPr/>
        </p:nvSpPr>
        <p:spPr>
          <a:xfrm>
            <a:off x="420579" y="638225"/>
            <a:ext cx="10158550" cy="36471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 Reason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단계별 필요여부는 해외서비스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NW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팀과 협의하여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차 확정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삭제되는 코드에 대한 법인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survey 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 변경 추진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20" name="직사각형 419">
            <a:extLst>
              <a:ext uri="{FF2B5EF4-FFF2-40B4-BE49-F238E27FC236}">
                <a16:creationId xmlns:a16="http://schemas.microsoft.com/office/drawing/2014/main" id="{C4B1777F-98AD-839B-2D47-D354F984A088}"/>
              </a:ext>
            </a:extLst>
          </p:cNvPr>
          <p:cNvSpPr/>
          <p:nvPr/>
        </p:nvSpPr>
        <p:spPr>
          <a:xfrm>
            <a:off x="9888373" y="3863064"/>
            <a:ext cx="1139334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수리거부 취소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</a:rPr>
              <a:t>예외건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자체 승인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BD565DBD-0041-86C5-8AC0-20CF9428FF7A}"/>
              </a:ext>
            </a:extLst>
          </p:cNvPr>
          <p:cNvSpPr txBox="1"/>
          <p:nvPr/>
        </p:nvSpPr>
        <p:spPr>
          <a:xfrm>
            <a:off x="10704685" y="2039048"/>
            <a:ext cx="452368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0.1%%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35" name="직선 화살표 연결선 434">
            <a:extLst>
              <a:ext uri="{FF2B5EF4-FFF2-40B4-BE49-F238E27FC236}">
                <a16:creationId xmlns:a16="http://schemas.microsoft.com/office/drawing/2014/main" id="{A18AB6D8-4F50-FD80-627B-3AA9664792A6}"/>
              </a:ext>
            </a:extLst>
          </p:cNvPr>
          <p:cNvCxnSpPr>
            <a:cxnSpLocks/>
          </p:cNvCxnSpPr>
          <p:nvPr/>
        </p:nvCxnSpPr>
        <p:spPr>
          <a:xfrm>
            <a:off x="10900267" y="4313119"/>
            <a:ext cx="1061258" cy="0"/>
          </a:xfrm>
          <a:prstGeom prst="straightConnector1">
            <a:avLst/>
          </a:prstGeom>
          <a:ln w="9525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1" name="TextBox 440">
            <a:extLst>
              <a:ext uri="{FF2B5EF4-FFF2-40B4-BE49-F238E27FC236}">
                <a16:creationId xmlns:a16="http://schemas.microsoft.com/office/drawing/2014/main" id="{09C248AC-59E4-D8B8-DE4A-13039A1AD132}"/>
              </a:ext>
            </a:extLst>
          </p:cNvPr>
          <p:cNvSpPr txBox="1"/>
          <p:nvPr/>
        </p:nvSpPr>
        <p:spPr>
          <a:xfrm>
            <a:off x="1357198" y="4709175"/>
            <a:ext cx="787395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Auto PO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i="0" u="none" strike="noStrike" kern="1200" cap="none" spc="0" normalizeH="0" baseline="0" noProof="0" dirty="0" err="1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반영값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442" name="타원 441">
            <a:extLst>
              <a:ext uri="{FF2B5EF4-FFF2-40B4-BE49-F238E27FC236}">
                <a16:creationId xmlns:a16="http://schemas.microsoft.com/office/drawing/2014/main" id="{82B85E2C-79ED-8A9F-0993-75DA218307F2}"/>
              </a:ext>
            </a:extLst>
          </p:cNvPr>
          <p:cNvSpPr/>
          <p:nvPr/>
        </p:nvSpPr>
        <p:spPr>
          <a:xfrm>
            <a:off x="1652515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B94CFA7D-5699-4AC3-4FF0-4F41DFB5A73E}"/>
              </a:ext>
            </a:extLst>
          </p:cNvPr>
          <p:cNvSpPr txBox="1"/>
          <p:nvPr/>
        </p:nvSpPr>
        <p:spPr>
          <a:xfrm>
            <a:off x="1928083" y="5157346"/>
            <a:ext cx="750525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Parts have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been ordered</a:t>
            </a:r>
            <a:endParaRPr kumimoji="0" lang="en-US" altLang="ko-KR" sz="90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5" name="타원 444">
            <a:extLst>
              <a:ext uri="{FF2B5EF4-FFF2-40B4-BE49-F238E27FC236}">
                <a16:creationId xmlns:a16="http://schemas.microsoft.com/office/drawing/2014/main" id="{F66C879D-429C-48DF-2665-60FD9A9A1F25}"/>
              </a:ext>
            </a:extLst>
          </p:cNvPr>
          <p:cNvSpPr/>
          <p:nvPr/>
        </p:nvSpPr>
        <p:spPr>
          <a:xfrm>
            <a:off x="2204965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3639DA5B-75FC-5961-BF65-742224E1373E}"/>
              </a:ext>
            </a:extLst>
          </p:cNvPr>
          <p:cNvSpPr txBox="1"/>
          <p:nvPr/>
        </p:nvSpPr>
        <p:spPr>
          <a:xfrm>
            <a:off x="2364594" y="4709175"/>
            <a:ext cx="925253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Part delay due to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financial hold</a:t>
            </a:r>
            <a:endParaRPr kumimoji="0" lang="en-US" altLang="ko-KR" sz="90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7" name="타원 446">
            <a:extLst>
              <a:ext uri="{FF2B5EF4-FFF2-40B4-BE49-F238E27FC236}">
                <a16:creationId xmlns:a16="http://schemas.microsoft.com/office/drawing/2014/main" id="{B1B8D680-2975-E0A3-BF9C-CDBF96466A47}"/>
              </a:ext>
            </a:extLst>
          </p:cNvPr>
          <p:cNvSpPr/>
          <p:nvPr/>
        </p:nvSpPr>
        <p:spPr>
          <a:xfrm>
            <a:off x="272884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F3E80577-71FF-1D2B-470F-FC17EC2E61A6}"/>
              </a:ext>
            </a:extLst>
          </p:cNvPr>
          <p:cNvSpPr txBox="1"/>
          <p:nvPr/>
        </p:nvSpPr>
        <p:spPr>
          <a:xfrm>
            <a:off x="2964948" y="5157346"/>
            <a:ext cx="867545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 Part in Stock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/Back order</a:t>
            </a:r>
            <a:endParaRPr kumimoji="0" lang="en-US" altLang="ko-KR" sz="90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9" name="타원 448">
            <a:extLst>
              <a:ext uri="{FF2B5EF4-FFF2-40B4-BE49-F238E27FC236}">
                <a16:creationId xmlns:a16="http://schemas.microsoft.com/office/drawing/2014/main" id="{5E282415-C0D9-83EE-81BC-6DB45516D670}"/>
              </a:ext>
            </a:extLst>
          </p:cNvPr>
          <p:cNvSpPr/>
          <p:nvPr/>
        </p:nvSpPr>
        <p:spPr>
          <a:xfrm>
            <a:off x="330034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CDD636C6-16CF-DE0E-8AB8-449E69521D1E}"/>
              </a:ext>
            </a:extLst>
          </p:cNvPr>
          <p:cNvSpPr txBox="1"/>
          <p:nvPr/>
        </p:nvSpPr>
        <p:spPr>
          <a:xfrm>
            <a:off x="3432439" y="4709175"/>
            <a:ext cx="1037463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 Part in Stock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/Back order(ME </a:t>
            </a:r>
            <a:r>
              <a:rPr lang="ko-KR" altLang="en-US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등</a:t>
            </a: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en-US" altLang="ko-KR" sz="90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1" name="타원 450">
            <a:extLst>
              <a:ext uri="{FF2B5EF4-FFF2-40B4-BE49-F238E27FC236}">
                <a16:creationId xmlns:a16="http://schemas.microsoft.com/office/drawing/2014/main" id="{E5F0E34F-94E1-D7D6-A0ED-A0134756E4D4}"/>
              </a:ext>
            </a:extLst>
          </p:cNvPr>
          <p:cNvSpPr/>
          <p:nvPr/>
        </p:nvSpPr>
        <p:spPr>
          <a:xfrm>
            <a:off x="385279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EEF58A84-E60E-88F9-AEC1-F4B8DA8C39BA}"/>
              </a:ext>
            </a:extLst>
          </p:cNvPr>
          <p:cNvSpPr txBox="1"/>
          <p:nvPr/>
        </p:nvSpPr>
        <p:spPr>
          <a:xfrm>
            <a:off x="3962875" y="5157346"/>
            <a:ext cx="1157689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Parts no longer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available(discontinued)</a:t>
            </a:r>
            <a:endParaRPr kumimoji="0" lang="en-US" altLang="ko-KR" sz="90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3" name="타원 452">
            <a:extLst>
              <a:ext uri="{FF2B5EF4-FFF2-40B4-BE49-F238E27FC236}">
                <a16:creationId xmlns:a16="http://schemas.microsoft.com/office/drawing/2014/main" id="{D0C3D8C9-34BB-0FAD-144A-A1E3D200D518}"/>
              </a:ext>
            </a:extLst>
          </p:cNvPr>
          <p:cNvSpPr/>
          <p:nvPr/>
        </p:nvSpPr>
        <p:spPr>
          <a:xfrm>
            <a:off x="444334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98EC21C-DE13-78CC-1F03-D4951A83C5A7}"/>
              </a:ext>
            </a:extLst>
          </p:cNvPr>
          <p:cNvSpPr txBox="1"/>
          <p:nvPr/>
        </p:nvSpPr>
        <p:spPr>
          <a:xfrm>
            <a:off x="4866534" y="4703840"/>
            <a:ext cx="588623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Parts not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delivered</a:t>
            </a:r>
          </a:p>
        </p:txBody>
      </p:sp>
      <p:sp>
        <p:nvSpPr>
          <p:cNvPr id="455" name="타원 454">
            <a:extLst>
              <a:ext uri="{FF2B5EF4-FFF2-40B4-BE49-F238E27FC236}">
                <a16:creationId xmlns:a16="http://schemas.microsoft.com/office/drawing/2014/main" id="{0697E3DF-CB1E-D8EF-088F-01140C7329CD}"/>
              </a:ext>
            </a:extLst>
          </p:cNvPr>
          <p:cNvSpPr/>
          <p:nvPr/>
        </p:nvSpPr>
        <p:spPr>
          <a:xfrm>
            <a:off x="5062465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944633A4-FBFD-96D5-59DD-108EAF66CB8F}"/>
              </a:ext>
            </a:extLst>
          </p:cNvPr>
          <p:cNvSpPr txBox="1"/>
          <p:nvPr/>
        </p:nvSpPr>
        <p:spPr>
          <a:xfrm>
            <a:off x="5475425" y="4710687"/>
            <a:ext cx="570989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Parts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received </a:t>
            </a:r>
            <a:endParaRPr kumimoji="0" lang="en-US" altLang="ko-KR" sz="900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7" name="타원 456">
            <a:extLst>
              <a:ext uri="{FF2B5EF4-FFF2-40B4-BE49-F238E27FC236}">
                <a16:creationId xmlns:a16="http://schemas.microsoft.com/office/drawing/2014/main" id="{048BB757-0CB8-B9FA-2E16-8AB21E4E2A96}"/>
              </a:ext>
            </a:extLst>
          </p:cNvPr>
          <p:cNvSpPr/>
          <p:nvPr/>
        </p:nvSpPr>
        <p:spPr>
          <a:xfrm>
            <a:off x="566254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78CC5F2B-4F16-B74A-BD32-61F3C6A2BA46}"/>
              </a:ext>
            </a:extLst>
          </p:cNvPr>
          <p:cNvSpPr txBox="1"/>
          <p:nvPr/>
        </p:nvSpPr>
        <p:spPr>
          <a:xfrm>
            <a:off x="6030825" y="4719080"/>
            <a:ext cx="683200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En Route to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Customer</a:t>
            </a:r>
          </a:p>
        </p:txBody>
      </p:sp>
      <p:sp>
        <p:nvSpPr>
          <p:cNvPr id="459" name="타원 458">
            <a:extLst>
              <a:ext uri="{FF2B5EF4-FFF2-40B4-BE49-F238E27FC236}">
                <a16:creationId xmlns:a16="http://schemas.microsoft.com/office/drawing/2014/main" id="{BD4B7781-29BA-E16D-9A35-28ADCEFE0C8F}"/>
              </a:ext>
            </a:extLst>
          </p:cNvPr>
          <p:cNvSpPr/>
          <p:nvPr/>
        </p:nvSpPr>
        <p:spPr>
          <a:xfrm>
            <a:off x="6274045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65" name="직선 연결선 464">
            <a:extLst>
              <a:ext uri="{FF2B5EF4-FFF2-40B4-BE49-F238E27FC236}">
                <a16:creationId xmlns:a16="http://schemas.microsoft.com/office/drawing/2014/main" id="{F8BB9B10-4070-13B5-7C0F-1D9A538ACB9F}"/>
              </a:ext>
            </a:extLst>
          </p:cNvPr>
          <p:cNvCxnSpPr>
            <a:cxnSpLocks/>
          </p:cNvCxnSpPr>
          <p:nvPr/>
        </p:nvCxnSpPr>
        <p:spPr>
          <a:xfrm flipH="1">
            <a:off x="6061547" y="4791450"/>
            <a:ext cx="638149" cy="258567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타원 467">
            <a:extLst>
              <a:ext uri="{FF2B5EF4-FFF2-40B4-BE49-F238E27FC236}">
                <a16:creationId xmlns:a16="http://schemas.microsoft.com/office/drawing/2014/main" id="{11EC0A0B-BF0F-4864-B57D-B823707B2114}"/>
              </a:ext>
            </a:extLst>
          </p:cNvPr>
          <p:cNvSpPr/>
          <p:nvPr/>
        </p:nvSpPr>
        <p:spPr>
          <a:xfrm>
            <a:off x="817714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D71DB969-6266-3BFC-9EC2-AE30F3F0BD0D}"/>
              </a:ext>
            </a:extLst>
          </p:cNvPr>
          <p:cNvSpPr txBox="1"/>
          <p:nvPr/>
        </p:nvSpPr>
        <p:spPr>
          <a:xfrm>
            <a:off x="7942689" y="4719080"/>
            <a:ext cx="655949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Processing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B75BDF5B-25CB-2A1E-4D51-412A1CF9CF99}"/>
              </a:ext>
            </a:extLst>
          </p:cNvPr>
          <p:cNvSpPr txBox="1"/>
          <p:nvPr/>
        </p:nvSpPr>
        <p:spPr>
          <a:xfrm>
            <a:off x="6755108" y="5290580"/>
            <a:ext cx="486030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Arrived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on site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CBF76F6B-5601-2A65-14BD-081EA894C36B}"/>
              </a:ext>
            </a:extLst>
          </p:cNvPr>
          <p:cNvSpPr txBox="1"/>
          <p:nvPr/>
        </p:nvSpPr>
        <p:spPr>
          <a:xfrm>
            <a:off x="7327060" y="5290580"/>
            <a:ext cx="622285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Visit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completed</a:t>
            </a:r>
          </a:p>
        </p:txBody>
      </p:sp>
      <p:cxnSp>
        <p:nvCxnSpPr>
          <p:cNvPr id="478" name="직선 연결선 477">
            <a:extLst>
              <a:ext uri="{FF2B5EF4-FFF2-40B4-BE49-F238E27FC236}">
                <a16:creationId xmlns:a16="http://schemas.microsoft.com/office/drawing/2014/main" id="{34BD3829-C6CF-C801-BF05-C82D538A2A63}"/>
              </a:ext>
            </a:extLst>
          </p:cNvPr>
          <p:cNvCxnSpPr>
            <a:cxnSpLocks/>
          </p:cNvCxnSpPr>
          <p:nvPr/>
        </p:nvCxnSpPr>
        <p:spPr>
          <a:xfrm flipH="1">
            <a:off x="6654671" y="5362950"/>
            <a:ext cx="638149" cy="258567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직선 연결선 478">
            <a:extLst>
              <a:ext uri="{FF2B5EF4-FFF2-40B4-BE49-F238E27FC236}">
                <a16:creationId xmlns:a16="http://schemas.microsoft.com/office/drawing/2014/main" id="{A57C5CCE-85C5-3418-D883-46B4D7161A50}"/>
              </a:ext>
            </a:extLst>
          </p:cNvPr>
          <p:cNvCxnSpPr>
            <a:cxnSpLocks/>
          </p:cNvCxnSpPr>
          <p:nvPr/>
        </p:nvCxnSpPr>
        <p:spPr>
          <a:xfrm flipH="1">
            <a:off x="7313698" y="5362950"/>
            <a:ext cx="638149" cy="258567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직선 화살표 연결선 479">
            <a:extLst>
              <a:ext uri="{FF2B5EF4-FFF2-40B4-BE49-F238E27FC236}">
                <a16:creationId xmlns:a16="http://schemas.microsoft.com/office/drawing/2014/main" id="{AD0413C4-A1B7-C64E-E21F-B443EDC18718}"/>
              </a:ext>
            </a:extLst>
          </p:cNvPr>
          <p:cNvCxnSpPr>
            <a:cxnSpLocks/>
          </p:cNvCxnSpPr>
          <p:nvPr/>
        </p:nvCxnSpPr>
        <p:spPr>
          <a:xfrm>
            <a:off x="6465135" y="5690295"/>
            <a:ext cx="1800204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타원 473">
            <a:extLst>
              <a:ext uri="{FF2B5EF4-FFF2-40B4-BE49-F238E27FC236}">
                <a16:creationId xmlns:a16="http://schemas.microsoft.com/office/drawing/2014/main" id="{DCAD66EE-913F-FCC6-91A5-6ADD860DBE75}"/>
              </a:ext>
            </a:extLst>
          </p:cNvPr>
          <p:cNvSpPr/>
          <p:nvPr/>
        </p:nvSpPr>
        <p:spPr>
          <a:xfrm>
            <a:off x="6904600" y="55999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6" name="타원 475">
            <a:extLst>
              <a:ext uri="{FF2B5EF4-FFF2-40B4-BE49-F238E27FC236}">
                <a16:creationId xmlns:a16="http://schemas.microsoft.com/office/drawing/2014/main" id="{FC2EE05D-DC31-8BCF-EA64-292D5BDDE7B2}"/>
              </a:ext>
            </a:extLst>
          </p:cNvPr>
          <p:cNvSpPr/>
          <p:nvPr/>
        </p:nvSpPr>
        <p:spPr>
          <a:xfrm>
            <a:off x="7544680" y="55999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4" name="타원 483">
            <a:extLst>
              <a:ext uri="{FF2B5EF4-FFF2-40B4-BE49-F238E27FC236}">
                <a16:creationId xmlns:a16="http://schemas.microsoft.com/office/drawing/2014/main" id="{81DB7913-0348-3C77-08D1-2FC0C5BA2F96}"/>
              </a:ext>
            </a:extLst>
          </p:cNvPr>
          <p:cNvSpPr/>
          <p:nvPr/>
        </p:nvSpPr>
        <p:spPr>
          <a:xfrm>
            <a:off x="881722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CD8CE7F9-FD0F-51F8-962A-BEF6A6821174}"/>
              </a:ext>
            </a:extLst>
          </p:cNvPr>
          <p:cNvSpPr txBox="1"/>
          <p:nvPr/>
        </p:nvSpPr>
        <p:spPr>
          <a:xfrm>
            <a:off x="8641280" y="4719080"/>
            <a:ext cx="538929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Cancel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Request</a:t>
            </a:r>
          </a:p>
        </p:txBody>
      </p:sp>
      <p:sp>
        <p:nvSpPr>
          <p:cNvPr id="486" name="타원 485">
            <a:extLst>
              <a:ext uri="{FF2B5EF4-FFF2-40B4-BE49-F238E27FC236}">
                <a16:creationId xmlns:a16="http://schemas.microsoft.com/office/drawing/2014/main" id="{0D9F114B-8663-6C78-6173-20885559F837}"/>
              </a:ext>
            </a:extLst>
          </p:cNvPr>
          <p:cNvSpPr/>
          <p:nvPr/>
        </p:nvSpPr>
        <p:spPr>
          <a:xfrm>
            <a:off x="944206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3C236D35-3961-1CC0-D8EA-897438DD28E8}"/>
              </a:ext>
            </a:extLst>
          </p:cNvPr>
          <p:cNvSpPr txBox="1"/>
          <p:nvPr/>
        </p:nvSpPr>
        <p:spPr>
          <a:xfrm>
            <a:off x="9238067" y="4719080"/>
            <a:ext cx="59503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Quotation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confirm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endParaRPr lang="en-US" altLang="ko-KR" sz="900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8" name="타원 487">
            <a:extLst>
              <a:ext uri="{FF2B5EF4-FFF2-40B4-BE49-F238E27FC236}">
                <a16:creationId xmlns:a16="http://schemas.microsoft.com/office/drawing/2014/main" id="{8767E114-5721-4D8C-1F7E-6C8EB10E7C6C}"/>
              </a:ext>
            </a:extLst>
          </p:cNvPr>
          <p:cNvSpPr/>
          <p:nvPr/>
        </p:nvSpPr>
        <p:spPr>
          <a:xfrm>
            <a:off x="1008976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628958F9-0BA8-5AD0-D17B-DB23BD0D08DF}"/>
              </a:ext>
            </a:extLst>
          </p:cNvPr>
          <p:cNvSpPr txBox="1"/>
          <p:nvPr/>
        </p:nvSpPr>
        <p:spPr>
          <a:xfrm>
            <a:off x="9917026" y="4719080"/>
            <a:ext cx="532517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Refuse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to repair</a:t>
            </a:r>
          </a:p>
        </p:txBody>
      </p:sp>
      <p:cxnSp>
        <p:nvCxnSpPr>
          <p:cNvPr id="490" name="직선 연결선 489">
            <a:extLst>
              <a:ext uri="{FF2B5EF4-FFF2-40B4-BE49-F238E27FC236}">
                <a16:creationId xmlns:a16="http://schemas.microsoft.com/office/drawing/2014/main" id="{1D4CB780-69BD-EA22-14CA-F24394C4D6A5}"/>
              </a:ext>
            </a:extLst>
          </p:cNvPr>
          <p:cNvCxnSpPr>
            <a:cxnSpLocks/>
          </p:cNvCxnSpPr>
          <p:nvPr/>
        </p:nvCxnSpPr>
        <p:spPr>
          <a:xfrm flipH="1">
            <a:off x="9848687" y="4791450"/>
            <a:ext cx="638149" cy="258567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타원 490">
            <a:extLst>
              <a:ext uri="{FF2B5EF4-FFF2-40B4-BE49-F238E27FC236}">
                <a16:creationId xmlns:a16="http://schemas.microsoft.com/office/drawing/2014/main" id="{BAE3D278-A10F-A157-3607-06CAB9471FE6}"/>
              </a:ext>
            </a:extLst>
          </p:cNvPr>
          <p:cNvSpPr/>
          <p:nvPr/>
        </p:nvSpPr>
        <p:spPr>
          <a:xfrm>
            <a:off x="1077556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56E89276-8A8B-678D-796A-B373A6066FCF}"/>
              </a:ext>
            </a:extLst>
          </p:cNvPr>
          <p:cNvSpPr txBox="1"/>
          <p:nvPr/>
        </p:nvSpPr>
        <p:spPr>
          <a:xfrm>
            <a:off x="10505844" y="4719080"/>
            <a:ext cx="726481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Escalated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for complaint</a:t>
            </a:r>
          </a:p>
        </p:txBody>
      </p:sp>
      <p:sp>
        <p:nvSpPr>
          <p:cNvPr id="502" name="타원 501">
            <a:extLst>
              <a:ext uri="{FF2B5EF4-FFF2-40B4-BE49-F238E27FC236}">
                <a16:creationId xmlns:a16="http://schemas.microsoft.com/office/drawing/2014/main" id="{672B126A-BD47-2580-D2F5-024AB2C58745}"/>
              </a:ext>
            </a:extLst>
          </p:cNvPr>
          <p:cNvSpPr/>
          <p:nvPr/>
        </p:nvSpPr>
        <p:spPr>
          <a:xfrm>
            <a:off x="11498572" y="1510519"/>
            <a:ext cx="174535" cy="17453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890E0531-958C-6792-58A2-0BBB76136AB8}"/>
              </a:ext>
            </a:extLst>
          </p:cNvPr>
          <p:cNvSpPr txBox="1"/>
          <p:nvPr/>
        </p:nvSpPr>
        <p:spPr>
          <a:xfrm>
            <a:off x="10931433" y="1067514"/>
            <a:ext cx="1211262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부품 필요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Further part required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4" name="타원 503">
            <a:extLst>
              <a:ext uri="{FF2B5EF4-FFF2-40B4-BE49-F238E27FC236}">
                <a16:creationId xmlns:a16="http://schemas.microsoft.com/office/drawing/2014/main" id="{7E22F8FC-7A4F-6CE9-F593-40D328306E83}"/>
              </a:ext>
            </a:extLst>
          </p:cNvPr>
          <p:cNvSpPr/>
          <p:nvPr/>
        </p:nvSpPr>
        <p:spPr>
          <a:xfrm>
            <a:off x="1148041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D018EFF9-1151-5ADC-FFA0-67EA98BF673E}"/>
              </a:ext>
            </a:extLst>
          </p:cNvPr>
          <p:cNvSpPr txBox="1"/>
          <p:nvPr/>
        </p:nvSpPr>
        <p:spPr>
          <a:xfrm>
            <a:off x="11233938" y="4719080"/>
            <a:ext cx="679993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Further part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required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endParaRPr lang="en-US" altLang="ko-KR" sz="900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6" name="타원 505">
            <a:extLst>
              <a:ext uri="{FF2B5EF4-FFF2-40B4-BE49-F238E27FC236}">
                <a16:creationId xmlns:a16="http://schemas.microsoft.com/office/drawing/2014/main" id="{4006D39D-11F2-027F-931A-331F6BD61B6B}"/>
              </a:ext>
            </a:extLst>
          </p:cNvPr>
          <p:cNvSpPr/>
          <p:nvPr/>
        </p:nvSpPr>
        <p:spPr>
          <a:xfrm>
            <a:off x="11475852" y="389542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44B9333D-410F-3398-2FAF-017EDE29172D}"/>
              </a:ext>
            </a:extLst>
          </p:cNvPr>
          <p:cNvSpPr txBox="1"/>
          <p:nvPr/>
        </p:nvSpPr>
        <p:spPr>
          <a:xfrm>
            <a:off x="11245629" y="3666827"/>
            <a:ext cx="715260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부품 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미지참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502FE446-519C-DE32-CA49-8B00463FA00C}"/>
              </a:ext>
            </a:extLst>
          </p:cNvPr>
          <p:cNvSpPr txBox="1"/>
          <p:nvPr/>
        </p:nvSpPr>
        <p:spPr>
          <a:xfrm>
            <a:off x="11429807" y="1318896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65F01FEE-8AE5-CC10-0209-E608084FF0CD}"/>
              </a:ext>
            </a:extLst>
          </p:cNvPr>
          <p:cNvSpPr txBox="1"/>
          <p:nvPr/>
        </p:nvSpPr>
        <p:spPr>
          <a:xfrm>
            <a:off x="11295699" y="4188053"/>
            <a:ext cx="622695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~ 3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</a:t>
            </a:r>
            <a:endParaRPr lang="en-US" altLang="ko-KR" sz="1100" dirty="0">
              <a:solidFill>
                <a:srgbClr val="00B050"/>
              </a:solidFill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346CBCE0-FC6B-558E-0FF1-561827F55931}"/>
              </a:ext>
            </a:extLst>
          </p:cNvPr>
          <p:cNvSpPr txBox="1"/>
          <p:nvPr/>
        </p:nvSpPr>
        <p:spPr>
          <a:xfrm>
            <a:off x="1149680" y="4947052"/>
            <a:ext cx="58541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공통</a:t>
            </a:r>
            <a:endParaRPr lang="en-US" altLang="ko-KR" sz="11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  <a:p>
            <a:pPr algn="ctr"/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(32</a:t>
            </a:r>
            <a:r>
              <a:rPr lang="ko-KR" altLang="en-US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개</a:t>
            </a:r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)</a:t>
            </a:r>
            <a:endParaRPr lang="ko-KR" altLang="en-US" sz="11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EE8249E2-3A86-177F-3538-FAE4DC004BFF}"/>
              </a:ext>
            </a:extLst>
          </p:cNvPr>
          <p:cNvSpPr txBox="1"/>
          <p:nvPr/>
        </p:nvSpPr>
        <p:spPr>
          <a:xfrm>
            <a:off x="1130447" y="5470387"/>
            <a:ext cx="59182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Local</a:t>
            </a:r>
          </a:p>
          <a:p>
            <a:pPr algn="ctr"/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(5</a:t>
            </a:r>
            <a:r>
              <a:rPr lang="ko-KR" altLang="en-US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개</a:t>
            </a:r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)</a:t>
            </a:r>
            <a:endParaRPr lang="ko-KR" altLang="en-US" sz="11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cxnSp>
        <p:nvCxnSpPr>
          <p:cNvPr id="533" name="연결선: 꺾임 532">
            <a:extLst>
              <a:ext uri="{FF2B5EF4-FFF2-40B4-BE49-F238E27FC236}">
                <a16:creationId xmlns:a16="http://schemas.microsoft.com/office/drawing/2014/main" id="{7A36142A-8DC9-0E1B-90C4-76A2E68D4007}"/>
              </a:ext>
            </a:extLst>
          </p:cNvPr>
          <p:cNvCxnSpPr>
            <a:cxnSpLocks/>
            <a:stCxn id="251" idx="6"/>
            <a:endCxn id="539" idx="2"/>
          </p:cNvCxnSpPr>
          <p:nvPr/>
        </p:nvCxnSpPr>
        <p:spPr>
          <a:xfrm flipV="1">
            <a:off x="4628938" y="3292770"/>
            <a:ext cx="7136854" cy="225355"/>
          </a:xfrm>
          <a:prstGeom prst="bentConnector3">
            <a:avLst>
              <a:gd name="adj1" fmla="val 12025"/>
            </a:avLst>
          </a:prstGeom>
          <a:ln w="9525">
            <a:solidFill>
              <a:srgbClr val="CC0099"/>
            </a:solidFill>
            <a:prstDash val="das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연결선: 꺾임 535">
            <a:extLst>
              <a:ext uri="{FF2B5EF4-FFF2-40B4-BE49-F238E27FC236}">
                <a16:creationId xmlns:a16="http://schemas.microsoft.com/office/drawing/2014/main" id="{FCBD492C-7C1E-ED4E-F0A9-B81ED0C27016}"/>
              </a:ext>
            </a:extLst>
          </p:cNvPr>
          <p:cNvCxnSpPr>
            <a:cxnSpLocks/>
            <a:stCxn id="173" idx="6"/>
            <a:endCxn id="539" idx="2"/>
          </p:cNvCxnSpPr>
          <p:nvPr/>
        </p:nvCxnSpPr>
        <p:spPr>
          <a:xfrm>
            <a:off x="4056714" y="3040226"/>
            <a:ext cx="7709078" cy="252544"/>
          </a:xfrm>
          <a:prstGeom prst="bentConnector3">
            <a:avLst>
              <a:gd name="adj1" fmla="val 18583"/>
            </a:avLst>
          </a:prstGeom>
          <a:ln w="9525">
            <a:solidFill>
              <a:srgbClr val="CC0099"/>
            </a:solidFill>
            <a:prstDash val="das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타원 538">
            <a:extLst>
              <a:ext uri="{FF2B5EF4-FFF2-40B4-BE49-F238E27FC236}">
                <a16:creationId xmlns:a16="http://schemas.microsoft.com/office/drawing/2014/main" id="{4D2A9DAC-A44D-0B2C-2A34-7FA5CC94EB60}"/>
              </a:ext>
            </a:extLst>
          </p:cNvPr>
          <p:cNvSpPr/>
          <p:nvPr/>
        </p:nvSpPr>
        <p:spPr>
          <a:xfrm>
            <a:off x="11765792" y="3196764"/>
            <a:ext cx="192012" cy="1920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31BF553B-0B04-B210-0FF8-36C3E73A4BAB}"/>
              </a:ext>
            </a:extLst>
          </p:cNvPr>
          <p:cNvSpPr txBox="1"/>
          <p:nvPr/>
        </p:nvSpPr>
        <p:spPr>
          <a:xfrm>
            <a:off x="11386522" y="2986563"/>
            <a:ext cx="758541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DR </a:t>
            </a:r>
            <a:r>
              <a:rPr lang="ko-KR" altLang="en-US" sz="9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승인요청</a:t>
            </a:r>
            <a:endParaRPr lang="en-US" altLang="ko-KR" sz="900" dirty="0">
              <a:solidFill>
                <a:srgbClr val="00B05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545" name="연결선: 꺾임 544">
            <a:extLst>
              <a:ext uri="{FF2B5EF4-FFF2-40B4-BE49-F238E27FC236}">
                <a16:creationId xmlns:a16="http://schemas.microsoft.com/office/drawing/2014/main" id="{66CC7263-C837-EE6C-B888-99D1F6C2F31E}"/>
              </a:ext>
            </a:extLst>
          </p:cNvPr>
          <p:cNvCxnSpPr>
            <a:cxnSpLocks/>
            <a:stCxn id="260" idx="6"/>
            <a:endCxn id="539" idx="2"/>
          </p:cNvCxnSpPr>
          <p:nvPr/>
        </p:nvCxnSpPr>
        <p:spPr>
          <a:xfrm>
            <a:off x="10985386" y="2309282"/>
            <a:ext cx="780406" cy="983488"/>
          </a:xfrm>
          <a:prstGeom prst="bentConnector3">
            <a:avLst>
              <a:gd name="adj1" fmla="val 50000"/>
            </a:avLst>
          </a:prstGeom>
          <a:ln w="9525">
            <a:solidFill>
              <a:srgbClr val="CC0099"/>
            </a:solidFill>
            <a:prstDash val="das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>
            <a:extLst>
              <a:ext uri="{FF2B5EF4-FFF2-40B4-BE49-F238E27FC236}">
                <a16:creationId xmlns:a16="http://schemas.microsoft.com/office/drawing/2014/main" id="{BE1BB22C-8118-EC8C-80F1-70ADD9C99748}"/>
              </a:ext>
            </a:extLst>
          </p:cNvPr>
          <p:cNvSpPr txBox="1"/>
          <p:nvPr/>
        </p:nvSpPr>
        <p:spPr>
          <a:xfrm>
            <a:off x="577946" y="3744388"/>
            <a:ext cx="986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한국</a:t>
            </a:r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(15</a:t>
            </a:r>
            <a:r>
              <a:rPr lang="ko-KR" altLang="en-US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개</a:t>
            </a:r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)</a:t>
            </a:r>
            <a:endParaRPr lang="ko-KR" altLang="en-US" sz="16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E9CA0720-36D3-B7A1-6EF6-73E735502265}"/>
              </a:ext>
            </a:extLst>
          </p:cNvPr>
          <p:cNvSpPr txBox="1"/>
          <p:nvPr/>
        </p:nvSpPr>
        <p:spPr>
          <a:xfrm>
            <a:off x="5826034" y="6587518"/>
            <a:ext cx="386644" cy="24622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 / 4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0702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198D7-FF48-E247-EC4A-05E68A6E0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" name="연결선: 꺾임 335">
            <a:extLst>
              <a:ext uri="{FF2B5EF4-FFF2-40B4-BE49-F238E27FC236}">
                <a16:creationId xmlns:a16="http://schemas.microsoft.com/office/drawing/2014/main" id="{82070956-D5B7-CC97-1EB7-C8AC7D3DAB43}"/>
              </a:ext>
            </a:extLst>
          </p:cNvPr>
          <p:cNvCxnSpPr>
            <a:cxnSpLocks/>
            <a:stCxn id="219" idx="6"/>
            <a:endCxn id="133" idx="2"/>
          </p:cNvCxnSpPr>
          <p:nvPr/>
        </p:nvCxnSpPr>
        <p:spPr>
          <a:xfrm flipV="1">
            <a:off x="8361047" y="2775222"/>
            <a:ext cx="2113914" cy="1077"/>
          </a:xfrm>
          <a:prstGeom prst="bentConnector3">
            <a:avLst>
              <a:gd name="adj1" fmla="val 50000"/>
            </a:avLst>
          </a:prstGeom>
          <a:ln w="22225">
            <a:solidFill>
              <a:srgbClr val="CC0099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BA0179-B6B5-3081-BE09-FF97F3C09DD3}"/>
              </a:ext>
            </a:extLst>
          </p:cNvPr>
          <p:cNvSpPr>
            <a:spLocks/>
          </p:cNvSpPr>
          <p:nvPr/>
        </p:nvSpPr>
        <p:spPr>
          <a:xfrm>
            <a:off x="490975" y="4630409"/>
            <a:ext cx="11262296" cy="1450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3F4357F1-4131-1EBF-5B48-89C574D82A7A}"/>
              </a:ext>
            </a:extLst>
          </p:cNvPr>
          <p:cNvCxnSpPr>
            <a:cxnSpLocks/>
          </p:cNvCxnSpPr>
          <p:nvPr/>
        </p:nvCxnSpPr>
        <p:spPr>
          <a:xfrm>
            <a:off x="1724132" y="1702532"/>
            <a:ext cx="0" cy="442205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80CC949-6336-4642-DBC6-D5210DDB7745}"/>
              </a:ext>
            </a:extLst>
          </p:cNvPr>
          <p:cNvCxnSpPr>
            <a:cxnSpLocks/>
            <a:endCxn id="192" idx="2"/>
          </p:cNvCxnSpPr>
          <p:nvPr/>
        </p:nvCxnSpPr>
        <p:spPr>
          <a:xfrm>
            <a:off x="1425277" y="1600994"/>
            <a:ext cx="10044608" cy="0"/>
          </a:xfrm>
          <a:prstGeom prst="straightConnector1">
            <a:avLst/>
          </a:prstGeom>
          <a:ln w="28575">
            <a:solidFill>
              <a:srgbClr val="CC0099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C1EA46-2789-8D7D-DA11-BC0867A2A414}"/>
              </a:ext>
            </a:extLst>
          </p:cNvPr>
          <p:cNvCxnSpPr>
            <a:cxnSpLocks/>
          </p:cNvCxnSpPr>
          <p:nvPr/>
        </p:nvCxnSpPr>
        <p:spPr>
          <a:xfrm>
            <a:off x="0" y="538239"/>
            <a:ext cx="12142694" cy="0"/>
          </a:xfrm>
          <a:prstGeom prst="line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5A6F379-FA7E-703F-EF0F-1731046729AD}"/>
              </a:ext>
            </a:extLst>
          </p:cNvPr>
          <p:cNvSpPr txBox="1"/>
          <p:nvPr/>
        </p:nvSpPr>
        <p:spPr>
          <a:xfrm>
            <a:off x="70803" y="52044"/>
            <a:ext cx="4166525" cy="43281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Pending Reason Code 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통합 운영 방안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DBD97604-0E23-E637-4C63-FD6F0DF47938}"/>
              </a:ext>
            </a:extLst>
          </p:cNvPr>
          <p:cNvCxnSpPr>
            <a:cxnSpLocks/>
          </p:cNvCxnSpPr>
          <p:nvPr/>
        </p:nvCxnSpPr>
        <p:spPr>
          <a:xfrm>
            <a:off x="6369129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92" name="타원 191">
            <a:extLst>
              <a:ext uri="{FF2B5EF4-FFF2-40B4-BE49-F238E27FC236}">
                <a16:creationId xmlns:a16="http://schemas.microsoft.com/office/drawing/2014/main" id="{279A1D4E-D915-9716-20D7-0C39203EF6B3}"/>
              </a:ext>
            </a:extLst>
          </p:cNvPr>
          <p:cNvSpPr/>
          <p:nvPr/>
        </p:nvSpPr>
        <p:spPr>
          <a:xfrm>
            <a:off x="11469885" y="1475651"/>
            <a:ext cx="250688" cy="25068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 dirty="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79331246-334B-3849-A9E5-1F899DD1F58F}"/>
              </a:ext>
            </a:extLst>
          </p:cNvPr>
          <p:cNvSpPr/>
          <p:nvPr/>
        </p:nvSpPr>
        <p:spPr>
          <a:xfrm>
            <a:off x="5535846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1A325A4-03CB-C94F-D61F-9F7C5360F49A}"/>
              </a:ext>
            </a:extLst>
          </p:cNvPr>
          <p:cNvSpPr txBox="1"/>
          <p:nvPr/>
        </p:nvSpPr>
        <p:spPr>
          <a:xfrm>
            <a:off x="3009798" y="1067514"/>
            <a:ext cx="955368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반입 진행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Collection to~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436FF1B4-4381-BC1C-1155-7BB0DAED62DE}"/>
              </a:ext>
            </a:extLst>
          </p:cNvPr>
          <p:cNvSpPr/>
          <p:nvPr/>
        </p:nvSpPr>
        <p:spPr>
          <a:xfrm>
            <a:off x="3478208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599AB5C-1131-C0AE-0F2D-63F5BAC4C909}"/>
              </a:ext>
            </a:extLst>
          </p:cNvPr>
          <p:cNvSpPr txBox="1"/>
          <p:nvPr/>
        </p:nvSpPr>
        <p:spPr>
          <a:xfrm>
            <a:off x="5262269" y="1067514"/>
            <a:ext cx="822661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지불 대기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Waiting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Payment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0" name="타원 209">
            <a:extLst>
              <a:ext uri="{FF2B5EF4-FFF2-40B4-BE49-F238E27FC236}">
                <a16:creationId xmlns:a16="http://schemas.microsoft.com/office/drawing/2014/main" id="{8CFD6978-904B-B495-7B6D-3BEB2F05742A}"/>
              </a:ext>
            </a:extLst>
          </p:cNvPr>
          <p:cNvSpPr/>
          <p:nvPr/>
        </p:nvSpPr>
        <p:spPr>
          <a:xfrm>
            <a:off x="6291313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5BF94052-5781-8917-EF9A-EAA62EB487C0}"/>
              </a:ext>
            </a:extLst>
          </p:cNvPr>
          <p:cNvSpPr txBox="1"/>
          <p:nvPr/>
        </p:nvSpPr>
        <p:spPr>
          <a:xfrm>
            <a:off x="6021340" y="1067514"/>
            <a:ext cx="753732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반출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On delivery to~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431294E5-12D8-993A-58FB-EC763946935D}"/>
              </a:ext>
            </a:extLst>
          </p:cNvPr>
          <p:cNvSpPr/>
          <p:nvPr/>
        </p:nvSpPr>
        <p:spPr>
          <a:xfrm>
            <a:off x="6900604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9365AFE-BB61-F327-7588-F0D216F1E15A}"/>
              </a:ext>
            </a:extLst>
          </p:cNvPr>
          <p:cNvSpPr txBox="1"/>
          <p:nvPr/>
        </p:nvSpPr>
        <p:spPr>
          <a:xfrm>
            <a:off x="6592043" y="1067514"/>
            <a:ext cx="898002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입력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Awaiting data-input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1DA9285B-494E-3033-7BD4-5455DFF04545}"/>
              </a:ext>
            </a:extLst>
          </p:cNvPr>
          <p:cNvSpPr/>
          <p:nvPr/>
        </p:nvSpPr>
        <p:spPr>
          <a:xfrm>
            <a:off x="8169035" y="2680293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BF6259C-A29C-8034-DDF5-E0C71506ACED}"/>
              </a:ext>
            </a:extLst>
          </p:cNvPr>
          <p:cNvSpPr txBox="1"/>
          <p:nvPr/>
        </p:nvSpPr>
        <p:spPr>
          <a:xfrm>
            <a:off x="7790763" y="2246508"/>
            <a:ext cx="948556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DR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승인 대기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DR processing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4" name="타원 273">
            <a:extLst>
              <a:ext uri="{FF2B5EF4-FFF2-40B4-BE49-F238E27FC236}">
                <a16:creationId xmlns:a16="http://schemas.microsoft.com/office/drawing/2014/main" id="{C541099C-5AF9-21E1-6A0B-4A65E35E847C}"/>
              </a:ext>
            </a:extLst>
          </p:cNvPr>
          <p:cNvSpPr/>
          <p:nvPr/>
        </p:nvSpPr>
        <p:spPr>
          <a:xfrm>
            <a:off x="1644950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EF2C06F3-FB01-845C-EEAE-BE7FC05C0C2D}"/>
              </a:ext>
            </a:extLst>
          </p:cNvPr>
          <p:cNvSpPr txBox="1"/>
          <p:nvPr/>
        </p:nvSpPr>
        <p:spPr>
          <a:xfrm>
            <a:off x="1425277" y="1067514"/>
            <a:ext cx="715260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난수리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지연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Hard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to repair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7" name="타원 296">
            <a:extLst>
              <a:ext uri="{FF2B5EF4-FFF2-40B4-BE49-F238E27FC236}">
                <a16:creationId xmlns:a16="http://schemas.microsoft.com/office/drawing/2014/main" id="{6CDD65C5-2225-5148-22EF-C47B7DD126D4}"/>
              </a:ext>
            </a:extLst>
          </p:cNvPr>
          <p:cNvSpPr/>
          <p:nvPr/>
        </p:nvSpPr>
        <p:spPr>
          <a:xfrm>
            <a:off x="7556346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0029C859-50DE-6033-3DD2-0EC28ADEB720}"/>
              </a:ext>
            </a:extLst>
          </p:cNvPr>
          <p:cNvSpPr txBox="1"/>
          <p:nvPr/>
        </p:nvSpPr>
        <p:spPr>
          <a:xfrm>
            <a:off x="7242224" y="1067514"/>
            <a:ext cx="842030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클린콜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진행 중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Clean call</a:t>
            </a:r>
          </a:p>
        </p:txBody>
      </p:sp>
      <p:sp>
        <p:nvSpPr>
          <p:cNvPr id="334" name="타원 333">
            <a:extLst>
              <a:ext uri="{FF2B5EF4-FFF2-40B4-BE49-F238E27FC236}">
                <a16:creationId xmlns:a16="http://schemas.microsoft.com/office/drawing/2014/main" id="{417B8206-FDA7-53EF-35D8-7F852AA8F3F2}"/>
              </a:ext>
            </a:extLst>
          </p:cNvPr>
          <p:cNvSpPr/>
          <p:nvPr/>
        </p:nvSpPr>
        <p:spPr>
          <a:xfrm>
            <a:off x="8934485" y="2679216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6D029B4F-D665-4883-0FFC-F6FA2D863591}"/>
              </a:ext>
            </a:extLst>
          </p:cNvPr>
          <p:cNvSpPr txBox="1"/>
          <p:nvPr/>
        </p:nvSpPr>
        <p:spPr>
          <a:xfrm>
            <a:off x="8572788" y="2261033"/>
            <a:ext cx="948556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고객 차액 지불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Commercial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solution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3AF267FF-3665-82B0-4DFE-0FA5F493BCF8}"/>
              </a:ext>
            </a:extLst>
          </p:cNvPr>
          <p:cNvSpPr txBox="1"/>
          <p:nvPr/>
        </p:nvSpPr>
        <p:spPr>
          <a:xfrm>
            <a:off x="10196516" y="2047496"/>
            <a:ext cx="786421" cy="61555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제품교환 지연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딜러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Replacement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pending(dealer)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46" name="직선 연결선 345">
            <a:extLst>
              <a:ext uri="{FF2B5EF4-FFF2-40B4-BE49-F238E27FC236}">
                <a16:creationId xmlns:a16="http://schemas.microsoft.com/office/drawing/2014/main" id="{4E64C3B6-5131-D9D2-81DC-2018B51EBD35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2331506" y="2283754"/>
            <a:ext cx="0" cy="384083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52" name="직선 연결선 351">
            <a:extLst>
              <a:ext uri="{FF2B5EF4-FFF2-40B4-BE49-F238E27FC236}">
                <a16:creationId xmlns:a16="http://schemas.microsoft.com/office/drawing/2014/main" id="{63B1FE0E-31E5-F0C2-76A5-3ADE742FB492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2864906" y="2658249"/>
            <a:ext cx="0" cy="345616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708C3605-9540-7A85-6AA9-427CA5D9C31F}"/>
              </a:ext>
            </a:extLst>
          </p:cNvPr>
          <p:cNvCxnSpPr>
            <a:cxnSpLocks/>
          </p:cNvCxnSpPr>
          <p:nvPr/>
        </p:nvCxnSpPr>
        <p:spPr>
          <a:xfrm>
            <a:off x="1724132" y="3977325"/>
            <a:ext cx="9996441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125E9E9-CED5-FFAF-BA4B-01C023BDCE30}"/>
              </a:ext>
            </a:extLst>
          </p:cNvPr>
          <p:cNvCxnSpPr>
            <a:cxnSpLocks/>
          </p:cNvCxnSpPr>
          <p:nvPr/>
        </p:nvCxnSpPr>
        <p:spPr>
          <a:xfrm flipH="1">
            <a:off x="490975" y="3636506"/>
            <a:ext cx="11229598" cy="0"/>
          </a:xfrm>
          <a:prstGeom prst="line">
            <a:avLst/>
          </a:prstGeom>
          <a:noFill/>
          <a:ln w="22225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6AB00BF-B561-BF14-9C86-35E3FA3DFE5B}"/>
              </a:ext>
            </a:extLst>
          </p:cNvPr>
          <p:cNvSpPr txBox="1"/>
          <p:nvPr/>
        </p:nvSpPr>
        <p:spPr>
          <a:xfrm>
            <a:off x="509017" y="5000114"/>
            <a:ext cx="732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해외</a:t>
            </a:r>
            <a:endParaRPr lang="en-US" altLang="ko-KR" sz="16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  <a:p>
            <a:pPr algn="ctr"/>
            <a:r>
              <a:rPr lang="ko-KR" altLang="en-US" sz="16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표준안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F646552-A0E7-E993-68C4-28D1D8E031EE}"/>
              </a:ext>
            </a:extLst>
          </p:cNvPr>
          <p:cNvSpPr txBox="1"/>
          <p:nvPr/>
        </p:nvSpPr>
        <p:spPr>
          <a:xfrm>
            <a:off x="930967" y="4199351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RTAT</a:t>
            </a:r>
            <a:endParaRPr lang="ko-KR" altLang="en-US" sz="1000" dirty="0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8AF209E8-344F-5B18-565A-692D7E7E14E3}"/>
              </a:ext>
            </a:extLst>
          </p:cNvPr>
          <p:cNvCxnSpPr>
            <a:cxnSpLocks/>
            <a:stCxn id="96" idx="3"/>
          </p:cNvCxnSpPr>
          <p:nvPr/>
        </p:nvCxnSpPr>
        <p:spPr>
          <a:xfrm>
            <a:off x="1416997" y="4322462"/>
            <a:ext cx="5579613" cy="0"/>
          </a:xfrm>
          <a:prstGeom prst="straightConnector1">
            <a:avLst/>
          </a:prstGeom>
          <a:ln w="9525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EA5C068-5C15-7754-094C-907919102844}"/>
              </a:ext>
            </a:extLst>
          </p:cNvPr>
          <p:cNvSpPr txBox="1"/>
          <p:nvPr/>
        </p:nvSpPr>
        <p:spPr>
          <a:xfrm>
            <a:off x="1288408" y="4330850"/>
            <a:ext cx="26005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3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 내 처리율 </a:t>
            </a:r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95%, 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익일 처리 약 </a:t>
            </a:r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50%</a:t>
            </a: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48EF2C70-EF2B-4933-F24D-67B17281CD2E}"/>
              </a:ext>
            </a:extLst>
          </p:cNvPr>
          <p:cNvCxnSpPr>
            <a:cxnSpLocks/>
          </p:cNvCxnSpPr>
          <p:nvPr/>
        </p:nvCxnSpPr>
        <p:spPr>
          <a:xfrm flipH="1">
            <a:off x="490975" y="4637006"/>
            <a:ext cx="11229598" cy="0"/>
          </a:xfrm>
          <a:prstGeom prst="line">
            <a:avLst/>
          </a:prstGeom>
          <a:noFill/>
          <a:ln w="22225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7F7F0018-891A-7DB5-72C7-21605AF00CCC}"/>
              </a:ext>
            </a:extLst>
          </p:cNvPr>
          <p:cNvCxnSpPr>
            <a:cxnSpLocks/>
          </p:cNvCxnSpPr>
          <p:nvPr/>
        </p:nvCxnSpPr>
        <p:spPr>
          <a:xfrm>
            <a:off x="1860492" y="5111175"/>
            <a:ext cx="989277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802E4442-A687-CE2F-2C17-7BC39A44F535}"/>
              </a:ext>
            </a:extLst>
          </p:cNvPr>
          <p:cNvSpPr txBox="1"/>
          <p:nvPr/>
        </p:nvSpPr>
        <p:spPr>
          <a:xfrm>
            <a:off x="930967" y="5838146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RTAT</a:t>
            </a:r>
            <a:endParaRPr lang="ko-KR" altLang="en-US" sz="1000" dirty="0"/>
          </a:p>
        </p:txBody>
      </p: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A9583D64-0E4D-AB3B-EFA7-949C5E75315C}"/>
              </a:ext>
            </a:extLst>
          </p:cNvPr>
          <p:cNvCxnSpPr>
            <a:cxnSpLocks/>
            <a:stCxn id="180" idx="3"/>
          </p:cNvCxnSpPr>
          <p:nvPr/>
        </p:nvCxnSpPr>
        <p:spPr>
          <a:xfrm flipV="1">
            <a:off x="1416997" y="5944503"/>
            <a:ext cx="6212081" cy="16754"/>
          </a:xfrm>
          <a:prstGeom prst="straightConnector1">
            <a:avLst/>
          </a:prstGeom>
          <a:ln w="9525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7E141DCE-1C8B-7A9A-5846-6A2C94522825}"/>
              </a:ext>
            </a:extLst>
          </p:cNvPr>
          <p:cNvCxnSpPr>
            <a:cxnSpLocks/>
          </p:cNvCxnSpPr>
          <p:nvPr/>
        </p:nvCxnSpPr>
        <p:spPr>
          <a:xfrm>
            <a:off x="7652109" y="5942389"/>
            <a:ext cx="4068464" cy="0"/>
          </a:xfrm>
          <a:prstGeom prst="straightConnector1">
            <a:avLst/>
          </a:prstGeom>
          <a:ln w="9525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D5E31834-23C4-134D-3943-7741FC1604AE}"/>
              </a:ext>
            </a:extLst>
          </p:cNvPr>
          <p:cNvSpPr txBox="1"/>
          <p:nvPr/>
        </p:nvSpPr>
        <p:spPr>
          <a:xfrm>
            <a:off x="10640641" y="5817323"/>
            <a:ext cx="852357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장기</a:t>
            </a:r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지연</a:t>
            </a:r>
            <a:endParaRPr lang="en-US" altLang="ko-KR" sz="1100" dirty="0">
              <a:solidFill>
                <a:srgbClr val="00B050"/>
              </a:solidFill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E4E0BB07-D142-87B3-A58F-3F6B422F107C}"/>
              </a:ext>
            </a:extLst>
          </p:cNvPr>
          <p:cNvCxnSpPr>
            <a:cxnSpLocks/>
          </p:cNvCxnSpPr>
          <p:nvPr/>
        </p:nvCxnSpPr>
        <p:spPr>
          <a:xfrm>
            <a:off x="3563449" y="1702532"/>
            <a:ext cx="0" cy="442205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086FD462-8CB9-C6A5-059F-7CB6CA1016E8}"/>
              </a:ext>
            </a:extLst>
          </p:cNvPr>
          <p:cNvCxnSpPr>
            <a:cxnSpLocks/>
          </p:cNvCxnSpPr>
          <p:nvPr/>
        </p:nvCxnSpPr>
        <p:spPr>
          <a:xfrm>
            <a:off x="6984965" y="1720023"/>
            <a:ext cx="0" cy="440456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77916154-0447-A6D3-DC25-3F4CEB22AA37}"/>
              </a:ext>
            </a:extLst>
          </p:cNvPr>
          <p:cNvCxnSpPr>
            <a:cxnSpLocks/>
          </p:cNvCxnSpPr>
          <p:nvPr/>
        </p:nvCxnSpPr>
        <p:spPr>
          <a:xfrm>
            <a:off x="7635756" y="1702531"/>
            <a:ext cx="0" cy="442205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6" name="직선 연결선 305">
            <a:extLst>
              <a:ext uri="{FF2B5EF4-FFF2-40B4-BE49-F238E27FC236}">
                <a16:creationId xmlns:a16="http://schemas.microsoft.com/office/drawing/2014/main" id="{4C6A0435-845B-74CE-3B4D-908F5F648FCB}"/>
              </a:ext>
            </a:extLst>
          </p:cNvPr>
          <p:cNvCxnSpPr>
            <a:cxnSpLocks/>
          </p:cNvCxnSpPr>
          <p:nvPr/>
        </p:nvCxnSpPr>
        <p:spPr>
          <a:xfrm>
            <a:off x="6096000" y="2178271"/>
            <a:ext cx="0" cy="394631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C2A56088-C03E-D460-46D3-1AD86506CBC8}"/>
              </a:ext>
            </a:extLst>
          </p:cNvPr>
          <p:cNvCxnSpPr>
            <a:cxnSpLocks/>
            <a:stCxn id="334" idx="4"/>
          </p:cNvCxnSpPr>
          <p:nvPr/>
        </p:nvCxnSpPr>
        <p:spPr>
          <a:xfrm>
            <a:off x="9030491" y="2871228"/>
            <a:ext cx="0" cy="327240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65" name="TextBox 364">
            <a:extLst>
              <a:ext uri="{FF2B5EF4-FFF2-40B4-BE49-F238E27FC236}">
                <a16:creationId xmlns:a16="http://schemas.microsoft.com/office/drawing/2014/main" id="{43066D13-A93B-3AE7-CEC1-86C489ED3F09}"/>
              </a:ext>
            </a:extLst>
          </p:cNvPr>
          <p:cNvSpPr txBox="1"/>
          <p:nvPr/>
        </p:nvSpPr>
        <p:spPr>
          <a:xfrm>
            <a:off x="1543234" y="1336291"/>
            <a:ext cx="452368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0.7%%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4" name="사각형: 둥근 모서리 393">
            <a:extLst>
              <a:ext uri="{FF2B5EF4-FFF2-40B4-BE49-F238E27FC236}">
                <a16:creationId xmlns:a16="http://schemas.microsoft.com/office/drawing/2014/main" id="{14970FAE-EEB6-273D-3DEC-28D65741954D}"/>
              </a:ext>
            </a:extLst>
          </p:cNvPr>
          <p:cNvSpPr/>
          <p:nvPr/>
        </p:nvSpPr>
        <p:spPr>
          <a:xfrm>
            <a:off x="1217723" y="6221585"/>
            <a:ext cx="10772711" cy="3684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한국과 비교 했을 때 해외는 외주센터 미처리 관리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Visibility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확보를 위한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Micro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한 관리가 필요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통합운영을 하되 한국 불필요 코드는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Use Flag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활용</a:t>
            </a: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18D6AE19-6D26-9478-FA53-491ED30B5D55}"/>
              </a:ext>
            </a:extLst>
          </p:cNvPr>
          <p:cNvSpPr txBox="1"/>
          <p:nvPr/>
        </p:nvSpPr>
        <p:spPr>
          <a:xfrm>
            <a:off x="420579" y="638225"/>
            <a:ext cx="10158550" cy="36471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 Reason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단계별 필요여부는 해외서비스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NW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팀과 협의하여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차 확정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삭제되는 코드에 대한 법인 </a:t>
            </a:r>
            <a:r>
              <a:rPr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survey </a:t>
            </a:r>
            <a:r>
              <a:rPr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 변경 추진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23" name="타원 422">
            <a:extLst>
              <a:ext uri="{FF2B5EF4-FFF2-40B4-BE49-F238E27FC236}">
                <a16:creationId xmlns:a16="http://schemas.microsoft.com/office/drawing/2014/main" id="{09F88887-19A1-8BEE-1615-1C8130132396}"/>
              </a:ext>
            </a:extLst>
          </p:cNvPr>
          <p:cNvSpPr/>
          <p:nvPr/>
        </p:nvSpPr>
        <p:spPr>
          <a:xfrm>
            <a:off x="1646464" y="389542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2FA3F010-B054-C3B0-6C08-6B18CDF012DD}"/>
              </a:ext>
            </a:extLst>
          </p:cNvPr>
          <p:cNvSpPr txBox="1"/>
          <p:nvPr/>
        </p:nvSpPr>
        <p:spPr>
          <a:xfrm>
            <a:off x="1351233" y="3666827"/>
            <a:ext cx="715260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난수리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지원</a:t>
            </a:r>
          </a:p>
        </p:txBody>
      </p:sp>
      <p:sp>
        <p:nvSpPr>
          <p:cNvPr id="493" name="타원 492">
            <a:extLst>
              <a:ext uri="{FF2B5EF4-FFF2-40B4-BE49-F238E27FC236}">
                <a16:creationId xmlns:a16="http://schemas.microsoft.com/office/drawing/2014/main" id="{4B6D2A85-259B-B3DE-EB83-E6F2E122B28E}"/>
              </a:ext>
            </a:extLst>
          </p:cNvPr>
          <p:cNvSpPr/>
          <p:nvPr/>
        </p:nvSpPr>
        <p:spPr>
          <a:xfrm>
            <a:off x="1635782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6E94EA73-2B3C-96C9-AF9E-34A9C68DF0B7}"/>
              </a:ext>
            </a:extLst>
          </p:cNvPr>
          <p:cNvSpPr txBox="1"/>
          <p:nvPr/>
        </p:nvSpPr>
        <p:spPr>
          <a:xfrm>
            <a:off x="1224735" y="4686445"/>
            <a:ext cx="1035861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Awaiting information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from technical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D74B7E5-1C76-6F55-A73C-958D423B9319}"/>
              </a:ext>
            </a:extLst>
          </p:cNvPr>
          <p:cNvSpPr/>
          <p:nvPr/>
        </p:nvSpPr>
        <p:spPr>
          <a:xfrm>
            <a:off x="2199461" y="389542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72E74-2324-07C1-95A5-4EB7E0AE70BC}"/>
              </a:ext>
            </a:extLst>
          </p:cNvPr>
          <p:cNvSpPr txBox="1"/>
          <p:nvPr/>
        </p:nvSpPr>
        <p:spPr>
          <a:xfrm>
            <a:off x="1940116" y="4061720"/>
            <a:ext cx="715260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중수</a:t>
            </a:r>
            <a:r>
              <a:rPr lang="ko-KR" altLang="en-US" sz="9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리 이관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1080B1A-6D44-641A-466B-E558BC9DAB3C}"/>
              </a:ext>
            </a:extLst>
          </p:cNvPr>
          <p:cNvSpPr/>
          <p:nvPr/>
        </p:nvSpPr>
        <p:spPr>
          <a:xfrm>
            <a:off x="2723336" y="389542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DBC5F7-9752-7895-25A2-6EEEE800E5D6}"/>
              </a:ext>
            </a:extLst>
          </p:cNvPr>
          <p:cNvSpPr txBox="1"/>
          <p:nvPr/>
        </p:nvSpPr>
        <p:spPr>
          <a:xfrm>
            <a:off x="2463991" y="3592252"/>
            <a:ext cx="715260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사업부 의뢰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지원요청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DFF1185-31C8-1CB6-29DD-B84EFC79EF5C}"/>
              </a:ext>
            </a:extLst>
          </p:cNvPr>
          <p:cNvSpPr/>
          <p:nvPr/>
        </p:nvSpPr>
        <p:spPr>
          <a:xfrm>
            <a:off x="2235500" y="209174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9D9384-9BCE-C4FC-08EE-3E8C9E283AC9}"/>
              </a:ext>
            </a:extLst>
          </p:cNvPr>
          <p:cNvSpPr txBox="1"/>
          <p:nvPr/>
        </p:nvSpPr>
        <p:spPr>
          <a:xfrm>
            <a:off x="1925118" y="1754815"/>
            <a:ext cx="839824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중수리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이관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Sealed repair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90FF359-47A9-4C7C-6E02-5FD319545BB9}"/>
              </a:ext>
            </a:extLst>
          </p:cNvPr>
          <p:cNvSpPr/>
          <p:nvPr/>
        </p:nvSpPr>
        <p:spPr>
          <a:xfrm>
            <a:off x="2768900" y="2466237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9B14AE-0CB0-DC17-BD32-322C3B5D6C0B}"/>
              </a:ext>
            </a:extLst>
          </p:cNvPr>
          <p:cNvSpPr txBox="1"/>
          <p:nvPr/>
        </p:nvSpPr>
        <p:spPr>
          <a:xfrm>
            <a:off x="2486945" y="2014017"/>
            <a:ext cx="839824" cy="5078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사업부 의뢰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지원요청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Factory support</a:t>
            </a: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801AF1D8-9AE5-9B24-91C8-A23F44F2143C}"/>
              </a:ext>
            </a:extLst>
          </p:cNvPr>
          <p:cNvCxnSpPr>
            <a:cxnSpLocks/>
            <a:stCxn id="274" idx="4"/>
          </p:cNvCxnSpPr>
          <p:nvPr/>
        </p:nvCxnSpPr>
        <p:spPr>
          <a:xfrm rot="16200000" flipH="1">
            <a:off x="1750358" y="1693129"/>
            <a:ext cx="475742" cy="494546"/>
          </a:xfrm>
          <a:prstGeom prst="bentConnector2">
            <a:avLst/>
          </a:prstGeom>
          <a:ln>
            <a:solidFill>
              <a:srgbClr val="CC009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226D628F-E39B-AF92-BBE2-0D17569182E8}"/>
              </a:ext>
            </a:extLst>
          </p:cNvPr>
          <p:cNvCxnSpPr>
            <a:cxnSpLocks/>
            <a:stCxn id="274" idx="4"/>
            <a:endCxn id="13" idx="2"/>
          </p:cNvCxnSpPr>
          <p:nvPr/>
        </p:nvCxnSpPr>
        <p:spPr>
          <a:xfrm rot="16200000" flipH="1">
            <a:off x="1825072" y="1618415"/>
            <a:ext cx="859712" cy="1027944"/>
          </a:xfrm>
          <a:prstGeom prst="bentConnector2">
            <a:avLst/>
          </a:prstGeom>
          <a:ln>
            <a:solidFill>
              <a:srgbClr val="CC009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EAFA3A-F92F-987A-E489-BE1EEEEEA075}"/>
              </a:ext>
            </a:extLst>
          </p:cNvPr>
          <p:cNvSpPr/>
          <p:nvPr/>
        </p:nvSpPr>
        <p:spPr>
          <a:xfrm>
            <a:off x="1934402" y="1754131"/>
            <a:ext cx="1342437" cy="941266"/>
          </a:xfrm>
          <a:prstGeom prst="rect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42FAB1-00ED-2D51-6ECC-9012E7905476}"/>
              </a:ext>
            </a:extLst>
          </p:cNvPr>
          <p:cNvSpPr txBox="1"/>
          <p:nvPr/>
        </p:nvSpPr>
        <p:spPr>
          <a:xfrm>
            <a:off x="1846183" y="2686366"/>
            <a:ext cx="412292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</a:t>
            </a:r>
            <a:r>
              <a:rPr lang="en-US" altLang="ko-KR" sz="900" b="1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35035C-52A1-0EA1-46A4-A4B213C2FBC2}"/>
              </a:ext>
            </a:extLst>
          </p:cNvPr>
          <p:cNvSpPr txBox="1"/>
          <p:nvPr/>
        </p:nvSpPr>
        <p:spPr>
          <a:xfrm>
            <a:off x="3409705" y="1336291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0.3%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06CCA722-2100-1E84-BA68-FB870526B92A}"/>
              </a:ext>
            </a:extLst>
          </p:cNvPr>
          <p:cNvSpPr/>
          <p:nvPr/>
        </p:nvSpPr>
        <p:spPr>
          <a:xfrm>
            <a:off x="3472819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091401-28C7-A88F-E896-849B7C3B45EF}"/>
              </a:ext>
            </a:extLst>
          </p:cNvPr>
          <p:cNvSpPr txBox="1"/>
          <p:nvPr/>
        </p:nvSpPr>
        <p:spPr>
          <a:xfrm>
            <a:off x="3058171" y="4686445"/>
            <a:ext cx="960519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Collection delayed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(to center)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3C14EA41-DFED-79D3-6486-51998C534BF9}"/>
              </a:ext>
            </a:extLst>
          </p:cNvPr>
          <p:cNvCxnSpPr>
            <a:cxnSpLocks/>
          </p:cNvCxnSpPr>
          <p:nvPr/>
        </p:nvCxnSpPr>
        <p:spPr>
          <a:xfrm>
            <a:off x="4189525" y="1702532"/>
            <a:ext cx="0" cy="442205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63" name="타원 62">
            <a:extLst>
              <a:ext uri="{FF2B5EF4-FFF2-40B4-BE49-F238E27FC236}">
                <a16:creationId xmlns:a16="http://schemas.microsoft.com/office/drawing/2014/main" id="{AB855758-7D38-2876-98D3-297692F58E82}"/>
              </a:ext>
            </a:extLst>
          </p:cNvPr>
          <p:cNvSpPr/>
          <p:nvPr/>
        </p:nvSpPr>
        <p:spPr>
          <a:xfrm>
            <a:off x="6891564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BED63A25-2B89-66D9-3F14-EB1D6D3E521D}"/>
              </a:ext>
            </a:extLst>
          </p:cNvPr>
          <p:cNvSpPr txBox="1"/>
          <p:nvPr/>
        </p:nvSpPr>
        <p:spPr>
          <a:xfrm>
            <a:off x="6477311" y="5164277"/>
            <a:ext cx="1042273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Repair completed &amp;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Awaiting data</a:t>
            </a:r>
            <a:r>
              <a:rPr lang="ko-KR" altLang="en-US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input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DE3B000F-0845-8A8D-FB68-56578421E692}"/>
              </a:ext>
            </a:extLst>
          </p:cNvPr>
          <p:cNvSpPr txBox="1"/>
          <p:nvPr/>
        </p:nvSpPr>
        <p:spPr>
          <a:xfrm>
            <a:off x="5465890" y="1336291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F9BC64D5-AF80-BE34-C502-7D0A202C6E42}"/>
              </a:ext>
            </a:extLst>
          </p:cNvPr>
          <p:cNvSpPr txBox="1"/>
          <p:nvPr/>
        </p:nvSpPr>
        <p:spPr>
          <a:xfrm>
            <a:off x="3778298" y="4720593"/>
            <a:ext cx="963725" cy="33855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중남미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고객이 </a:t>
            </a:r>
            <a:endParaRPr lang="en-US" altLang="ko-KR" sz="800" dirty="0">
              <a:solidFill>
                <a:srgbClr val="00B05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가져오는 경우 구분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86C90961-04A9-8A44-E9A1-64147E44513E}"/>
              </a:ext>
            </a:extLst>
          </p:cNvPr>
          <p:cNvSpPr txBox="1"/>
          <p:nvPr/>
        </p:nvSpPr>
        <p:spPr>
          <a:xfrm>
            <a:off x="3722606" y="1067514"/>
            <a:ext cx="955368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반입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수리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repairs at center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4" name="타원 463">
            <a:extLst>
              <a:ext uri="{FF2B5EF4-FFF2-40B4-BE49-F238E27FC236}">
                <a16:creationId xmlns:a16="http://schemas.microsoft.com/office/drawing/2014/main" id="{9A4DA9D4-2A4E-C00C-7675-F2DF1B7CE3AC}"/>
              </a:ext>
            </a:extLst>
          </p:cNvPr>
          <p:cNvSpPr/>
          <p:nvPr/>
        </p:nvSpPr>
        <p:spPr>
          <a:xfrm>
            <a:off x="4104284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0B8846E2-BF5A-AAF9-5D90-DB116DC221B5}"/>
              </a:ext>
            </a:extLst>
          </p:cNvPr>
          <p:cNvSpPr txBox="1"/>
          <p:nvPr/>
        </p:nvSpPr>
        <p:spPr>
          <a:xfrm>
            <a:off x="4035780" y="1336291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0.4%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7" name="타원 466">
            <a:extLst>
              <a:ext uri="{FF2B5EF4-FFF2-40B4-BE49-F238E27FC236}">
                <a16:creationId xmlns:a16="http://schemas.microsoft.com/office/drawing/2014/main" id="{0E4692CE-E984-32C1-C6E3-3268C3E1FD18}"/>
              </a:ext>
            </a:extLst>
          </p:cNvPr>
          <p:cNvSpPr/>
          <p:nvPr/>
        </p:nvSpPr>
        <p:spPr>
          <a:xfrm>
            <a:off x="4123768" y="389542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2848E719-238A-26FE-82ED-B4344D00BDBA}"/>
              </a:ext>
            </a:extLst>
          </p:cNvPr>
          <p:cNvSpPr txBox="1"/>
          <p:nvPr/>
        </p:nvSpPr>
        <p:spPr>
          <a:xfrm>
            <a:off x="3927741" y="3592252"/>
            <a:ext cx="588623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인도 후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품절관리</a:t>
            </a:r>
          </a:p>
        </p:txBody>
      </p:sp>
      <p:sp>
        <p:nvSpPr>
          <p:cNvPr id="471" name="타원 470">
            <a:extLst>
              <a:ext uri="{FF2B5EF4-FFF2-40B4-BE49-F238E27FC236}">
                <a16:creationId xmlns:a16="http://schemas.microsoft.com/office/drawing/2014/main" id="{66F35247-CBA4-A334-DD56-59446DF5C0EE}"/>
              </a:ext>
            </a:extLst>
          </p:cNvPr>
          <p:cNvSpPr/>
          <p:nvPr/>
        </p:nvSpPr>
        <p:spPr>
          <a:xfrm>
            <a:off x="3456503" y="389542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6278E64F-E334-55C2-A87F-D73FDFCE8D54}"/>
              </a:ext>
            </a:extLst>
          </p:cNvPr>
          <p:cNvSpPr txBox="1"/>
          <p:nvPr/>
        </p:nvSpPr>
        <p:spPr>
          <a:xfrm>
            <a:off x="3247652" y="3650053"/>
            <a:ext cx="614271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센터 반입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3" name="타원 472">
            <a:extLst>
              <a:ext uri="{FF2B5EF4-FFF2-40B4-BE49-F238E27FC236}">
                <a16:creationId xmlns:a16="http://schemas.microsoft.com/office/drawing/2014/main" id="{1CB08632-B353-082A-0F28-7861995B2D50}"/>
              </a:ext>
            </a:extLst>
          </p:cNvPr>
          <p:cNvSpPr/>
          <p:nvPr/>
        </p:nvSpPr>
        <p:spPr>
          <a:xfrm>
            <a:off x="4114897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5D760BBF-6140-9055-A120-82AA9EEF92FC}"/>
              </a:ext>
            </a:extLst>
          </p:cNvPr>
          <p:cNvSpPr txBox="1"/>
          <p:nvPr/>
        </p:nvSpPr>
        <p:spPr>
          <a:xfrm>
            <a:off x="3825678" y="5164277"/>
            <a:ext cx="792205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Repair at</a:t>
            </a:r>
            <a:r>
              <a:rPr lang="ko-KR" altLang="en-US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900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Service center</a:t>
            </a:r>
          </a:p>
        </p:txBody>
      </p:sp>
      <p:cxnSp>
        <p:nvCxnSpPr>
          <p:cNvPr id="500" name="직선 연결선 499">
            <a:extLst>
              <a:ext uri="{FF2B5EF4-FFF2-40B4-BE49-F238E27FC236}">
                <a16:creationId xmlns:a16="http://schemas.microsoft.com/office/drawing/2014/main" id="{31445254-CA82-53DF-8160-D75C83B21A8F}"/>
              </a:ext>
            </a:extLst>
          </p:cNvPr>
          <p:cNvCxnSpPr>
            <a:cxnSpLocks/>
          </p:cNvCxnSpPr>
          <p:nvPr/>
        </p:nvCxnSpPr>
        <p:spPr>
          <a:xfrm>
            <a:off x="4873265" y="1702532"/>
            <a:ext cx="0" cy="442205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501" name="TextBox 500">
            <a:extLst>
              <a:ext uri="{FF2B5EF4-FFF2-40B4-BE49-F238E27FC236}">
                <a16:creationId xmlns:a16="http://schemas.microsoft.com/office/drawing/2014/main" id="{4A031AE8-D4FC-3F4A-9FC4-6DD9E6CEBF97}"/>
              </a:ext>
            </a:extLst>
          </p:cNvPr>
          <p:cNvSpPr txBox="1"/>
          <p:nvPr/>
        </p:nvSpPr>
        <p:spPr>
          <a:xfrm>
            <a:off x="4412216" y="1067514"/>
            <a:ext cx="1058794" cy="35394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반입수리 후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Test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Product  under testing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2" name="타원 501">
            <a:extLst>
              <a:ext uri="{FF2B5EF4-FFF2-40B4-BE49-F238E27FC236}">
                <a16:creationId xmlns:a16="http://schemas.microsoft.com/office/drawing/2014/main" id="{0A4815FA-D26B-DA38-1B53-9893D731EF62}"/>
              </a:ext>
            </a:extLst>
          </p:cNvPr>
          <p:cNvSpPr/>
          <p:nvPr/>
        </p:nvSpPr>
        <p:spPr>
          <a:xfrm>
            <a:off x="4788024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C0B8663B-218C-0C43-8BA6-33B42588BE82}"/>
              </a:ext>
            </a:extLst>
          </p:cNvPr>
          <p:cNvSpPr txBox="1"/>
          <p:nvPr/>
        </p:nvSpPr>
        <p:spPr>
          <a:xfrm>
            <a:off x="4719520" y="1336291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3.4%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6" name="타원 505">
            <a:extLst>
              <a:ext uri="{FF2B5EF4-FFF2-40B4-BE49-F238E27FC236}">
                <a16:creationId xmlns:a16="http://schemas.microsoft.com/office/drawing/2014/main" id="{D789746D-730A-7A2E-0EE4-CFDDDF3A489A}"/>
              </a:ext>
            </a:extLst>
          </p:cNvPr>
          <p:cNvSpPr/>
          <p:nvPr/>
        </p:nvSpPr>
        <p:spPr>
          <a:xfrm>
            <a:off x="4798637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8" name="직사각형 507">
            <a:extLst>
              <a:ext uri="{FF2B5EF4-FFF2-40B4-BE49-F238E27FC236}">
                <a16:creationId xmlns:a16="http://schemas.microsoft.com/office/drawing/2014/main" id="{A803D870-9302-FD64-4D04-06844E7CD53B}"/>
              </a:ext>
            </a:extLst>
          </p:cNvPr>
          <p:cNvSpPr/>
          <p:nvPr/>
        </p:nvSpPr>
        <p:spPr>
          <a:xfrm>
            <a:off x="4591762" y="3821344"/>
            <a:ext cx="519912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해당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없음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9AD837A7-848B-60B7-8398-17E15D393D7C}"/>
              </a:ext>
            </a:extLst>
          </p:cNvPr>
          <p:cNvSpPr txBox="1"/>
          <p:nvPr/>
        </p:nvSpPr>
        <p:spPr>
          <a:xfrm>
            <a:off x="4566510" y="4686483"/>
            <a:ext cx="877163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Under repair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 service center</a:t>
            </a:r>
          </a:p>
        </p:txBody>
      </p:sp>
      <p:cxnSp>
        <p:nvCxnSpPr>
          <p:cNvPr id="510" name="직선 연결선 509">
            <a:extLst>
              <a:ext uri="{FF2B5EF4-FFF2-40B4-BE49-F238E27FC236}">
                <a16:creationId xmlns:a16="http://schemas.microsoft.com/office/drawing/2014/main" id="{A0D30A3C-EAF1-B7CC-D73E-ACD3A9A7F945}"/>
              </a:ext>
            </a:extLst>
          </p:cNvPr>
          <p:cNvCxnSpPr>
            <a:cxnSpLocks/>
          </p:cNvCxnSpPr>
          <p:nvPr/>
        </p:nvCxnSpPr>
        <p:spPr>
          <a:xfrm>
            <a:off x="5614671" y="1702532"/>
            <a:ext cx="0" cy="442205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511" name="직사각형 510">
            <a:extLst>
              <a:ext uri="{FF2B5EF4-FFF2-40B4-BE49-F238E27FC236}">
                <a16:creationId xmlns:a16="http://schemas.microsoft.com/office/drawing/2014/main" id="{A2D54BEC-96C0-19EC-50A8-CA30F9486B83}"/>
              </a:ext>
            </a:extLst>
          </p:cNvPr>
          <p:cNvSpPr/>
          <p:nvPr/>
        </p:nvSpPr>
        <p:spPr>
          <a:xfrm>
            <a:off x="5349643" y="3821344"/>
            <a:ext cx="519912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해당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없음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4B871276-618C-2279-C369-66CADB04358F}"/>
              </a:ext>
            </a:extLst>
          </p:cNvPr>
          <p:cNvSpPr/>
          <p:nvPr/>
        </p:nvSpPr>
        <p:spPr>
          <a:xfrm>
            <a:off x="5523568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383CCA-4B10-4791-CDA0-0ED658AED53A}"/>
              </a:ext>
            </a:extLst>
          </p:cNvPr>
          <p:cNvSpPr txBox="1"/>
          <p:nvPr/>
        </p:nvSpPr>
        <p:spPr>
          <a:xfrm>
            <a:off x="5120536" y="5164277"/>
            <a:ext cx="1019830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Repair completed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&amp; Awaiting payment</a:t>
            </a: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FDEC9BC5-80A1-AF1D-A063-4FD645FD7BF7}"/>
              </a:ext>
            </a:extLst>
          </p:cNvPr>
          <p:cNvSpPr/>
          <p:nvPr/>
        </p:nvSpPr>
        <p:spPr>
          <a:xfrm>
            <a:off x="8160309" y="389542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F747B8-C735-4724-2DB4-AD35D98FC7D5}"/>
              </a:ext>
            </a:extLst>
          </p:cNvPr>
          <p:cNvSpPr txBox="1"/>
          <p:nvPr/>
        </p:nvSpPr>
        <p:spPr>
          <a:xfrm>
            <a:off x="7787152" y="3657281"/>
            <a:ext cx="942886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교환환불 처리 중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C7BC54-FCDF-1E37-C5CB-B495CD31CDC8}"/>
              </a:ext>
            </a:extLst>
          </p:cNvPr>
          <p:cNvSpPr txBox="1"/>
          <p:nvPr/>
        </p:nvSpPr>
        <p:spPr>
          <a:xfrm>
            <a:off x="6215532" y="1336291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1.5%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A022B71A-0BC6-E713-960A-85853F0F5A01}"/>
              </a:ext>
            </a:extLst>
          </p:cNvPr>
          <p:cNvSpPr/>
          <p:nvPr/>
        </p:nvSpPr>
        <p:spPr>
          <a:xfrm>
            <a:off x="6281448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C58C7E-9844-C705-4665-4351B8C9AA2C}"/>
              </a:ext>
            </a:extLst>
          </p:cNvPr>
          <p:cNvSpPr txBox="1"/>
          <p:nvPr/>
        </p:nvSpPr>
        <p:spPr>
          <a:xfrm>
            <a:off x="5850548" y="4686483"/>
            <a:ext cx="1274708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Repair completed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&amp; On delivery to customer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C8BAFCD-03CE-BC68-0150-85C8E23499F3}"/>
              </a:ext>
            </a:extLst>
          </p:cNvPr>
          <p:cNvSpPr/>
          <p:nvPr/>
        </p:nvSpPr>
        <p:spPr>
          <a:xfrm>
            <a:off x="6623327" y="3821344"/>
            <a:ext cx="658080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SM</a:t>
            </a:r>
          </a:p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직접 입력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B280E0-9D59-1D22-E9EB-D6D0B5F6FA81}"/>
              </a:ext>
            </a:extLst>
          </p:cNvPr>
          <p:cNvSpPr txBox="1"/>
          <p:nvPr/>
        </p:nvSpPr>
        <p:spPr>
          <a:xfrm>
            <a:off x="2301344" y="1067514"/>
            <a:ext cx="955368" cy="47705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MRC/PRC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수리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Transfer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to</a:t>
            </a:r>
            <a:r>
              <a:rPr lang="ko-KR" altLang="en-US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MRC/PRC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6182B3CA-768E-B662-D786-F433FAC2B0DD}"/>
              </a:ext>
            </a:extLst>
          </p:cNvPr>
          <p:cNvSpPr/>
          <p:nvPr/>
        </p:nvSpPr>
        <p:spPr>
          <a:xfrm>
            <a:off x="2769754" y="1510519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1E47CEB-623C-CBCB-EF8A-005FD60A8088}"/>
              </a:ext>
            </a:extLst>
          </p:cNvPr>
          <p:cNvSpPr/>
          <p:nvPr/>
        </p:nvSpPr>
        <p:spPr>
          <a:xfrm>
            <a:off x="2046271" y="4974641"/>
            <a:ext cx="519912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해당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없음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54A90F0-6E24-472D-BFE1-4CC78DC99BD5}"/>
              </a:ext>
            </a:extLst>
          </p:cNvPr>
          <p:cNvSpPr txBox="1"/>
          <p:nvPr/>
        </p:nvSpPr>
        <p:spPr>
          <a:xfrm>
            <a:off x="6810128" y="1336291"/>
            <a:ext cx="423513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11.6%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11EF52C-BC6A-5BB0-24AD-4DE9894EBCEB}"/>
              </a:ext>
            </a:extLst>
          </p:cNvPr>
          <p:cNvSpPr txBox="1"/>
          <p:nvPr/>
        </p:nvSpPr>
        <p:spPr>
          <a:xfrm>
            <a:off x="5594953" y="4188053"/>
            <a:ext cx="622695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~ 5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</a:t>
            </a:r>
            <a:endParaRPr lang="en-US" altLang="ko-KR" sz="1100" dirty="0">
              <a:solidFill>
                <a:srgbClr val="00B050"/>
              </a:solidFill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19FE319-8632-E7C3-9E1C-E28C8612953C}"/>
              </a:ext>
            </a:extLst>
          </p:cNvPr>
          <p:cNvSpPr txBox="1"/>
          <p:nvPr/>
        </p:nvSpPr>
        <p:spPr>
          <a:xfrm>
            <a:off x="7475922" y="1336291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2.3%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12CE062-CFF8-20AE-0B86-18503C60FA35}"/>
              </a:ext>
            </a:extLst>
          </p:cNvPr>
          <p:cNvSpPr/>
          <p:nvPr/>
        </p:nvSpPr>
        <p:spPr>
          <a:xfrm>
            <a:off x="7288998" y="1053915"/>
            <a:ext cx="767608" cy="700744"/>
          </a:xfrm>
          <a:prstGeom prst="rect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6D5CF05-AC4E-4BBD-DC9B-8939E227C8EF}"/>
              </a:ext>
            </a:extLst>
          </p:cNvPr>
          <p:cNvSpPr txBox="1"/>
          <p:nvPr/>
        </p:nvSpPr>
        <p:spPr>
          <a:xfrm>
            <a:off x="7246553" y="1730777"/>
            <a:ext cx="386644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인도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31906C47-BF02-6F9D-15A3-74931474F18D}"/>
              </a:ext>
            </a:extLst>
          </p:cNvPr>
          <p:cNvCxnSpPr>
            <a:cxnSpLocks/>
            <a:stCxn id="219" idx="4"/>
          </p:cNvCxnSpPr>
          <p:nvPr/>
        </p:nvCxnSpPr>
        <p:spPr>
          <a:xfrm>
            <a:off x="8265041" y="2872305"/>
            <a:ext cx="0" cy="327133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7777020-3506-7C01-3857-B2C1F99CE7E7}"/>
              </a:ext>
            </a:extLst>
          </p:cNvPr>
          <p:cNvSpPr txBox="1"/>
          <p:nvPr/>
        </p:nvSpPr>
        <p:spPr>
          <a:xfrm>
            <a:off x="8101998" y="2497826"/>
            <a:ext cx="377026" cy="21544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0.6%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5077641E-6C73-2AB1-6925-540323C93B73}"/>
              </a:ext>
            </a:extLst>
          </p:cNvPr>
          <p:cNvSpPr/>
          <p:nvPr/>
        </p:nvSpPr>
        <p:spPr>
          <a:xfrm>
            <a:off x="7340019" y="3821344"/>
            <a:ext cx="658080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>
                <a:solidFill>
                  <a:schemeClr val="bg2">
                    <a:lumMod val="50000"/>
                  </a:schemeClr>
                </a:solidFill>
              </a:rPr>
              <a:t>해당 없음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DBDB3BA-D86E-68A3-7621-459657A34DD6}"/>
              </a:ext>
            </a:extLst>
          </p:cNvPr>
          <p:cNvSpPr txBox="1"/>
          <p:nvPr/>
        </p:nvSpPr>
        <p:spPr>
          <a:xfrm>
            <a:off x="7276175" y="5427652"/>
            <a:ext cx="829073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Happiness</a:t>
            </a:r>
            <a:r>
              <a:rPr lang="ko-KR" altLang="en-US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call</a:t>
            </a: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8E8103BD-A430-A2B8-E477-C26583A68B7C}"/>
              </a:ext>
            </a:extLst>
          </p:cNvPr>
          <p:cNvCxnSpPr>
            <a:cxnSpLocks/>
          </p:cNvCxnSpPr>
          <p:nvPr/>
        </p:nvCxnSpPr>
        <p:spPr>
          <a:xfrm>
            <a:off x="6996610" y="5737250"/>
            <a:ext cx="131099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타원 117">
            <a:extLst>
              <a:ext uri="{FF2B5EF4-FFF2-40B4-BE49-F238E27FC236}">
                <a16:creationId xmlns:a16="http://schemas.microsoft.com/office/drawing/2014/main" id="{ADE2F4DD-BA21-C229-9532-670261F66DD5}"/>
              </a:ext>
            </a:extLst>
          </p:cNvPr>
          <p:cNvSpPr/>
          <p:nvPr/>
        </p:nvSpPr>
        <p:spPr>
          <a:xfrm>
            <a:off x="7542353" y="564628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4ADC6863-5583-D7E4-489D-04C9F9333E1B}"/>
              </a:ext>
            </a:extLst>
          </p:cNvPr>
          <p:cNvSpPr/>
          <p:nvPr/>
        </p:nvSpPr>
        <p:spPr>
          <a:xfrm>
            <a:off x="6931866" y="5478162"/>
            <a:ext cx="1470730" cy="401856"/>
          </a:xfrm>
          <a:prstGeom prst="rect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1C19E81-1F54-065A-6DD4-280BBEEDB127}"/>
              </a:ext>
            </a:extLst>
          </p:cNvPr>
          <p:cNvSpPr txBox="1"/>
          <p:nvPr/>
        </p:nvSpPr>
        <p:spPr>
          <a:xfrm>
            <a:off x="8326702" y="5427652"/>
            <a:ext cx="622285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인도 </a:t>
            </a:r>
            <a:r>
              <a:rPr lang="en-US" altLang="ko-KR" sz="900" b="1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Only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8FD05A8B-BF0D-453E-E7B4-07C7D9722D8F}"/>
              </a:ext>
            </a:extLst>
          </p:cNvPr>
          <p:cNvSpPr/>
          <p:nvPr/>
        </p:nvSpPr>
        <p:spPr>
          <a:xfrm>
            <a:off x="9717080" y="2679216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348D4F24-F8BB-BFAC-8EFE-5D2FE7B8BA1E}"/>
              </a:ext>
            </a:extLst>
          </p:cNvPr>
          <p:cNvCxnSpPr>
            <a:cxnSpLocks/>
            <a:stCxn id="127" idx="4"/>
          </p:cNvCxnSpPr>
          <p:nvPr/>
        </p:nvCxnSpPr>
        <p:spPr>
          <a:xfrm>
            <a:off x="9813086" y="2871228"/>
            <a:ext cx="0" cy="327240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B42E4498-6A36-7A74-3E83-C2CA3E9482FD}"/>
              </a:ext>
            </a:extLst>
          </p:cNvPr>
          <p:cNvSpPr txBox="1"/>
          <p:nvPr/>
        </p:nvSpPr>
        <p:spPr>
          <a:xfrm>
            <a:off x="9445799" y="2047496"/>
            <a:ext cx="786421" cy="61555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제품교환 지연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(LG)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Replacement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8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pending(LG)</a:t>
            </a:r>
            <a:endParaRPr lang="en-US" altLang="ko-KR" sz="8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BE09F081-BF35-8914-E613-83B70082B18F}"/>
              </a:ext>
            </a:extLst>
          </p:cNvPr>
          <p:cNvSpPr/>
          <p:nvPr/>
        </p:nvSpPr>
        <p:spPr>
          <a:xfrm>
            <a:off x="10474961" y="2679216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B911FA15-A7E3-FADB-4622-2ECB8875A5FB}"/>
              </a:ext>
            </a:extLst>
          </p:cNvPr>
          <p:cNvCxnSpPr>
            <a:cxnSpLocks/>
            <a:stCxn id="133" idx="4"/>
          </p:cNvCxnSpPr>
          <p:nvPr/>
        </p:nvCxnSpPr>
        <p:spPr>
          <a:xfrm>
            <a:off x="10570967" y="2871228"/>
            <a:ext cx="0" cy="327240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FCBBA48-7FFC-4CB5-1833-E990707B030E}"/>
              </a:ext>
            </a:extLst>
          </p:cNvPr>
          <p:cNvSpPr txBox="1"/>
          <p:nvPr/>
        </p:nvSpPr>
        <p:spPr>
          <a:xfrm>
            <a:off x="6200733" y="5880098"/>
            <a:ext cx="622695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5</a:t>
            </a:r>
            <a:r>
              <a:rPr lang="ko-KR" altLang="en-US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일</a:t>
            </a:r>
            <a:r>
              <a:rPr lang="en-US" altLang="ko-KR" sz="1100" dirty="0">
                <a:solidFill>
                  <a:srgbClr val="00B050"/>
                </a:solidFill>
                <a:latin typeface="LG Smart_H Regular" panose="020B0600000101010101" pitchFamily="50" charset="-127"/>
                <a:ea typeface="LG Smart_H Regular" panose="020B0600000101010101" pitchFamily="50" charset="-127"/>
              </a:rPr>
              <a:t>~</a:t>
            </a: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4CAFC0D7-58B8-AFE9-15AB-36DC5454FD9F}"/>
              </a:ext>
            </a:extLst>
          </p:cNvPr>
          <p:cNvSpPr/>
          <p:nvPr/>
        </p:nvSpPr>
        <p:spPr>
          <a:xfrm>
            <a:off x="8167913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CB9FF5D-CD2C-87BB-72FE-EC49BDE02BB0}"/>
              </a:ext>
            </a:extLst>
          </p:cNvPr>
          <p:cNvSpPr txBox="1"/>
          <p:nvPr/>
        </p:nvSpPr>
        <p:spPr>
          <a:xfrm>
            <a:off x="7690522" y="4686483"/>
            <a:ext cx="1101584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</a:t>
            </a:r>
            <a:r>
              <a:rPr lang="ko-KR" altLang="en-US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for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Replacement/Refund </a:t>
            </a: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6DA8EC75-ABFD-1A3E-4FCF-02AE3D714A23}"/>
              </a:ext>
            </a:extLst>
          </p:cNvPr>
          <p:cNvSpPr/>
          <p:nvPr/>
        </p:nvSpPr>
        <p:spPr>
          <a:xfrm>
            <a:off x="10455067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89980BF-711B-C06A-A6BC-4781C864A7B7}"/>
              </a:ext>
            </a:extLst>
          </p:cNvPr>
          <p:cNvSpPr txBox="1"/>
          <p:nvPr/>
        </p:nvSpPr>
        <p:spPr>
          <a:xfrm>
            <a:off x="9805354" y="5155054"/>
            <a:ext cx="1446230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</a:t>
            </a:r>
            <a:r>
              <a:rPr lang="ko-KR" altLang="en-US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for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Replacement/Refund(Dealer) </a:t>
            </a:r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5466C54E-F7DD-C4C2-7E6B-91574C02AF7E}"/>
              </a:ext>
            </a:extLst>
          </p:cNvPr>
          <p:cNvSpPr/>
          <p:nvPr/>
        </p:nvSpPr>
        <p:spPr>
          <a:xfrm>
            <a:off x="10491617" y="389542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2780613-EA5E-C4A7-CAF4-8A765320E4B9}"/>
              </a:ext>
            </a:extLst>
          </p:cNvPr>
          <p:cNvSpPr txBox="1"/>
          <p:nvPr/>
        </p:nvSpPr>
        <p:spPr>
          <a:xfrm>
            <a:off x="9988617" y="3657281"/>
            <a:ext cx="1202573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영업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물류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설치처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이관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B1CFFA9F-4591-3FB4-E2F0-ED394749CD49}"/>
              </a:ext>
            </a:extLst>
          </p:cNvPr>
          <p:cNvSpPr/>
          <p:nvPr/>
        </p:nvSpPr>
        <p:spPr>
          <a:xfrm>
            <a:off x="8625121" y="3821344"/>
            <a:ext cx="815325" cy="29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</a:rPr>
              <a:t>감가환불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3E0923F1-5F63-5BED-266B-1B0B5F5B59A1}"/>
              </a:ext>
            </a:extLst>
          </p:cNvPr>
          <p:cNvSpPr/>
          <p:nvPr/>
        </p:nvSpPr>
        <p:spPr>
          <a:xfrm>
            <a:off x="8942269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959B103-FC50-891C-B943-B08054428279}"/>
              </a:ext>
            </a:extLst>
          </p:cNvPr>
          <p:cNvSpPr txBox="1"/>
          <p:nvPr/>
        </p:nvSpPr>
        <p:spPr>
          <a:xfrm>
            <a:off x="8477705" y="5146911"/>
            <a:ext cx="1075936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Decision</a:t>
            </a:r>
            <a:r>
              <a:rPr lang="ko-KR" altLang="en-US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 for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Commercial solution</a:t>
            </a:r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DC96DEA2-CDE8-723B-C57D-1F344A6AE5A9}"/>
              </a:ext>
            </a:extLst>
          </p:cNvPr>
          <p:cNvSpPr/>
          <p:nvPr/>
        </p:nvSpPr>
        <p:spPr>
          <a:xfrm>
            <a:off x="9721900" y="5028444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9573914-63FC-8180-7F30-32F99DF14ECB}"/>
              </a:ext>
            </a:extLst>
          </p:cNvPr>
          <p:cNvSpPr txBox="1"/>
          <p:nvPr/>
        </p:nvSpPr>
        <p:spPr>
          <a:xfrm>
            <a:off x="9149131" y="4686483"/>
            <a:ext cx="1292341" cy="3693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Pending</a:t>
            </a:r>
            <a:r>
              <a:rPr lang="ko-KR" altLang="en-US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for </a:t>
            </a: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Replacement/Refund(LG)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FC0CB3E-633E-B913-1E33-C01439AE4607}"/>
              </a:ext>
            </a:extLst>
          </p:cNvPr>
          <p:cNvSpPr txBox="1"/>
          <p:nvPr/>
        </p:nvSpPr>
        <p:spPr>
          <a:xfrm>
            <a:off x="1149680" y="4930576"/>
            <a:ext cx="58541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공통</a:t>
            </a:r>
            <a:endParaRPr lang="en-US" altLang="ko-KR" sz="11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  <a:p>
            <a:pPr algn="ctr"/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(32</a:t>
            </a:r>
            <a:r>
              <a:rPr lang="ko-KR" altLang="en-US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개</a:t>
            </a:r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)</a:t>
            </a:r>
            <a:endParaRPr lang="ko-KR" altLang="en-US" sz="11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FC805A6-CB5E-8F55-B891-3AEEB4385062}"/>
              </a:ext>
            </a:extLst>
          </p:cNvPr>
          <p:cNvSpPr txBox="1"/>
          <p:nvPr/>
        </p:nvSpPr>
        <p:spPr>
          <a:xfrm>
            <a:off x="1130447" y="5453911"/>
            <a:ext cx="59182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Local</a:t>
            </a:r>
          </a:p>
          <a:p>
            <a:pPr algn="ctr"/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(5</a:t>
            </a:r>
            <a:r>
              <a:rPr lang="ko-KR" altLang="en-US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개</a:t>
            </a:r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)</a:t>
            </a:r>
            <a:endParaRPr lang="ko-KR" altLang="en-US" sz="11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9629942-D7E4-819D-A97A-C53233DA0E9E}"/>
              </a:ext>
            </a:extLst>
          </p:cNvPr>
          <p:cNvSpPr txBox="1"/>
          <p:nvPr/>
        </p:nvSpPr>
        <p:spPr>
          <a:xfrm>
            <a:off x="2573704" y="5302686"/>
            <a:ext cx="627095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Repair at</a:t>
            </a:r>
            <a:r>
              <a:rPr lang="ko-KR" altLang="en-US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900" dirty="0">
              <a:solidFill>
                <a:srgbClr val="CC0099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900" dirty="0">
                <a:solidFill>
                  <a:srgbClr val="CC0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PRC/MRC</a:t>
            </a: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373EDCF9-269D-BDAB-D83B-EBA19C0EFD31}"/>
              </a:ext>
            </a:extLst>
          </p:cNvPr>
          <p:cNvCxnSpPr>
            <a:cxnSpLocks/>
          </p:cNvCxnSpPr>
          <p:nvPr/>
        </p:nvCxnSpPr>
        <p:spPr>
          <a:xfrm>
            <a:off x="2301344" y="5737250"/>
            <a:ext cx="115515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타원 159">
            <a:extLst>
              <a:ext uri="{FF2B5EF4-FFF2-40B4-BE49-F238E27FC236}">
                <a16:creationId xmlns:a16="http://schemas.microsoft.com/office/drawing/2014/main" id="{5B702C2E-6CE1-79EF-A151-7F6785868A18}"/>
              </a:ext>
            </a:extLst>
          </p:cNvPr>
          <p:cNvSpPr/>
          <p:nvPr/>
        </p:nvSpPr>
        <p:spPr>
          <a:xfrm>
            <a:off x="2780368" y="5636831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16C01271-355B-57D9-3B38-9D543D72CBAB}"/>
              </a:ext>
            </a:extLst>
          </p:cNvPr>
          <p:cNvSpPr/>
          <p:nvPr/>
        </p:nvSpPr>
        <p:spPr>
          <a:xfrm>
            <a:off x="2211585" y="5343973"/>
            <a:ext cx="1296226" cy="536045"/>
          </a:xfrm>
          <a:prstGeom prst="rect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29BC452-CCC8-26C2-0D24-D95CFC5FF4B9}"/>
              </a:ext>
            </a:extLst>
          </p:cNvPr>
          <p:cNvSpPr txBox="1"/>
          <p:nvPr/>
        </p:nvSpPr>
        <p:spPr>
          <a:xfrm>
            <a:off x="3443341" y="5682279"/>
            <a:ext cx="715260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b="1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해당 국가만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67" name="연결선: 꺾임 166">
            <a:extLst>
              <a:ext uri="{FF2B5EF4-FFF2-40B4-BE49-F238E27FC236}">
                <a16:creationId xmlns:a16="http://schemas.microsoft.com/office/drawing/2014/main" id="{7B6B568A-DF7D-BAE6-A35B-1F9376509A7C}"/>
              </a:ext>
            </a:extLst>
          </p:cNvPr>
          <p:cNvCxnSpPr>
            <a:cxnSpLocks/>
            <a:endCxn id="219" idx="2"/>
          </p:cNvCxnSpPr>
          <p:nvPr/>
        </p:nvCxnSpPr>
        <p:spPr>
          <a:xfrm flipV="1">
            <a:off x="1425277" y="2776299"/>
            <a:ext cx="6743758" cy="362317"/>
          </a:xfrm>
          <a:prstGeom prst="bentConnector3">
            <a:avLst>
              <a:gd name="adj1" fmla="val 50000"/>
            </a:avLst>
          </a:prstGeom>
          <a:ln w="9525">
            <a:solidFill>
              <a:srgbClr val="CC0099"/>
            </a:solidFill>
            <a:prstDash val="das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타원 169">
            <a:extLst>
              <a:ext uri="{FF2B5EF4-FFF2-40B4-BE49-F238E27FC236}">
                <a16:creationId xmlns:a16="http://schemas.microsoft.com/office/drawing/2014/main" id="{C78A2F97-ED09-CCC0-38F1-6F452B83FFCF}"/>
              </a:ext>
            </a:extLst>
          </p:cNvPr>
          <p:cNvSpPr/>
          <p:nvPr/>
        </p:nvSpPr>
        <p:spPr>
          <a:xfrm>
            <a:off x="1246802" y="3030652"/>
            <a:ext cx="192012" cy="1920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632219C-C8CD-86AC-4CE8-1A0FD5ECFD5B}"/>
              </a:ext>
            </a:extLst>
          </p:cNvPr>
          <p:cNvSpPr txBox="1"/>
          <p:nvPr/>
        </p:nvSpPr>
        <p:spPr>
          <a:xfrm>
            <a:off x="808221" y="2820451"/>
            <a:ext cx="877163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ko-KR" altLang="en-US" sz="9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단종</a:t>
            </a:r>
            <a:r>
              <a:rPr lang="en-US" altLang="ko-KR" sz="9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 err="1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예외건</a:t>
            </a:r>
            <a:r>
              <a:rPr lang="ko-KR" altLang="en-US" sz="900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시</a:t>
            </a:r>
            <a:endParaRPr lang="en-US" altLang="ko-KR" sz="900" dirty="0">
              <a:solidFill>
                <a:srgbClr val="00B05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5C6B2BE5-708A-BFEF-3DC3-C941384BD6E9}"/>
              </a:ext>
            </a:extLst>
          </p:cNvPr>
          <p:cNvSpPr/>
          <p:nvPr/>
        </p:nvSpPr>
        <p:spPr>
          <a:xfrm>
            <a:off x="6274359" y="3895422"/>
            <a:ext cx="192012" cy="1920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50" b="1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77B4003-FBA0-8FA3-7542-B33BF0EC4213}"/>
              </a:ext>
            </a:extLst>
          </p:cNvPr>
          <p:cNvSpPr txBox="1"/>
          <p:nvPr/>
        </p:nvSpPr>
        <p:spPr>
          <a:xfrm>
            <a:off x="6128829" y="3657281"/>
            <a:ext cx="487633" cy="230832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미반출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1F0AB11-AEA7-63DB-A6AF-F0F04FBD42C5}"/>
              </a:ext>
            </a:extLst>
          </p:cNvPr>
          <p:cNvSpPr txBox="1"/>
          <p:nvPr/>
        </p:nvSpPr>
        <p:spPr>
          <a:xfrm>
            <a:off x="577946" y="3744388"/>
            <a:ext cx="986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한국</a:t>
            </a:r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(15</a:t>
            </a:r>
            <a:r>
              <a:rPr lang="ko-KR" altLang="en-US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개</a:t>
            </a:r>
            <a:r>
              <a:rPr lang="en-US" altLang="ko-KR" sz="1100" dirty="0">
                <a:latin typeface="LG Smart_H Regular" panose="020B0600000101010101" pitchFamily="50" charset="-127"/>
                <a:ea typeface="LG Smart_H Regular" panose="020B0600000101010101" pitchFamily="50" charset="-127"/>
              </a:rPr>
              <a:t>)</a:t>
            </a:r>
            <a:endParaRPr lang="ko-KR" altLang="en-US" sz="1600" dirty="0">
              <a:latin typeface="LG Smart_H Regular" panose="020B0600000101010101" pitchFamily="50" charset="-127"/>
              <a:ea typeface="LG Smart_H Regular" panose="020B0600000101010101" pitchFamily="50" charset="-127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9845A280-AE82-0429-AE6C-24EC7F968BF0}"/>
              </a:ext>
            </a:extLst>
          </p:cNvPr>
          <p:cNvSpPr txBox="1"/>
          <p:nvPr/>
        </p:nvSpPr>
        <p:spPr>
          <a:xfrm>
            <a:off x="5826034" y="6587518"/>
            <a:ext cx="386644" cy="24622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779252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 / 4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698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52724-EA11-A96A-5C54-98F4D1693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6428693-8B99-5C46-10CD-FE760E0BAB8C}"/>
              </a:ext>
            </a:extLst>
          </p:cNvPr>
          <p:cNvCxnSpPr>
            <a:cxnSpLocks/>
          </p:cNvCxnSpPr>
          <p:nvPr/>
        </p:nvCxnSpPr>
        <p:spPr>
          <a:xfrm>
            <a:off x="0" y="538239"/>
            <a:ext cx="12142694" cy="0"/>
          </a:xfrm>
          <a:prstGeom prst="line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46E4B4-F69D-4A5F-0B63-08539056E5A3}"/>
              </a:ext>
            </a:extLst>
          </p:cNvPr>
          <p:cNvSpPr txBox="1"/>
          <p:nvPr/>
        </p:nvSpPr>
        <p:spPr>
          <a:xfrm>
            <a:off x="70803" y="52044"/>
            <a:ext cx="2377574" cy="43281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20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법인별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사용현황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F8BD12-7C48-BB24-A583-5817A54D4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117" y="591624"/>
            <a:ext cx="7417766" cy="612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991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A20F6-6388-6DA5-A335-F577CB8EF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B866750-358E-736B-47CA-3FCF086FE76D}"/>
              </a:ext>
            </a:extLst>
          </p:cNvPr>
          <p:cNvCxnSpPr>
            <a:cxnSpLocks/>
          </p:cNvCxnSpPr>
          <p:nvPr/>
        </p:nvCxnSpPr>
        <p:spPr>
          <a:xfrm>
            <a:off x="0" y="538239"/>
            <a:ext cx="12142694" cy="0"/>
          </a:xfrm>
          <a:prstGeom prst="line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3CB3EA6-F4E0-D894-B808-481E190FC522}"/>
              </a:ext>
            </a:extLst>
          </p:cNvPr>
          <p:cNvSpPr txBox="1"/>
          <p:nvPr/>
        </p:nvSpPr>
        <p:spPr>
          <a:xfrm>
            <a:off x="70803" y="52044"/>
            <a:ext cx="2377574" cy="43281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20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법인별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사용현황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EC8930-73FF-C346-8D4F-00D199587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209" y="591624"/>
            <a:ext cx="7386276" cy="609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51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369A3-F344-32A2-202A-80F9BAE03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192AAB-BD38-489F-064F-67FB5E6A6C5F}"/>
              </a:ext>
            </a:extLst>
          </p:cNvPr>
          <p:cNvCxnSpPr>
            <a:cxnSpLocks/>
          </p:cNvCxnSpPr>
          <p:nvPr/>
        </p:nvCxnSpPr>
        <p:spPr>
          <a:xfrm>
            <a:off x="0" y="538239"/>
            <a:ext cx="12142694" cy="0"/>
          </a:xfrm>
          <a:prstGeom prst="line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DE24C95-FF70-9829-E491-503E8CEBE119}"/>
              </a:ext>
            </a:extLst>
          </p:cNvPr>
          <p:cNvSpPr txBox="1"/>
          <p:nvPr/>
        </p:nvSpPr>
        <p:spPr>
          <a:xfrm>
            <a:off x="70803" y="52044"/>
            <a:ext cx="2377574" cy="43281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77925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67138" algn="l"/>
              </a:tabLst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20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법인별</a:t>
            </a:r>
            <a:r>
              <a:rPr lang="ko-KR" altLang="en-US" sz="2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사용현황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B75FF2-2C28-A13F-C7E0-EB7FC54C6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873" y="591624"/>
            <a:ext cx="6606268" cy="6266376"/>
          </a:xfrm>
          <a:prstGeom prst="rect">
            <a:avLst/>
          </a:prstGeom>
        </p:spPr>
      </p:pic>
      <p:sp>
        <p:nvSpPr>
          <p:cNvPr id="7" name="실행 단추: 뒤로 또는 앞으로 이동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DCEF621-C7D1-3F15-7117-9890291814FC}"/>
              </a:ext>
            </a:extLst>
          </p:cNvPr>
          <p:cNvSpPr/>
          <p:nvPr/>
        </p:nvSpPr>
        <p:spPr>
          <a:xfrm>
            <a:off x="10772775" y="6505575"/>
            <a:ext cx="228600" cy="180975"/>
          </a:xfrm>
          <a:prstGeom prst="actionButtonBackPrevious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171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2003</TotalTime>
  <Words>1262</Words>
  <Application>Microsoft Office PowerPoint</Application>
  <PresentationFormat>와이드스크린</PresentationFormat>
  <Paragraphs>405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LG Smart_H Regular</vt:lpstr>
      <vt:lpstr>맑은 고딕</vt:lpstr>
      <vt:lpstr>Arial</vt:lpstr>
      <vt:lpstr>Arial Narrow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강성근/팀장/CC&amp;S기준정보관리팀</dc:creator>
  <cp:lastModifiedBy>박정훈/책임/CC&amp;S기준정보관리팀</cp:lastModifiedBy>
  <cp:revision>37</cp:revision>
  <dcterms:created xsi:type="dcterms:W3CDTF">2026-04-06T22:57:25Z</dcterms:created>
  <dcterms:modified xsi:type="dcterms:W3CDTF">2026-04-21T23:38:38Z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2026-04-06T23:17:37Z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87d8a15a-2917-4107-9328-e7220ccd11e3</vt:lpwstr>
  </property>
  <property fmtid="{D5CDD505-2E9C-101B-9397-08002B2CF9AE}" pid="8" name="MSIP_Label_cc6ed9fc-fefc-4a0c-a6d6-10cf236c0d4f_ContentBits">
    <vt:lpwstr>1</vt:lpwstr>
  </property>
  <property fmtid="{D5CDD505-2E9C-101B-9397-08002B2CF9AE}" pid="9" name="ClassificationContentMarkingHeaderLocations">
    <vt:lpwstr>Office 테마:8</vt:lpwstr>
  </property>
  <property fmtid="{D5CDD505-2E9C-101B-9397-08002B2CF9AE}" pid="10" name="ClassificationContentMarkingHeaderText">
    <vt:lpwstr>LGE Internal Use Only</vt:lpwstr>
  </property>
</Properties>
</file>