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5" r:id="rId1"/>
    <p:sldMasterId id="2147484013" r:id="rId2"/>
    <p:sldMasterId id="2147484171" r:id="rId3"/>
    <p:sldMasterId id="2147484232" r:id="rId4"/>
    <p:sldMasterId id="2147484247" r:id="rId5"/>
  </p:sldMasterIdLst>
  <p:notesMasterIdLst>
    <p:notesMasterId r:id="rId7"/>
  </p:notesMasterIdLst>
  <p:sldIdLst>
    <p:sldId id="622" r:id="rId6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3" orient="horz" pos="2886" userDrawn="1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C2147D"/>
    <a:srgbClr val="969696"/>
    <a:srgbClr val="B2B2B2"/>
    <a:srgbClr val="808080"/>
    <a:srgbClr val="FFFFCC"/>
    <a:srgbClr val="0000FF"/>
    <a:srgbClr val="00B050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7" autoAdjust="0"/>
    <p:restoredTop sz="97486" autoAdjust="0"/>
  </p:normalViewPr>
  <p:slideViewPr>
    <p:cSldViewPr snapToGrid="0" showGuides="1">
      <p:cViewPr>
        <p:scale>
          <a:sx n="100" d="100"/>
          <a:sy n="100" d="100"/>
        </p:scale>
        <p:origin x="3608" y="1332"/>
      </p:cViewPr>
      <p:guideLst>
        <p:guide orient="horz" pos="2591"/>
        <p:guide orient="horz" pos="288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1136C-DAC5-465D-A7D7-5959DD8E2F9E}" type="datetimeFigureOut">
              <a:rPr lang="ko-KR" altLang="en-US" smtClean="0"/>
              <a:t>2026-06-01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0ECC1-6FE1-42BE-90DD-1BB79C4937B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135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2B68-C604-ED19-2570-C517D801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B334C82D-6E2C-6C62-751C-F3A7AC0A73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25899" y="10262022"/>
            <a:ext cx="2929303" cy="54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 anchor="b"/>
          <a:lstStyle>
            <a:lvl1pPr defTabSz="9159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159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159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159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159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r" defTabSz="915988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94E90-51BA-4FC1-90C6-D8B02686C4C2}" type="slidenum"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5988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269886EA-2AFD-DB1E-2004-FD797975C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4025" y="811213"/>
            <a:ext cx="5849938" cy="4051300"/>
          </a:xfrm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6EFEFA65-C073-BF0B-FA3F-ECB06EA1E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324" y="5131873"/>
            <a:ext cx="4954129" cy="486095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1298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8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49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3325" y="6491822"/>
            <a:ext cx="222885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60422B3E-A71D-4475-AB23-9390A4730EED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6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3325" y="6491822"/>
            <a:ext cx="222885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60422B3E-A71D-4475-AB23-9390A4730EED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97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842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2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68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68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47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863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635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00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55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668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40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820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55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499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524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FDC6BE-F3B9-4D2F-BF0A-17E6A7134248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BEACA-5DEC-4243-B3AB-B7F9414F126D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996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46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843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976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2D99-4EB4-4BE1-9E06-415DE77CB609}" type="datetimeFigureOut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2026-06-01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8583E8-0C24-49E2-A121-02CBBF1B3B35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9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dirty="0">
              <a:solidFill>
                <a:srgbClr val="000000"/>
              </a:solidFill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4208463" y="19050"/>
            <a:ext cx="1454150" cy="250825"/>
          </a:xfrm>
          <a:prstGeom prst="rect">
            <a:avLst/>
          </a:prstGeom>
          <a:noFill/>
          <a:ln w="6350">
            <a:solidFill>
              <a:srgbClr val="EAEAEA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EAEAEA"/>
                </a:solidFill>
                <a:latin typeface="Arial" charset="0"/>
              </a:rPr>
              <a:t>LGE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9441F-2F56-3DCE-2385-A56FE126D2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04912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4208463" y="44624"/>
            <a:ext cx="1454150" cy="250825"/>
          </a:xfrm>
          <a:prstGeom prst="rect">
            <a:avLst/>
          </a:prstGeom>
          <a:noFill/>
          <a:ln w="635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808080"/>
                </a:solidFill>
                <a:latin typeface="Arial" charset="0"/>
              </a:rPr>
              <a:t>LGE Internal Use Only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3325" y="6491822"/>
            <a:ext cx="222885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60422B3E-A71D-4475-AB23-9390A4730EED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1C89E-4F56-1E13-167F-1F38EFBDF4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5409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4208463" y="44624"/>
            <a:ext cx="1454150" cy="250825"/>
          </a:xfrm>
          <a:prstGeom prst="rect">
            <a:avLst/>
          </a:prstGeom>
          <a:noFill/>
          <a:ln w="635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808080"/>
                </a:solidFill>
                <a:latin typeface="Arial" charset="0"/>
              </a:rPr>
              <a:t>LGE Internal Use Only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3325" y="6491822"/>
            <a:ext cx="222885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60422B3E-A71D-4475-AB23-9390A4730EED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6C329-9EF8-FD93-C3D1-D31D48BA52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0644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BFFE1-99D6-48CE-83EB-FFA8C8265966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AD8A9-1432-4A28-A964-478B18C8B07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4503198" y="84885"/>
            <a:ext cx="899605" cy="23083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prstClr val="white">
                    <a:lumMod val="75000"/>
                  </a:prstClr>
                </a:solidFill>
                <a:latin typeface="Arial Narrow" panose="020B0606020202030204" pitchFamily="34" charset="0"/>
              </a:rPr>
              <a:t>LGE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44D7D-875D-6891-7C63-11E738CD27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472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B5164-DFEB-DD39-BCEC-E40232459D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6083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99FA-3BF6-F6A3-994E-2B0C1E4C8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70">
            <a:extLst>
              <a:ext uri="{FF2B5EF4-FFF2-40B4-BE49-F238E27FC236}">
                <a16:creationId xmlns:a16="http://schemas.microsoft.com/office/drawing/2014/main" id="{96C29E1C-0DAA-72B9-F8BF-838358AE9D9B}"/>
              </a:ext>
            </a:extLst>
          </p:cNvPr>
          <p:cNvSpPr/>
          <p:nvPr/>
        </p:nvSpPr>
        <p:spPr>
          <a:xfrm>
            <a:off x="313726" y="4051144"/>
            <a:ext cx="4853910" cy="2324395"/>
          </a:xfrm>
          <a:prstGeom prst="roundRect">
            <a:avLst>
              <a:gd name="adj" fmla="val 1844"/>
            </a:avLst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282" name="사각형: 둥근 모서리 70">
            <a:extLst>
              <a:ext uri="{FF2B5EF4-FFF2-40B4-BE49-F238E27FC236}">
                <a16:creationId xmlns:a16="http://schemas.microsoft.com/office/drawing/2014/main" id="{66D6B59B-7E9E-D0C5-A0DD-C7F40D1AFF14}"/>
              </a:ext>
            </a:extLst>
          </p:cNvPr>
          <p:cNvSpPr/>
          <p:nvPr/>
        </p:nvSpPr>
        <p:spPr>
          <a:xfrm>
            <a:off x="313726" y="1271024"/>
            <a:ext cx="4860000" cy="2532190"/>
          </a:xfrm>
          <a:prstGeom prst="roundRect">
            <a:avLst>
              <a:gd name="adj" fmla="val 2364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45B8D-4B9A-9B77-5C5D-5FDE8B7A1FD5}"/>
              </a:ext>
            </a:extLst>
          </p:cNvPr>
          <p:cNvSpPr txBox="1"/>
          <p:nvPr/>
        </p:nvSpPr>
        <p:spPr>
          <a:xfrm>
            <a:off x="131678" y="227740"/>
            <a:ext cx="28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해외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지능형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Time-table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 Box 180">
            <a:extLst>
              <a:ext uri="{FF2B5EF4-FFF2-40B4-BE49-F238E27FC236}">
                <a16:creationId xmlns:a16="http://schemas.microsoft.com/office/drawing/2014/main" id="{0A897CD8-04D1-5E34-561E-5FE6260D0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879" y="6627909"/>
            <a:ext cx="598242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 / 1</a:t>
            </a:r>
          </a:p>
        </p:txBody>
      </p:sp>
      <p:sp>
        <p:nvSpPr>
          <p:cNvPr id="49" name="양쪽 모서리가 둥근 사각형 288">
            <a:extLst>
              <a:ext uri="{FF2B5EF4-FFF2-40B4-BE49-F238E27FC236}">
                <a16:creationId xmlns:a16="http://schemas.microsoft.com/office/drawing/2014/main" id="{952E1D04-E04E-9665-1D69-7ACB8B7E6186}"/>
              </a:ext>
            </a:extLst>
          </p:cNvPr>
          <p:cNvSpPr/>
          <p:nvPr/>
        </p:nvSpPr>
        <p:spPr>
          <a:xfrm>
            <a:off x="246915" y="722835"/>
            <a:ext cx="4993622" cy="274698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해외 지능형 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Time-table Concept</a:t>
            </a:r>
            <a:endParaRPr kumimoji="0" lang="ko-KR" altLang="en-US" sz="13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50" name="양쪽 모서리가 둥근 사각형 288">
            <a:extLst>
              <a:ext uri="{FF2B5EF4-FFF2-40B4-BE49-F238E27FC236}">
                <a16:creationId xmlns:a16="http://schemas.microsoft.com/office/drawing/2014/main" id="{C9800D10-876E-E71A-DBFB-B429F41C744D}"/>
              </a:ext>
            </a:extLst>
          </p:cNvPr>
          <p:cNvSpPr/>
          <p:nvPr/>
        </p:nvSpPr>
        <p:spPr>
          <a:xfrm>
            <a:off x="5516902" y="722835"/>
            <a:ext cx="4140002" cy="261459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 애틀란타 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Pilot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결과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44D992-AD91-851D-E7FA-1861EAEBAB81}"/>
              </a:ext>
            </a:extLst>
          </p:cNvPr>
          <p:cNvSpPr txBox="1"/>
          <p:nvPr/>
        </p:nvSpPr>
        <p:spPr>
          <a:xfrm>
            <a:off x="7033684" y="3909371"/>
            <a:ext cx="1002197" cy="292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생산성 추이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5DF99-1936-D12D-AEE8-30F8A31B63AF}"/>
              </a:ext>
            </a:extLst>
          </p:cNvPr>
          <p:cNvSpPr txBox="1"/>
          <p:nvPr/>
        </p:nvSpPr>
        <p:spPr>
          <a:xfrm>
            <a:off x="7147520" y="5082495"/>
            <a:ext cx="878767" cy="292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향후 일정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BD2788A-F9AA-37A3-9686-AF6C2F69CD2D}"/>
              </a:ext>
            </a:extLst>
          </p:cNvPr>
          <p:cNvCxnSpPr>
            <a:cxnSpLocks/>
          </p:cNvCxnSpPr>
          <p:nvPr/>
        </p:nvCxnSpPr>
        <p:spPr>
          <a:xfrm rot="16200000">
            <a:off x="7576568" y="3965358"/>
            <a:ext cx="0" cy="3636000"/>
          </a:xfrm>
          <a:prstGeom prst="straightConnector1">
            <a:avLst/>
          </a:prstGeom>
          <a:ln w="63500">
            <a:solidFill>
              <a:schemeClr val="bg1">
                <a:lumMod val="85000"/>
              </a:schemeClr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77FAA7-3C00-5843-8EF4-EAF46AAE5374}"/>
              </a:ext>
            </a:extLst>
          </p:cNvPr>
          <p:cNvCxnSpPr>
            <a:cxnSpLocks/>
          </p:cNvCxnSpPr>
          <p:nvPr/>
        </p:nvCxnSpPr>
        <p:spPr>
          <a:xfrm rot="16200000">
            <a:off x="6662925" y="4989491"/>
            <a:ext cx="0" cy="1584000"/>
          </a:xfrm>
          <a:prstGeom prst="straightConnector1">
            <a:avLst/>
          </a:prstGeom>
          <a:ln w="63500">
            <a:solidFill>
              <a:srgbClr val="CC0099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B602AE7C-AC49-0DAD-345D-794B95A77746}"/>
              </a:ext>
            </a:extLst>
          </p:cNvPr>
          <p:cNvGrpSpPr/>
          <p:nvPr/>
        </p:nvGrpSpPr>
        <p:grpSpPr>
          <a:xfrm>
            <a:off x="5446368" y="5470948"/>
            <a:ext cx="756000" cy="756923"/>
            <a:chOff x="5315000" y="4401270"/>
            <a:chExt cx="756000" cy="756923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AA1376A-5165-E899-2F00-483BE1AFFD74}"/>
                </a:ext>
              </a:extLst>
            </p:cNvPr>
            <p:cNvSpPr/>
            <p:nvPr/>
          </p:nvSpPr>
          <p:spPr>
            <a:xfrm rot="16200000">
              <a:off x="5640152" y="4664236"/>
              <a:ext cx="105697" cy="97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58" name="모서리가 둥근 직사각형 47">
              <a:extLst>
                <a:ext uri="{FF2B5EF4-FFF2-40B4-BE49-F238E27FC236}">
                  <a16:creationId xmlns:a16="http://schemas.microsoft.com/office/drawing/2014/main" id="{764365D9-6F2B-6746-C0A9-86220DC6C615}"/>
                </a:ext>
              </a:extLst>
            </p:cNvPr>
            <p:cNvSpPr/>
            <p:nvPr/>
          </p:nvSpPr>
          <p:spPr>
            <a:xfrm>
              <a:off x="5481037" y="4401270"/>
              <a:ext cx="423925" cy="153233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‘26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년 </a:t>
              </a: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4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63" name="모서리가 둥근 직사각형 47">
              <a:extLst>
                <a:ext uri="{FF2B5EF4-FFF2-40B4-BE49-F238E27FC236}">
                  <a16:creationId xmlns:a16="http://schemas.microsoft.com/office/drawing/2014/main" id="{80AB3814-7572-53AD-D33A-3D25C5BF0EC3}"/>
                </a:ext>
              </a:extLst>
            </p:cNvPr>
            <p:cNvSpPr/>
            <p:nvPr/>
          </p:nvSpPr>
          <p:spPr>
            <a:xfrm>
              <a:off x="5315000" y="4851726"/>
              <a:ext cx="756000" cy="306467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지능형</a:t>
              </a:r>
              <a:b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Time-table </a:t>
              </a: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개발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0671687-1273-D8D3-71F3-CFEC0C82F2CC}"/>
              </a:ext>
            </a:extLst>
          </p:cNvPr>
          <p:cNvGrpSpPr/>
          <p:nvPr/>
        </p:nvGrpSpPr>
        <p:grpSpPr>
          <a:xfrm>
            <a:off x="6355368" y="5470948"/>
            <a:ext cx="648000" cy="756923"/>
            <a:chOff x="6281767" y="4401270"/>
            <a:chExt cx="648000" cy="756923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5739CED-3916-B030-1BED-8700A26339BE}"/>
                </a:ext>
              </a:extLst>
            </p:cNvPr>
            <p:cNvSpPr/>
            <p:nvPr/>
          </p:nvSpPr>
          <p:spPr>
            <a:xfrm rot="16200000">
              <a:off x="6552919" y="4664236"/>
              <a:ext cx="105697" cy="97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C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88" name="모서리가 둥근 직사각형 47">
              <a:extLst>
                <a:ext uri="{FF2B5EF4-FFF2-40B4-BE49-F238E27FC236}">
                  <a16:creationId xmlns:a16="http://schemas.microsoft.com/office/drawing/2014/main" id="{B8CE2C7E-31A9-38C8-3D16-3A1BFF84D256}"/>
                </a:ext>
              </a:extLst>
            </p:cNvPr>
            <p:cNvSpPr/>
            <p:nvPr/>
          </p:nvSpPr>
          <p:spPr>
            <a:xfrm>
              <a:off x="6522125" y="4401270"/>
              <a:ext cx="167283" cy="153233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5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89" name="모서리가 둥근 직사각형 47">
              <a:extLst>
                <a:ext uri="{FF2B5EF4-FFF2-40B4-BE49-F238E27FC236}">
                  <a16:creationId xmlns:a16="http://schemas.microsoft.com/office/drawing/2014/main" id="{7E635E4C-595E-7E95-D48C-42168B27CBF7}"/>
                </a:ext>
              </a:extLst>
            </p:cNvPr>
            <p:cNvSpPr/>
            <p:nvPr/>
          </p:nvSpPr>
          <p:spPr>
            <a:xfrm>
              <a:off x="6281767" y="4851726"/>
              <a:ext cx="648000" cy="306467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애틀란타</a:t>
              </a:r>
              <a:b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Pilot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1AA37C42-2456-235E-A1F3-7CE0C6920866}"/>
              </a:ext>
            </a:extLst>
          </p:cNvPr>
          <p:cNvGrpSpPr/>
          <p:nvPr/>
        </p:nvGrpSpPr>
        <p:grpSpPr>
          <a:xfrm>
            <a:off x="7156368" y="5470948"/>
            <a:ext cx="648000" cy="756923"/>
            <a:chOff x="7308842" y="4401270"/>
            <a:chExt cx="648000" cy="756923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ED2E2F4-95E2-C2F4-1575-AB59B1DFD101}"/>
                </a:ext>
              </a:extLst>
            </p:cNvPr>
            <p:cNvSpPr/>
            <p:nvPr/>
          </p:nvSpPr>
          <p:spPr>
            <a:xfrm rot="16200000">
              <a:off x="7579994" y="4671652"/>
              <a:ext cx="105697" cy="97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0" name="모서리가 둥근 직사각형 47">
              <a:extLst>
                <a:ext uri="{FF2B5EF4-FFF2-40B4-BE49-F238E27FC236}">
                  <a16:creationId xmlns:a16="http://schemas.microsoft.com/office/drawing/2014/main" id="{36EA2D03-6EE9-7892-E0CD-1D932DACB3AE}"/>
                </a:ext>
              </a:extLst>
            </p:cNvPr>
            <p:cNvSpPr/>
            <p:nvPr/>
          </p:nvSpPr>
          <p:spPr>
            <a:xfrm>
              <a:off x="7549200" y="4401270"/>
              <a:ext cx="167283" cy="153233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6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91" name="모서리가 둥근 직사각형 47">
              <a:extLst>
                <a:ext uri="{FF2B5EF4-FFF2-40B4-BE49-F238E27FC236}">
                  <a16:creationId xmlns:a16="http://schemas.microsoft.com/office/drawing/2014/main" id="{CA766739-BE89-32A7-3F1F-8E89961108AC}"/>
                </a:ext>
              </a:extLst>
            </p:cNvPr>
            <p:cNvSpPr/>
            <p:nvPr/>
          </p:nvSpPr>
          <p:spPr>
            <a:xfrm>
              <a:off x="7308842" y="4851726"/>
              <a:ext cx="648000" cy="306467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미국 </a:t>
              </a:r>
              <a: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1</a:t>
              </a: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차 도시</a:t>
              </a:r>
              <a:b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확산 </a:t>
              </a:r>
              <a:r>
                <a:rPr kumimoji="1" lang="en-US" altLang="ko-KR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(LA)</a:t>
              </a:r>
              <a:endParaRPr kumimoji="1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A8032A8A-D764-E186-93EF-107992B963BF}"/>
              </a:ext>
            </a:extLst>
          </p:cNvPr>
          <p:cNvGrpSpPr/>
          <p:nvPr/>
        </p:nvGrpSpPr>
        <p:grpSpPr>
          <a:xfrm>
            <a:off x="8620044" y="5470948"/>
            <a:ext cx="924648" cy="910156"/>
            <a:chOff x="8488676" y="4518230"/>
            <a:chExt cx="924648" cy="910156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748D1366-9252-8666-ED81-EADE271C19B2}"/>
                </a:ext>
              </a:extLst>
            </p:cNvPr>
            <p:cNvSpPr/>
            <p:nvPr/>
          </p:nvSpPr>
          <p:spPr>
            <a:xfrm rot="16200000">
              <a:off x="8898152" y="4788612"/>
              <a:ext cx="105697" cy="97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104" name="모서리가 둥근 직사각형 47">
              <a:extLst>
                <a:ext uri="{FF2B5EF4-FFF2-40B4-BE49-F238E27FC236}">
                  <a16:creationId xmlns:a16="http://schemas.microsoft.com/office/drawing/2014/main" id="{8FBC5AD7-A272-529E-DE25-54687A9F1F24}"/>
                </a:ext>
              </a:extLst>
            </p:cNvPr>
            <p:cNvSpPr/>
            <p:nvPr/>
          </p:nvSpPr>
          <p:spPr>
            <a:xfrm>
              <a:off x="8867358" y="4518230"/>
              <a:ext cx="167283" cy="153233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8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05" name="모서리가 둥근 직사각형 47">
              <a:extLst>
                <a:ext uri="{FF2B5EF4-FFF2-40B4-BE49-F238E27FC236}">
                  <a16:creationId xmlns:a16="http://schemas.microsoft.com/office/drawing/2014/main" id="{0125F137-B336-F1EB-780A-F83BD61DA6B4}"/>
                </a:ext>
              </a:extLst>
            </p:cNvPr>
            <p:cNvSpPr/>
            <p:nvPr/>
          </p:nvSpPr>
          <p:spPr>
            <a:xfrm>
              <a:off x="8488676" y="4968686"/>
              <a:ext cx="924648" cy="459700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미국 </a:t>
              </a:r>
              <a: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2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차 도시 확산</a:t>
              </a:r>
              <a:b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&amp; </a:t>
              </a: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직영 운영 국가</a:t>
              </a:r>
              <a:br>
                <a:rPr kumimoji="1" lang="en-US" altLang="ko-KR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ko-KR" altLang="en-US" sz="9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확산 검토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3A0C3D37-8DCB-D481-12D8-3F60D8E5EBA1}"/>
              </a:ext>
            </a:extLst>
          </p:cNvPr>
          <p:cNvGrpSpPr/>
          <p:nvPr/>
        </p:nvGrpSpPr>
        <p:grpSpPr>
          <a:xfrm>
            <a:off x="7903368" y="5470948"/>
            <a:ext cx="756000" cy="756923"/>
            <a:chOff x="7772000" y="4518230"/>
            <a:chExt cx="756000" cy="756923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EA55BF1C-D99E-D9C8-B142-A1D8858E9F36}"/>
                </a:ext>
              </a:extLst>
            </p:cNvPr>
            <p:cNvSpPr/>
            <p:nvPr/>
          </p:nvSpPr>
          <p:spPr>
            <a:xfrm rot="16200000">
              <a:off x="8097152" y="4788612"/>
              <a:ext cx="105697" cy="97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sp>
          <p:nvSpPr>
            <p:cNvPr id="99" name="모서리가 둥근 직사각형 47">
              <a:extLst>
                <a:ext uri="{FF2B5EF4-FFF2-40B4-BE49-F238E27FC236}">
                  <a16:creationId xmlns:a16="http://schemas.microsoft.com/office/drawing/2014/main" id="{2728C166-C575-9973-B7AD-0139AB3F9C3A}"/>
                </a:ext>
              </a:extLst>
            </p:cNvPr>
            <p:cNvSpPr/>
            <p:nvPr/>
          </p:nvSpPr>
          <p:spPr>
            <a:xfrm>
              <a:off x="8066358" y="4518230"/>
              <a:ext cx="167283" cy="153233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7</a:t>
              </a: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00" name="모서리가 둥근 직사각형 47">
              <a:extLst>
                <a:ext uri="{FF2B5EF4-FFF2-40B4-BE49-F238E27FC236}">
                  <a16:creationId xmlns:a16="http://schemas.microsoft.com/office/drawing/2014/main" id="{082B3931-737E-201F-CD29-F20E14C9672F}"/>
                </a:ext>
              </a:extLst>
            </p:cNvPr>
            <p:cNvSpPr/>
            <p:nvPr/>
          </p:nvSpPr>
          <p:spPr>
            <a:xfrm>
              <a:off x="7772000" y="4968686"/>
              <a:ext cx="756000" cy="306467"/>
            </a:xfrm>
            <a:prstGeom prst="round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시스템</a:t>
              </a:r>
              <a:br>
                <a:rPr kumimoji="1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</a:br>
              <a:r>
                <a:rPr kumimoji="1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개발 착수</a:t>
              </a:r>
              <a:endPara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7B6F2AB-9FDD-BBA7-B0EE-A077D3098936}"/>
              </a:ext>
            </a:extLst>
          </p:cNvPr>
          <p:cNvSpPr/>
          <p:nvPr/>
        </p:nvSpPr>
        <p:spPr bwMode="auto">
          <a:xfrm>
            <a:off x="2473726" y="3935942"/>
            <a:ext cx="540000" cy="216000"/>
          </a:xfrm>
          <a:prstGeom prst="roundRect">
            <a:avLst/>
          </a:prstGeom>
          <a:solidFill>
            <a:srgbClr val="00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 후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D5C1206-048C-4F42-7F5B-11F0D43DA791}"/>
              </a:ext>
            </a:extLst>
          </p:cNvPr>
          <p:cNvSpPr/>
          <p:nvPr/>
        </p:nvSpPr>
        <p:spPr bwMode="auto">
          <a:xfrm>
            <a:off x="2473726" y="1166403"/>
            <a:ext cx="540000" cy="216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적용 전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7F107B4-1564-F5CB-EA7F-550761878D5D}"/>
              </a:ext>
            </a:extLst>
          </p:cNvPr>
          <p:cNvGrpSpPr/>
          <p:nvPr/>
        </p:nvGrpSpPr>
        <p:grpSpPr>
          <a:xfrm>
            <a:off x="647743" y="2230344"/>
            <a:ext cx="2087270" cy="360000"/>
            <a:chOff x="264920" y="2188834"/>
            <a:chExt cx="2087270" cy="360000"/>
          </a:xfrm>
        </p:grpSpPr>
        <p:sp>
          <p:nvSpPr>
            <p:cNvPr id="3" name="Rounded Rectangle 11">
              <a:extLst>
                <a:ext uri="{FF2B5EF4-FFF2-40B4-BE49-F238E27FC236}">
                  <a16:creationId xmlns:a16="http://schemas.microsoft.com/office/drawing/2014/main" id="{E67024D4-C642-B4EF-9152-93CDF3B25008}"/>
                </a:ext>
              </a:extLst>
            </p:cNvPr>
            <p:cNvSpPr/>
            <p:nvPr/>
          </p:nvSpPr>
          <p:spPr>
            <a:xfrm>
              <a:off x="264920" y="2188834"/>
              <a:ext cx="360000" cy="360000"/>
            </a:xfrm>
            <a:prstGeom prst="roundRect">
              <a:avLst>
                <a:gd name="adj" fmla="val 35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6331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 Smart_H Regular" panose="020B0600000101010101" pitchFamily="34" charset="-127"/>
                  <a:cs typeface="+mn-cs"/>
                </a:rPr>
                <a:t>컨택</a:t>
              </a:r>
              <a:endParaRPr kumimoji="0" lang="en-US" altLang="ko-KR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endParaRPr>
            </a:p>
            <a:p>
              <a:pPr marL="0" marR="0" lvl="0" indent="0" algn="ctr" defTabSz="6331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 Smart_H Regular" panose="020B0600000101010101" pitchFamily="34" charset="-127"/>
                  <a:cs typeface="+mn-cs"/>
                </a:rPr>
                <a:t>센터</a:t>
              </a:r>
            </a:p>
          </p:txBody>
        </p:sp>
        <p:sp>
          <p:nvSpPr>
            <p:cNvPr id="5" name="Rounded Rectangle 11">
              <a:extLst>
                <a:ext uri="{FF2B5EF4-FFF2-40B4-BE49-F238E27FC236}">
                  <a16:creationId xmlns:a16="http://schemas.microsoft.com/office/drawing/2014/main" id="{8DA71915-477B-5072-05D5-1796FCB9E840}"/>
                </a:ext>
              </a:extLst>
            </p:cNvPr>
            <p:cNvSpPr/>
            <p:nvPr/>
          </p:nvSpPr>
          <p:spPr>
            <a:xfrm>
              <a:off x="1128555" y="2188834"/>
              <a:ext cx="360000" cy="360000"/>
            </a:xfrm>
            <a:prstGeom prst="roundRect">
              <a:avLst>
                <a:gd name="adj" fmla="val 35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6331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 Smart_H Regular" panose="020B0600000101010101" pitchFamily="34" charset="-127"/>
                  <a:cs typeface="+mn-cs"/>
                </a:rPr>
                <a:t>수리</a:t>
              </a:r>
              <a:endParaRPr kumimoji="0" lang="en-US" altLang="ko-KR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endParaRPr>
            </a:p>
            <a:p>
              <a:pPr marL="0" marR="0" lvl="0" indent="0" algn="ctr" defTabSz="6331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 Smart_H Regular" panose="020B0600000101010101" pitchFamily="34" charset="-127"/>
                  <a:cs typeface="+mn-cs"/>
                </a:rPr>
                <a:t>기사</a:t>
              </a:r>
              <a:endParaRPr kumimoji="0" lang="en-US" altLang="ko-KR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endParaRPr>
            </a:p>
          </p:txBody>
        </p:sp>
        <p:sp>
          <p:nvSpPr>
            <p:cNvPr id="7" name="Rounded Rectangle 11">
              <a:extLst>
                <a:ext uri="{FF2B5EF4-FFF2-40B4-BE49-F238E27FC236}">
                  <a16:creationId xmlns:a16="http://schemas.microsoft.com/office/drawing/2014/main" id="{19CD0D2D-44F6-CF52-4302-9D1B0B88AFE4}"/>
                </a:ext>
              </a:extLst>
            </p:cNvPr>
            <p:cNvSpPr/>
            <p:nvPr/>
          </p:nvSpPr>
          <p:spPr>
            <a:xfrm>
              <a:off x="1992190" y="2188834"/>
              <a:ext cx="360000" cy="360000"/>
            </a:xfrm>
            <a:prstGeom prst="roundRect">
              <a:avLst>
                <a:gd name="adj" fmla="val 35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6331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94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 Smart_H Regular" panose="020B0600000101010101" pitchFamily="34" charset="-127"/>
                  <a:cs typeface="+mn-cs"/>
                </a:rPr>
                <a:t>고객</a:t>
              </a:r>
              <a:endParaRPr kumimoji="0" lang="en-US" altLang="ko-KR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endParaRPr>
            </a:p>
          </p:txBody>
        </p:sp>
        <p:cxnSp>
          <p:nvCxnSpPr>
            <p:cNvPr id="8" name="Straight Connector 70">
              <a:extLst>
                <a:ext uri="{FF2B5EF4-FFF2-40B4-BE49-F238E27FC236}">
                  <a16:creationId xmlns:a16="http://schemas.microsoft.com/office/drawing/2014/main" id="{537DF4D5-C63A-FC8A-E218-08C9E1DEF28F}"/>
                </a:ext>
              </a:extLst>
            </p:cNvPr>
            <p:cNvCxnSpPr>
              <a:cxnSpLocks/>
              <a:stCxn id="3" idx="3"/>
              <a:endCxn id="5" idx="1"/>
            </p:cNvCxnSpPr>
            <p:nvPr/>
          </p:nvCxnSpPr>
          <p:spPr>
            <a:xfrm>
              <a:off x="624920" y="2368834"/>
              <a:ext cx="503635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9" name="Straight Connector 70">
              <a:extLst>
                <a:ext uri="{FF2B5EF4-FFF2-40B4-BE49-F238E27FC236}">
                  <a16:creationId xmlns:a16="http://schemas.microsoft.com/office/drawing/2014/main" id="{9E756C94-129E-811F-CF9C-926A84E6297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1488555" y="2368834"/>
              <a:ext cx="503635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/>
              <a:tailEnd type="triangle"/>
            </a:ln>
            <a:effectLst/>
          </p:spPr>
        </p:cxnSp>
      </p:grp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D1B4F4F4-EFA2-E2BB-AC84-4843218CDCD8}"/>
              </a:ext>
            </a:extLst>
          </p:cNvPr>
          <p:cNvSpPr/>
          <p:nvPr/>
        </p:nvSpPr>
        <p:spPr>
          <a:xfrm>
            <a:off x="647743" y="4504053"/>
            <a:ext cx="360000" cy="360000"/>
          </a:xfrm>
          <a:prstGeom prst="roundRect">
            <a:avLst>
              <a:gd name="adj" fmla="val 3564"/>
            </a:avLst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컨택</a:t>
            </a:r>
            <a:endParaRPr kumimoji="0" lang="en-US" altLang="ko-KR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센터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F57FC0BA-09BE-7D46-0C3A-4D6B95011F1C}"/>
              </a:ext>
            </a:extLst>
          </p:cNvPr>
          <p:cNvSpPr/>
          <p:nvPr/>
        </p:nvSpPr>
        <p:spPr>
          <a:xfrm>
            <a:off x="1223500" y="4504053"/>
            <a:ext cx="360000" cy="360000"/>
          </a:xfrm>
          <a:prstGeom prst="roundRect">
            <a:avLst>
              <a:gd name="adj" fmla="val 3564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C00000"/>
            </a:solidFill>
            <a:prstDash val="sys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lIns="0" rIns="0" rtlCol="0" anchor="ctr"/>
          <a:lstStyle/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지능형</a:t>
            </a:r>
            <a:endParaRPr kumimoji="0" lang="en-US" altLang="ko-KR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TT</a:t>
            </a:r>
            <a:endParaRPr kumimoji="0" lang="ko-KR" altLang="en-US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2DFAA8-6335-87BA-91E8-DE9AFBFDA27F}"/>
              </a:ext>
            </a:extLst>
          </p:cNvPr>
          <p:cNvSpPr/>
          <p:nvPr/>
        </p:nvSpPr>
        <p:spPr>
          <a:xfrm>
            <a:off x="1799257" y="4504053"/>
            <a:ext cx="360000" cy="360000"/>
          </a:xfrm>
          <a:prstGeom prst="roundRect">
            <a:avLst>
              <a:gd name="adj" fmla="val 3564"/>
            </a:avLst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수리</a:t>
            </a:r>
            <a:endParaRPr kumimoji="0" lang="en-US" altLang="ko-KR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기사</a:t>
            </a:r>
            <a:endParaRPr kumimoji="0" lang="en-US" altLang="ko-KR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cxnSp>
        <p:nvCxnSpPr>
          <p:cNvPr id="13" name="Straight Connector 70">
            <a:extLst>
              <a:ext uri="{FF2B5EF4-FFF2-40B4-BE49-F238E27FC236}">
                <a16:creationId xmlns:a16="http://schemas.microsoft.com/office/drawing/2014/main" id="{B840796D-48BA-940D-772A-D6D35745A0A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1007743" y="4684053"/>
            <a:ext cx="215757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14" name="Straight Connector 70">
            <a:extLst>
              <a:ext uri="{FF2B5EF4-FFF2-40B4-BE49-F238E27FC236}">
                <a16:creationId xmlns:a16="http://schemas.microsoft.com/office/drawing/2014/main" id="{3586DB6C-DD14-015F-C922-A4E7B35CDF5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1583500" y="4684053"/>
            <a:ext cx="215757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52429F70-E411-BC39-3453-18579C195123}"/>
              </a:ext>
            </a:extLst>
          </p:cNvPr>
          <p:cNvSpPr/>
          <p:nvPr/>
        </p:nvSpPr>
        <p:spPr>
          <a:xfrm>
            <a:off x="2375013" y="4504053"/>
            <a:ext cx="360000" cy="360000"/>
          </a:xfrm>
          <a:prstGeom prst="roundRect">
            <a:avLst>
              <a:gd name="adj" fmla="val 3564"/>
            </a:avLst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6331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+mn-cs"/>
              </a:rPr>
              <a:t>고객</a:t>
            </a:r>
            <a:endParaRPr kumimoji="0" lang="en-US" altLang="ko-KR" sz="894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+mn-cs"/>
            </a:endParaRPr>
          </a:p>
        </p:txBody>
      </p:sp>
      <p:cxnSp>
        <p:nvCxnSpPr>
          <p:cNvPr id="16" name="Straight Connector 70">
            <a:extLst>
              <a:ext uri="{FF2B5EF4-FFF2-40B4-BE49-F238E27FC236}">
                <a16:creationId xmlns:a16="http://schemas.microsoft.com/office/drawing/2014/main" id="{6C0DD914-7B9A-888C-8E6D-69B2DF6971E9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2159257" y="4684053"/>
            <a:ext cx="215756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/>
            <a:tailEnd type="triangle"/>
          </a:ln>
          <a:effectLst/>
        </p:spPr>
      </p:cxnSp>
      <p:pic>
        <p:nvPicPr>
          <p:cNvPr id="65" name="그림 64" descr="지도, 텍스트, 아틀라스이(가) 표시된 사진&#10;&#10;자동 생성된 설명">
            <a:extLst>
              <a:ext uri="{FF2B5EF4-FFF2-40B4-BE49-F238E27FC236}">
                <a16:creationId xmlns:a16="http://schemas.microsoft.com/office/drawing/2014/main" id="{27984860-55CF-C614-9A15-751D9FFC0F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841" y="1869842"/>
            <a:ext cx="1771325" cy="1930773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09CB0B5C-908C-EFD5-A3E0-349DC08F96AC}"/>
              </a:ext>
            </a:extLst>
          </p:cNvPr>
          <p:cNvSpPr/>
          <p:nvPr/>
        </p:nvSpPr>
        <p:spPr>
          <a:xfrm>
            <a:off x="4249970" y="2199932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2AB5F91D-A9F1-AE83-A64D-053911F33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91974" y="2233976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E267D83D-828E-20B3-1D21-CEFCFCFA15DD}"/>
              </a:ext>
            </a:extLst>
          </p:cNvPr>
          <p:cNvSpPr/>
          <p:nvPr/>
        </p:nvSpPr>
        <p:spPr>
          <a:xfrm>
            <a:off x="4065426" y="2153696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77BE7D51-6666-BCDE-BBF8-7AEC02E9FD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585525" y="2194146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E83BC179-BDFA-06D9-0209-F0A8FDE943A4}"/>
              </a:ext>
            </a:extLst>
          </p:cNvPr>
          <p:cNvSpPr/>
          <p:nvPr/>
        </p:nvSpPr>
        <p:spPr>
          <a:xfrm>
            <a:off x="3915422" y="2551245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2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D2199CD0-3FF7-CCA9-4DD9-9C1146914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957426" y="2585289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타원 38">
            <a:extLst>
              <a:ext uri="{FF2B5EF4-FFF2-40B4-BE49-F238E27FC236}">
                <a16:creationId xmlns:a16="http://schemas.microsoft.com/office/drawing/2014/main" id="{AF4324E6-AB48-5ABB-FAEF-A16383350E5E}"/>
              </a:ext>
            </a:extLst>
          </p:cNvPr>
          <p:cNvSpPr/>
          <p:nvPr/>
        </p:nvSpPr>
        <p:spPr>
          <a:xfrm>
            <a:off x="4463950" y="2732381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0CA149E0-2C54-6437-61EC-B0DBD20A9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505954" y="2766425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BA7BC4D4-8250-22C8-17EF-22D2BA14D11A}"/>
              </a:ext>
            </a:extLst>
          </p:cNvPr>
          <p:cNvSpPr/>
          <p:nvPr/>
        </p:nvSpPr>
        <p:spPr>
          <a:xfrm>
            <a:off x="4115744" y="2458756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4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B7FC7DA6-5051-B388-5467-89202BB6D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572298" y="2564619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EAD53E3A-78AB-E834-912A-D43501D77310}"/>
              </a:ext>
            </a:extLst>
          </p:cNvPr>
          <p:cNvSpPr/>
          <p:nvPr/>
        </p:nvSpPr>
        <p:spPr>
          <a:xfrm>
            <a:off x="3679460" y="2900515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6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66D3AB7-F4C6-34EC-9F7E-038C082D5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721464" y="2934559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타원 53">
            <a:extLst>
              <a:ext uri="{FF2B5EF4-FFF2-40B4-BE49-F238E27FC236}">
                <a16:creationId xmlns:a16="http://schemas.microsoft.com/office/drawing/2014/main" id="{3DDB415F-197C-9417-C030-ACD368DC4328}"/>
              </a:ext>
            </a:extLst>
          </p:cNvPr>
          <p:cNvSpPr/>
          <p:nvPr/>
        </p:nvSpPr>
        <p:spPr>
          <a:xfrm>
            <a:off x="4282804" y="2397856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5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8BB8B3D3-715F-40D6-33B0-A77D37573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555111" y="3199639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타원 55">
            <a:extLst>
              <a:ext uri="{FF2B5EF4-FFF2-40B4-BE49-F238E27FC236}">
                <a16:creationId xmlns:a16="http://schemas.microsoft.com/office/drawing/2014/main" id="{31522D07-B5BD-8649-541B-1BF8A6BAF266}"/>
              </a:ext>
            </a:extLst>
          </p:cNvPr>
          <p:cNvSpPr/>
          <p:nvPr/>
        </p:nvSpPr>
        <p:spPr>
          <a:xfrm>
            <a:off x="4255572" y="3208160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7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E99DDC6E-CA96-01C5-342A-30E141C65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97576" y="3242204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타원 65">
            <a:extLst>
              <a:ext uri="{FF2B5EF4-FFF2-40B4-BE49-F238E27FC236}">
                <a16:creationId xmlns:a16="http://schemas.microsoft.com/office/drawing/2014/main" id="{0AD11920-FB87-82F1-0825-A5DB8259F040}"/>
              </a:ext>
            </a:extLst>
          </p:cNvPr>
          <p:cNvSpPr/>
          <p:nvPr/>
        </p:nvSpPr>
        <p:spPr>
          <a:xfrm>
            <a:off x="3770409" y="2623659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D86E6068-6FD1-4684-74C1-21821154D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05582" y="2990052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" name="타원 172">
            <a:extLst>
              <a:ext uri="{FF2B5EF4-FFF2-40B4-BE49-F238E27FC236}">
                <a16:creationId xmlns:a16="http://schemas.microsoft.com/office/drawing/2014/main" id="{D7A042F0-DDAE-1493-2D0B-D64A1FCBAC94}"/>
              </a:ext>
            </a:extLst>
          </p:cNvPr>
          <p:cNvSpPr/>
          <p:nvPr/>
        </p:nvSpPr>
        <p:spPr>
          <a:xfrm>
            <a:off x="3893365" y="2970673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488C43E8-6B54-5664-0501-35A54001E9A2}"/>
              </a:ext>
            </a:extLst>
          </p:cNvPr>
          <p:cNvSpPr/>
          <p:nvPr/>
        </p:nvSpPr>
        <p:spPr>
          <a:xfrm>
            <a:off x="3987499" y="2830235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8AC2709D-6909-4DCA-7F89-7ACDF29BD167}"/>
              </a:ext>
            </a:extLst>
          </p:cNvPr>
          <p:cNvSpPr/>
          <p:nvPr/>
        </p:nvSpPr>
        <p:spPr>
          <a:xfrm>
            <a:off x="4245761" y="2759727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7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1193872B-1832-EE3E-5352-49E2B3271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87765" y="2793771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344C4A4F-5D7C-E012-B777-12A1F741E947}"/>
              </a:ext>
            </a:extLst>
          </p:cNvPr>
          <p:cNvSpPr/>
          <p:nvPr/>
        </p:nvSpPr>
        <p:spPr>
          <a:xfrm>
            <a:off x="2836554" y="2235932"/>
            <a:ext cx="720000" cy="144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Capa. </a:t>
            </a:r>
            <a:r>
              <a:rPr kumimoji="0" lang="ko-KR" altLang="en-US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부족</a:t>
            </a: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6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B7AF247E-0465-50BA-3FC1-0A7E3CC60E80}"/>
              </a:ext>
            </a:extLst>
          </p:cNvPr>
          <p:cNvCxnSpPr>
            <a:cxnSpLocks/>
            <a:stCxn id="29" idx="2"/>
            <a:endCxn id="184" idx="3"/>
          </p:cNvCxnSpPr>
          <p:nvPr/>
        </p:nvCxnSpPr>
        <p:spPr>
          <a:xfrm flipH="1">
            <a:off x="3556554" y="2207696"/>
            <a:ext cx="508872" cy="100236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DAA23B30-2A6F-324E-8998-0C639347AE66}"/>
              </a:ext>
            </a:extLst>
          </p:cNvPr>
          <p:cNvCxnSpPr>
            <a:cxnSpLocks/>
            <a:stCxn id="54" idx="2"/>
            <a:endCxn id="184" idx="3"/>
          </p:cNvCxnSpPr>
          <p:nvPr/>
        </p:nvCxnSpPr>
        <p:spPr>
          <a:xfrm flipH="1" flipV="1">
            <a:off x="3556554" y="2307932"/>
            <a:ext cx="726250" cy="143924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EA63981D-354C-D326-8158-E343C6DFBAED}"/>
              </a:ext>
            </a:extLst>
          </p:cNvPr>
          <p:cNvCxnSpPr>
            <a:cxnSpLocks/>
            <a:stCxn id="41" idx="1"/>
            <a:endCxn id="184" idx="3"/>
          </p:cNvCxnSpPr>
          <p:nvPr/>
        </p:nvCxnSpPr>
        <p:spPr>
          <a:xfrm flipH="1" flipV="1">
            <a:off x="3556554" y="2307932"/>
            <a:ext cx="575006" cy="166640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3D72D13A-151D-3748-559B-DAF40FC0E004}"/>
              </a:ext>
            </a:extLst>
          </p:cNvPr>
          <p:cNvCxnSpPr>
            <a:cxnSpLocks/>
            <a:stCxn id="66" idx="1"/>
            <a:endCxn id="184" idx="3"/>
          </p:cNvCxnSpPr>
          <p:nvPr/>
        </p:nvCxnSpPr>
        <p:spPr>
          <a:xfrm flipH="1" flipV="1">
            <a:off x="3556554" y="2307932"/>
            <a:ext cx="229671" cy="331543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A36EC2A9-A68F-7C83-01CD-8181B0AF3AF1}"/>
              </a:ext>
            </a:extLst>
          </p:cNvPr>
          <p:cNvCxnSpPr>
            <a:cxnSpLocks/>
            <a:stCxn id="174" idx="2"/>
            <a:endCxn id="184" idx="2"/>
          </p:cNvCxnSpPr>
          <p:nvPr/>
        </p:nvCxnSpPr>
        <p:spPr>
          <a:xfrm flipH="1" flipV="1">
            <a:off x="3196554" y="2379932"/>
            <a:ext cx="790945" cy="504303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50B0A5E4-D865-B56F-E8AC-ECB2DA0A2D3E}"/>
              </a:ext>
            </a:extLst>
          </p:cNvPr>
          <p:cNvCxnSpPr>
            <a:cxnSpLocks/>
          </p:cNvCxnSpPr>
          <p:nvPr/>
        </p:nvCxnSpPr>
        <p:spPr>
          <a:xfrm flipH="1" flipV="1">
            <a:off x="3186258" y="2379932"/>
            <a:ext cx="722923" cy="606557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7E934A95-13BB-E190-F893-5D97805B6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884204" y="3221877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그림 72" descr="블랙, 어둠, 흑백, 스크린샷이(가) 표시된 사진&#10;&#10;자동 생성된 설명">
            <a:extLst>
              <a:ext uri="{FF2B5EF4-FFF2-40B4-BE49-F238E27FC236}">
                <a16:creationId xmlns:a16="http://schemas.microsoft.com/office/drawing/2014/main" id="{4F9BCABE-1833-D011-0417-F88F5248FF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50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966" y="4139016"/>
            <a:ext cx="1771200" cy="1928089"/>
          </a:xfrm>
          <a:prstGeom prst="rect">
            <a:avLst/>
          </a:prstGeom>
        </p:spPr>
      </p:pic>
      <p:sp>
        <p:nvSpPr>
          <p:cNvPr id="218" name="타원 217">
            <a:extLst>
              <a:ext uri="{FF2B5EF4-FFF2-40B4-BE49-F238E27FC236}">
                <a16:creationId xmlns:a16="http://schemas.microsoft.com/office/drawing/2014/main" id="{D3A45B54-88F0-C800-5FB0-29E1F0E1E6C2}"/>
              </a:ext>
            </a:extLst>
          </p:cNvPr>
          <p:cNvSpPr/>
          <p:nvPr/>
        </p:nvSpPr>
        <p:spPr>
          <a:xfrm>
            <a:off x="4249970" y="4469106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9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005E4714-D690-0A7C-B88A-52492281C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91974" y="4503150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" name="타원 219">
            <a:extLst>
              <a:ext uri="{FF2B5EF4-FFF2-40B4-BE49-F238E27FC236}">
                <a16:creationId xmlns:a16="http://schemas.microsoft.com/office/drawing/2014/main" id="{F243A1DD-0492-5EA3-7F9B-32FC1F12F389}"/>
              </a:ext>
            </a:extLst>
          </p:cNvPr>
          <p:cNvSpPr/>
          <p:nvPr/>
        </p:nvSpPr>
        <p:spPr>
          <a:xfrm>
            <a:off x="4065426" y="4422870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1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DCA2ABF4-A52C-C8F0-9496-7274E3876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108940" y="4448837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" name="타원 221">
            <a:extLst>
              <a:ext uri="{FF2B5EF4-FFF2-40B4-BE49-F238E27FC236}">
                <a16:creationId xmlns:a16="http://schemas.microsoft.com/office/drawing/2014/main" id="{9AE1A1DD-EB1E-F2E7-116D-9BB0FF7AC322}"/>
              </a:ext>
            </a:extLst>
          </p:cNvPr>
          <p:cNvSpPr/>
          <p:nvPr/>
        </p:nvSpPr>
        <p:spPr>
          <a:xfrm>
            <a:off x="3915422" y="4820419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3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DCADBA73-DACE-5117-FA41-B895ACDA39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957426" y="4854463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4" name="타원 223">
            <a:extLst>
              <a:ext uri="{FF2B5EF4-FFF2-40B4-BE49-F238E27FC236}">
                <a16:creationId xmlns:a16="http://schemas.microsoft.com/office/drawing/2014/main" id="{7159CA9E-9C31-3914-9A10-7A24C92B1CC3}"/>
              </a:ext>
            </a:extLst>
          </p:cNvPr>
          <p:cNvSpPr/>
          <p:nvPr/>
        </p:nvSpPr>
        <p:spPr>
          <a:xfrm>
            <a:off x="4463950" y="5001555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5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9299FA91-30EA-3B84-D6EE-D2D6D6014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505954" y="5035599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타원 225">
            <a:extLst>
              <a:ext uri="{FF2B5EF4-FFF2-40B4-BE49-F238E27FC236}">
                <a16:creationId xmlns:a16="http://schemas.microsoft.com/office/drawing/2014/main" id="{209AD735-CB87-F2BA-7B61-37F1EE80B5D6}"/>
              </a:ext>
            </a:extLst>
          </p:cNvPr>
          <p:cNvSpPr/>
          <p:nvPr/>
        </p:nvSpPr>
        <p:spPr>
          <a:xfrm>
            <a:off x="4115744" y="4727930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B3FF4627-5316-01FE-D544-167345E5BC68}"/>
              </a:ext>
            </a:extLst>
          </p:cNvPr>
          <p:cNvSpPr/>
          <p:nvPr/>
        </p:nvSpPr>
        <p:spPr>
          <a:xfrm>
            <a:off x="3679460" y="5169689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9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9105E323-1CE1-4DF6-C320-C9741EF0F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721464" y="5203733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0" name="타원 229">
            <a:extLst>
              <a:ext uri="{FF2B5EF4-FFF2-40B4-BE49-F238E27FC236}">
                <a16:creationId xmlns:a16="http://schemas.microsoft.com/office/drawing/2014/main" id="{0AA049DE-91EB-329D-53FC-D724199E9988}"/>
              </a:ext>
            </a:extLst>
          </p:cNvPr>
          <p:cNvSpPr/>
          <p:nvPr/>
        </p:nvSpPr>
        <p:spPr>
          <a:xfrm>
            <a:off x="4282804" y="4667030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D608CFEF-0C72-29F2-3153-C4E88B315E19}"/>
              </a:ext>
            </a:extLst>
          </p:cNvPr>
          <p:cNvSpPr/>
          <p:nvPr/>
        </p:nvSpPr>
        <p:spPr>
          <a:xfrm>
            <a:off x="4255572" y="5477334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33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A1266F15-2C6A-7C83-DACA-E27B753AC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97576" y="5511378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6CB4384A-6472-1E05-AA2D-5A827B8BC3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150944" y="4757481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" name="타원 234">
            <a:extLst>
              <a:ext uri="{FF2B5EF4-FFF2-40B4-BE49-F238E27FC236}">
                <a16:creationId xmlns:a16="http://schemas.microsoft.com/office/drawing/2014/main" id="{E9F6D03C-A525-5855-00AD-C0C406FB0526}"/>
              </a:ext>
            </a:extLst>
          </p:cNvPr>
          <p:cNvSpPr/>
          <p:nvPr/>
        </p:nvSpPr>
        <p:spPr>
          <a:xfrm>
            <a:off x="3770409" y="4892833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FD9817DA-C683-9C1F-3F9D-A8C3AB3022DD}"/>
              </a:ext>
            </a:extLst>
          </p:cNvPr>
          <p:cNvSpPr/>
          <p:nvPr/>
        </p:nvSpPr>
        <p:spPr>
          <a:xfrm>
            <a:off x="3893365" y="5239847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D8843388-434F-FCFF-DAA8-52DCEB6A4366}"/>
              </a:ext>
            </a:extLst>
          </p:cNvPr>
          <p:cNvSpPr/>
          <p:nvPr/>
        </p:nvSpPr>
        <p:spPr>
          <a:xfrm>
            <a:off x="3987499" y="5099409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127E8CB9-FADB-FBFB-217A-C6A6C7EA0A0D}"/>
              </a:ext>
            </a:extLst>
          </p:cNvPr>
          <p:cNvSpPr/>
          <p:nvPr/>
        </p:nvSpPr>
        <p:spPr>
          <a:xfrm>
            <a:off x="4245761" y="5028901"/>
            <a:ext cx="108000" cy="108000"/>
          </a:xfrm>
          <a:prstGeom prst="ellipse">
            <a:avLst/>
          </a:prstGeom>
          <a:solidFill>
            <a:srgbClr val="FFFF00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3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F1DBF31F-1380-EBA9-CA12-14CE2040F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287765" y="5062945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08298D20-4361-09F6-A047-2BAD1CC4FC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318024" y="4695718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034E8DAB-A204-15A8-A9AF-E6BA0DACC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809918" y="4925893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29D6EF9F-BD5E-E31E-9DD3-1C7E886041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023643" y="5129285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0301E72-8469-88FC-E513-4F7CCE6FA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3929262" y="5272463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4" name="사각형: 둥근 모서리 253">
            <a:extLst>
              <a:ext uri="{FF2B5EF4-FFF2-40B4-BE49-F238E27FC236}">
                <a16:creationId xmlns:a16="http://schemas.microsoft.com/office/drawing/2014/main" id="{6C6F02DA-2A6C-3DC7-A8F2-3B442DA3872A}"/>
              </a:ext>
            </a:extLst>
          </p:cNvPr>
          <p:cNvSpPr/>
          <p:nvPr/>
        </p:nvSpPr>
        <p:spPr>
          <a:xfrm>
            <a:off x="2836554" y="4502567"/>
            <a:ext cx="720000" cy="14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Capa. </a:t>
            </a:r>
            <a:r>
              <a:rPr kumimoji="0" lang="ko-KR" altLang="en-US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부족 개선</a:t>
            </a: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6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6AA31EA1-21BC-4BE3-DF29-D49DFFB049AE}"/>
              </a:ext>
            </a:extLst>
          </p:cNvPr>
          <p:cNvCxnSpPr>
            <a:cxnSpLocks/>
          </p:cNvCxnSpPr>
          <p:nvPr/>
        </p:nvCxnSpPr>
        <p:spPr>
          <a:xfrm flipH="1">
            <a:off x="3565636" y="4474331"/>
            <a:ext cx="499790" cy="107180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FD781DFF-A76C-06E8-8006-E453B5AE6F75}"/>
              </a:ext>
            </a:extLst>
          </p:cNvPr>
          <p:cNvCxnSpPr>
            <a:cxnSpLocks/>
            <a:endCxn id="254" idx="3"/>
          </p:cNvCxnSpPr>
          <p:nvPr/>
        </p:nvCxnSpPr>
        <p:spPr>
          <a:xfrm flipH="1" flipV="1">
            <a:off x="3556554" y="4574567"/>
            <a:ext cx="726250" cy="143924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DAB65B41-D542-A148-56E6-8FF6823182EB}"/>
              </a:ext>
            </a:extLst>
          </p:cNvPr>
          <p:cNvCxnSpPr>
            <a:cxnSpLocks/>
            <a:stCxn id="226" idx="1"/>
            <a:endCxn id="254" idx="3"/>
          </p:cNvCxnSpPr>
          <p:nvPr/>
        </p:nvCxnSpPr>
        <p:spPr>
          <a:xfrm flipH="1" flipV="1">
            <a:off x="3556554" y="4574567"/>
            <a:ext cx="575006" cy="169179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9939A609-4026-9C4C-B82C-DA3622088311}"/>
              </a:ext>
            </a:extLst>
          </p:cNvPr>
          <p:cNvCxnSpPr>
            <a:cxnSpLocks/>
            <a:endCxn id="254" idx="3"/>
          </p:cNvCxnSpPr>
          <p:nvPr/>
        </p:nvCxnSpPr>
        <p:spPr>
          <a:xfrm flipH="1" flipV="1">
            <a:off x="3556554" y="4574567"/>
            <a:ext cx="229671" cy="331543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28A24293-EFDB-ABB4-898C-AAAB8C300400}"/>
              </a:ext>
            </a:extLst>
          </p:cNvPr>
          <p:cNvCxnSpPr>
            <a:cxnSpLocks/>
          </p:cNvCxnSpPr>
          <p:nvPr/>
        </p:nvCxnSpPr>
        <p:spPr>
          <a:xfrm flipH="1" flipV="1">
            <a:off x="3185464" y="4653511"/>
            <a:ext cx="802035" cy="497359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4544424A-C4B8-5565-8530-4BD902016193}"/>
              </a:ext>
            </a:extLst>
          </p:cNvPr>
          <p:cNvCxnSpPr>
            <a:cxnSpLocks/>
            <a:stCxn id="240" idx="1"/>
            <a:endCxn id="254" idx="2"/>
          </p:cNvCxnSpPr>
          <p:nvPr/>
        </p:nvCxnSpPr>
        <p:spPr>
          <a:xfrm flipH="1" flipV="1">
            <a:off x="3196554" y="4646567"/>
            <a:ext cx="712627" cy="609096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4C32FC3B-0028-8C8B-7DD0-D0D5A2FFED41}"/>
              </a:ext>
            </a:extLst>
          </p:cNvPr>
          <p:cNvGrpSpPr/>
          <p:nvPr/>
        </p:nvGrpSpPr>
        <p:grpSpPr>
          <a:xfrm>
            <a:off x="3280276" y="1487683"/>
            <a:ext cx="108000" cy="414443"/>
            <a:chOff x="3335395" y="1685470"/>
            <a:chExt cx="108000" cy="414443"/>
          </a:xfrm>
        </p:grpSpPr>
        <p:sp>
          <p:nvSpPr>
            <p:cNvPr id="286" name="타원 285">
              <a:extLst>
                <a:ext uri="{FF2B5EF4-FFF2-40B4-BE49-F238E27FC236}">
                  <a16:creationId xmlns:a16="http://schemas.microsoft.com/office/drawing/2014/main" id="{508A420B-C80F-9733-AFFD-B45457539982}"/>
                </a:ext>
              </a:extLst>
            </p:cNvPr>
            <p:cNvSpPr/>
            <p:nvPr/>
          </p:nvSpPr>
          <p:spPr>
            <a:xfrm>
              <a:off x="3335395" y="1837105"/>
              <a:ext cx="108000" cy="108000"/>
            </a:xfrm>
            <a:prstGeom prst="ellipse">
              <a:avLst/>
            </a:prstGeom>
            <a:solidFill>
              <a:srgbClr val="FFFF00"/>
            </a:solidFill>
            <a:ln w="6350">
              <a:solidFill>
                <a:srgbClr val="9696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8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21B60FBE-F11D-A74D-F8DE-28CE864EF8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551"/>
            <a:stretch/>
          </p:blipFill>
          <p:spPr bwMode="auto">
            <a:xfrm>
              <a:off x="3335395" y="1993341"/>
              <a:ext cx="108000" cy="106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1C41ACDD-9103-16CF-B00A-F41B40A3A264}"/>
                </a:ext>
              </a:extLst>
            </p:cNvPr>
            <p:cNvSpPr/>
            <p:nvPr/>
          </p:nvSpPr>
          <p:spPr>
            <a:xfrm>
              <a:off x="3335395" y="1685470"/>
              <a:ext cx="108000" cy="108000"/>
            </a:xfrm>
            <a:prstGeom prst="ellipse">
              <a:avLst/>
            </a:prstGeom>
            <a:solidFill>
              <a:srgbClr val="FFFF00"/>
            </a:solidFill>
            <a:ln w="6350">
              <a:solidFill>
                <a:srgbClr val="9696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3" name="모서리가 둥근 직사각형 581">
            <a:extLst>
              <a:ext uri="{FF2B5EF4-FFF2-40B4-BE49-F238E27FC236}">
                <a16:creationId xmlns:a16="http://schemas.microsoft.com/office/drawing/2014/main" id="{8025C709-9662-D844-528F-D0ED4969B6DE}"/>
              </a:ext>
            </a:extLst>
          </p:cNvPr>
          <p:cNvSpPr/>
          <p:nvPr/>
        </p:nvSpPr>
        <p:spPr>
          <a:xfrm>
            <a:off x="3467744" y="1471671"/>
            <a:ext cx="1512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건수 발생 지역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4" name="모서리가 둥근 직사각형 581">
            <a:extLst>
              <a:ext uri="{FF2B5EF4-FFF2-40B4-BE49-F238E27FC236}">
                <a16:creationId xmlns:a16="http://schemas.microsoft.com/office/drawing/2014/main" id="{8FB0AE8D-FF8D-968A-C3B3-AB7EE3C421F1}"/>
              </a:ext>
            </a:extLst>
          </p:cNvPr>
          <p:cNvSpPr/>
          <p:nvPr/>
        </p:nvSpPr>
        <p:spPr>
          <a:xfrm>
            <a:off x="3467744" y="1619315"/>
            <a:ext cx="1512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건수 발생했으나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Capa.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부족 지역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5" name="모서리가 둥근 직사각형 581">
            <a:extLst>
              <a:ext uri="{FF2B5EF4-FFF2-40B4-BE49-F238E27FC236}">
                <a16:creationId xmlns:a16="http://schemas.microsoft.com/office/drawing/2014/main" id="{13BBF0EC-EB23-D8F0-9842-E51A5A215BB2}"/>
              </a:ext>
            </a:extLst>
          </p:cNvPr>
          <p:cNvSpPr/>
          <p:nvPr/>
        </p:nvSpPr>
        <p:spPr>
          <a:xfrm>
            <a:off x="3467744" y="1766958"/>
            <a:ext cx="1512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수리 기사 배정 지역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4" name="모서리가 둥근 직사각형 581">
            <a:extLst>
              <a:ext uri="{FF2B5EF4-FFF2-40B4-BE49-F238E27FC236}">
                <a16:creationId xmlns:a16="http://schemas.microsoft.com/office/drawing/2014/main" id="{FD027888-2F74-F5FE-3D0E-B32482F7D3E7}"/>
              </a:ext>
            </a:extLst>
          </p:cNvPr>
          <p:cNvSpPr/>
          <p:nvPr/>
        </p:nvSpPr>
        <p:spPr>
          <a:xfrm>
            <a:off x="1349472" y="5052147"/>
            <a:ext cx="2262891" cy="272415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C2147D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 권역 제한 없이 기사 집 위치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교통 상황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역량 레벨을 반영한 최적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Route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자동 제공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5" name="모서리가 둥근 직사각형 29">
            <a:extLst>
              <a:ext uri="{FF2B5EF4-FFF2-40B4-BE49-F238E27FC236}">
                <a16:creationId xmlns:a16="http://schemas.microsoft.com/office/drawing/2014/main" id="{C23D55A5-3288-A613-9D73-13892EEF35D2}"/>
              </a:ext>
            </a:extLst>
          </p:cNvPr>
          <p:cNvSpPr/>
          <p:nvPr/>
        </p:nvSpPr>
        <p:spPr>
          <a:xfrm>
            <a:off x="416201" y="2975366"/>
            <a:ext cx="2880000" cy="720000"/>
          </a:xfrm>
          <a:prstGeom prst="roundRect">
            <a:avLst>
              <a:gd name="adj" fmla="val 847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779252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기사 별 고정 권역 배정에 따른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스케쥴 점유율 편차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발생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→ </a:t>
            </a:r>
            <a:r>
              <a:rPr kumimoji="1" lang="ko-KR" alt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생산성 개선 한계</a:t>
            </a:r>
          </a:p>
        </p:txBody>
      </p:sp>
      <p:sp>
        <p:nvSpPr>
          <p:cNvPr id="77" name="모서리가 둥근 직사각형 581">
            <a:extLst>
              <a:ext uri="{FF2B5EF4-FFF2-40B4-BE49-F238E27FC236}">
                <a16:creationId xmlns:a16="http://schemas.microsoft.com/office/drawing/2014/main" id="{12F70E47-7AEB-2177-A769-D59AA7FFBAD0}"/>
              </a:ext>
            </a:extLst>
          </p:cNvPr>
          <p:cNvSpPr/>
          <p:nvPr/>
        </p:nvSpPr>
        <p:spPr>
          <a:xfrm>
            <a:off x="2413488" y="1425240"/>
            <a:ext cx="660475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애틀란타 예시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모서리가 둥근 직사각형 29">
            <a:extLst>
              <a:ext uri="{FF2B5EF4-FFF2-40B4-BE49-F238E27FC236}">
                <a16:creationId xmlns:a16="http://schemas.microsoft.com/office/drawing/2014/main" id="{EB2591F7-95DF-89C4-B912-941945A433F5}"/>
              </a:ext>
            </a:extLst>
          </p:cNvPr>
          <p:cNvSpPr/>
          <p:nvPr/>
        </p:nvSpPr>
        <p:spPr>
          <a:xfrm>
            <a:off x="416201" y="5556450"/>
            <a:ext cx="2880000" cy="720000"/>
          </a:xfrm>
          <a:prstGeom prst="roundRect">
            <a:avLst>
              <a:gd name="adj" fmla="val 847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779252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최적 라우팅 알고리즘 도입을 통한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권역 제한 없는 배정으로</a:t>
            </a:r>
            <a:b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</a:b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기사 간 스케쥴 점유율 편차 개선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→ </a:t>
            </a:r>
            <a:r>
              <a:rPr kumimoji="1" lang="ko-KR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C2147D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생산성 극대화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EABAEED0-35E3-5C31-CAA8-BC44A937A643}"/>
              </a:ext>
            </a:extLst>
          </p:cNvPr>
          <p:cNvCxnSpPr>
            <a:cxnSpLocks/>
          </p:cNvCxnSpPr>
          <p:nvPr/>
        </p:nvCxnSpPr>
        <p:spPr>
          <a:xfrm rot="5400000">
            <a:off x="1173963" y="4964642"/>
            <a:ext cx="324302" cy="123125"/>
          </a:xfrm>
          <a:prstGeom prst="bentConnector4">
            <a:avLst>
              <a:gd name="adj1" fmla="val 29000"/>
              <a:gd name="adj2" fmla="val 285665"/>
            </a:avLst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581">
            <a:extLst>
              <a:ext uri="{FF2B5EF4-FFF2-40B4-BE49-F238E27FC236}">
                <a16:creationId xmlns:a16="http://schemas.microsoft.com/office/drawing/2014/main" id="{BFAC71A4-E249-8EC3-60E1-1465358C3E2F}"/>
              </a:ext>
            </a:extLst>
          </p:cNvPr>
          <p:cNvSpPr/>
          <p:nvPr/>
        </p:nvSpPr>
        <p:spPr>
          <a:xfrm>
            <a:off x="1241378" y="1911825"/>
            <a:ext cx="900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수리 이관 프로세스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86" name="모서리가 둥근 직사각형 581">
            <a:extLst>
              <a:ext uri="{FF2B5EF4-FFF2-40B4-BE49-F238E27FC236}">
                <a16:creationId xmlns:a16="http://schemas.microsoft.com/office/drawing/2014/main" id="{7B6377F9-35C5-8073-8EF8-6A4769DD0F94}"/>
              </a:ext>
            </a:extLst>
          </p:cNvPr>
          <p:cNvSpPr/>
          <p:nvPr/>
        </p:nvSpPr>
        <p:spPr>
          <a:xfrm>
            <a:off x="1241378" y="4137210"/>
            <a:ext cx="900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수리 이관 프로세스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22CD62AC-49C9-EBA6-1750-2CCEE34B23F0}"/>
              </a:ext>
            </a:extLst>
          </p:cNvPr>
          <p:cNvSpPr/>
          <p:nvPr/>
        </p:nvSpPr>
        <p:spPr>
          <a:xfrm>
            <a:off x="4188095" y="3146457"/>
            <a:ext cx="307340" cy="294197"/>
          </a:xfrm>
          <a:prstGeom prst="ellipse">
            <a:avLst/>
          </a:prstGeom>
          <a:noFill/>
          <a:ln w="12700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7D034FFD-E40F-3763-7FD0-1B59AA1F439C}"/>
              </a:ext>
            </a:extLst>
          </p:cNvPr>
          <p:cNvSpPr/>
          <p:nvPr/>
        </p:nvSpPr>
        <p:spPr>
          <a:xfrm>
            <a:off x="3782488" y="3126451"/>
            <a:ext cx="307340" cy="294197"/>
          </a:xfrm>
          <a:prstGeom prst="ellipse">
            <a:avLst/>
          </a:prstGeom>
          <a:noFill/>
          <a:ln w="12700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2147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BD30520-AEC5-84F4-F463-D0A0937F5056}"/>
              </a:ext>
            </a:extLst>
          </p:cNvPr>
          <p:cNvSpPr/>
          <p:nvPr/>
        </p:nvSpPr>
        <p:spPr>
          <a:xfrm>
            <a:off x="3340085" y="3627720"/>
            <a:ext cx="755413" cy="144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스케쥴 편차 발생</a:t>
            </a: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6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90A882F5-6F80-84A4-A655-E950633898A4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3717792" y="3395832"/>
            <a:ext cx="527969" cy="231888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타원 118">
            <a:extLst>
              <a:ext uri="{FF2B5EF4-FFF2-40B4-BE49-F238E27FC236}">
                <a16:creationId xmlns:a16="http://schemas.microsoft.com/office/drawing/2014/main" id="{375074B4-46CD-3DA4-F8C6-F879FBE42A38}"/>
              </a:ext>
            </a:extLst>
          </p:cNvPr>
          <p:cNvSpPr/>
          <p:nvPr/>
        </p:nvSpPr>
        <p:spPr>
          <a:xfrm>
            <a:off x="4188095" y="5414245"/>
            <a:ext cx="307340" cy="294197"/>
          </a:xfrm>
          <a:prstGeom prst="ellipse">
            <a:avLst/>
          </a:prstGeom>
          <a:noFill/>
          <a:ln w="12700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A7D35973-1C64-A28D-2D29-F4D876F7D117}"/>
              </a:ext>
            </a:extLst>
          </p:cNvPr>
          <p:cNvSpPr/>
          <p:nvPr/>
        </p:nvSpPr>
        <p:spPr>
          <a:xfrm>
            <a:off x="3812570" y="5167767"/>
            <a:ext cx="307340" cy="294197"/>
          </a:xfrm>
          <a:prstGeom prst="ellipse">
            <a:avLst/>
          </a:prstGeom>
          <a:noFill/>
          <a:ln w="12700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2147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CA044992-6A1B-A9AE-3D23-5C1A78171F6F}"/>
              </a:ext>
            </a:extLst>
          </p:cNvPr>
          <p:cNvSpPr/>
          <p:nvPr/>
        </p:nvSpPr>
        <p:spPr>
          <a:xfrm>
            <a:off x="3340085" y="6197359"/>
            <a:ext cx="755413" cy="14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스케쥴 편차 개선</a:t>
            </a:r>
            <a:r>
              <a:rPr kumimoji="0" lang="en-US" altLang="ko-KR" sz="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6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43229FFF-AAEE-E284-881F-1644DCB89DAC}"/>
              </a:ext>
            </a:extLst>
          </p:cNvPr>
          <p:cNvCxnSpPr>
            <a:cxnSpLocks/>
            <a:stCxn id="119" idx="3"/>
            <a:endCxn id="121" idx="0"/>
          </p:cNvCxnSpPr>
          <p:nvPr/>
        </p:nvCxnSpPr>
        <p:spPr>
          <a:xfrm flipH="1">
            <a:off x="3717792" y="5665358"/>
            <a:ext cx="515312" cy="532001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7274CD00-9A5E-D1E2-0DA3-9564BD1D5C0E}"/>
              </a:ext>
            </a:extLst>
          </p:cNvPr>
          <p:cNvCxnSpPr>
            <a:cxnSpLocks/>
            <a:stCxn id="120" idx="4"/>
            <a:endCxn id="121" idx="0"/>
          </p:cNvCxnSpPr>
          <p:nvPr/>
        </p:nvCxnSpPr>
        <p:spPr>
          <a:xfrm flipH="1">
            <a:off x="3717792" y="5461964"/>
            <a:ext cx="248448" cy="735395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66D9EF7B-C55F-137C-2F40-B5A2ACD6A050}"/>
              </a:ext>
            </a:extLst>
          </p:cNvPr>
          <p:cNvCxnSpPr>
            <a:cxnSpLocks/>
            <a:stCxn id="102" idx="3"/>
            <a:endCxn id="112" idx="0"/>
          </p:cNvCxnSpPr>
          <p:nvPr/>
        </p:nvCxnSpPr>
        <p:spPr>
          <a:xfrm flipH="1">
            <a:off x="3717792" y="3377564"/>
            <a:ext cx="109705" cy="250156"/>
          </a:xfrm>
          <a:prstGeom prst="straightConnector1">
            <a:avLst/>
          </a:prstGeom>
          <a:ln w="3175">
            <a:solidFill>
              <a:srgbClr val="00660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90E4F8A1-283A-467D-E1A0-4A9CF8187190}"/>
              </a:ext>
            </a:extLst>
          </p:cNvPr>
          <p:cNvGraphicFramePr>
            <a:graphicFrameLocks noGrp="1"/>
          </p:cNvGraphicFramePr>
          <p:nvPr/>
        </p:nvGraphicFramePr>
        <p:xfrm>
          <a:off x="5464783" y="4251115"/>
          <a:ext cx="4140005" cy="457200"/>
        </p:xfrm>
        <a:graphic>
          <a:graphicData uri="http://schemas.openxmlformats.org/drawingml/2006/table">
            <a:tbl>
              <a:tblPr/>
              <a:tblGrid>
                <a:gridCol w="992685">
                  <a:extLst>
                    <a:ext uri="{9D8B030D-6E8A-4147-A177-3AD203B41FA5}">
                      <a16:colId xmlns:a16="http://schemas.microsoft.com/office/drawing/2014/main" val="220737281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3197345079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2918899074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1727318221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1928250397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3738954069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1838275504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2470195882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1719775469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3323166971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956871356"/>
                    </a:ext>
                  </a:extLst>
                </a:gridCol>
                <a:gridCol w="286120">
                  <a:extLst>
                    <a:ext uri="{9D8B030D-6E8A-4147-A177-3AD203B41FA5}">
                      <a16:colId xmlns:a16="http://schemas.microsoft.com/office/drawing/2014/main" val="166631384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5/8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5/11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5/12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5/13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5/14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5/15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5/18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5/19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5/20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5/21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5/22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519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</a:p>
                  </a:txBody>
                  <a:tcPr marL="18000" marR="18000" marT="18000" marB="18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21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42519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FB65106D-1AFB-D29B-E5E3-675D499119C2}"/>
              </a:ext>
            </a:extLst>
          </p:cNvPr>
          <p:cNvSpPr txBox="1"/>
          <p:nvPr/>
        </p:nvSpPr>
        <p:spPr>
          <a:xfrm>
            <a:off x="7991605" y="4718491"/>
            <a:ext cx="1223412" cy="2455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B3891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생산성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CB3891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3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B3891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일대로 개선 중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CB3891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pic>
        <p:nvPicPr>
          <p:cNvPr id="1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CA24284A-C13C-071F-1125-26D0C39B8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51"/>
          <a:stretch/>
        </p:blipFill>
        <p:spPr bwMode="auto">
          <a:xfrm>
            <a:off x="4696693" y="2932903"/>
            <a:ext cx="108000" cy="1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581">
            <a:extLst>
              <a:ext uri="{FF2B5EF4-FFF2-40B4-BE49-F238E27FC236}">
                <a16:creationId xmlns:a16="http://schemas.microsoft.com/office/drawing/2014/main" id="{62540A25-1169-BD81-A38E-E19C18EBB2D0}"/>
              </a:ext>
            </a:extLst>
          </p:cNvPr>
          <p:cNvSpPr/>
          <p:nvPr/>
        </p:nvSpPr>
        <p:spPr>
          <a:xfrm>
            <a:off x="6251753" y="1426503"/>
            <a:ext cx="432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sp>
        <p:nvSpPr>
          <p:cNvPr id="22" name="모서리가 둥근 직사각형 581">
            <a:extLst>
              <a:ext uri="{FF2B5EF4-FFF2-40B4-BE49-F238E27FC236}">
                <a16:creationId xmlns:a16="http://schemas.microsoft.com/office/drawing/2014/main" id="{72570EDA-841F-68F4-67B2-89054176C69E}"/>
              </a:ext>
            </a:extLst>
          </p:cNvPr>
          <p:cNvSpPr/>
          <p:nvPr/>
        </p:nvSpPr>
        <p:spPr>
          <a:xfrm>
            <a:off x="8495904" y="1426503"/>
            <a:ext cx="432000" cy="1362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후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54A8595-AAA6-FFC6-4ABE-04745E2B0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753" y="1627303"/>
            <a:ext cx="1890000" cy="1664425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5A40D1-0632-994E-4C58-45C402C048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6904" y="1627303"/>
            <a:ext cx="1890000" cy="1664426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23" name="모서리가 둥근 직사각형 581">
            <a:extLst>
              <a:ext uri="{FF2B5EF4-FFF2-40B4-BE49-F238E27FC236}">
                <a16:creationId xmlns:a16="http://schemas.microsoft.com/office/drawing/2014/main" id="{32726D11-A57F-A49E-4074-5E8F740B5B63}"/>
              </a:ext>
            </a:extLst>
          </p:cNvPr>
          <p:cNvSpPr/>
          <p:nvPr/>
        </p:nvSpPr>
        <p:spPr>
          <a:xfrm>
            <a:off x="7766903" y="3379906"/>
            <a:ext cx="2434931" cy="408623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88900" marR="0" lvl="0" indent="-8890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외주센터로 이관 없이 직영센터가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100% 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처리</a:t>
            </a:r>
            <a:endParaRPr kumimoji="1" lang="en-US" altLang="ko-KR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8900" marR="0" lvl="0" indent="-8890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 별 스케쥴 점유율 편차 개선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(1.35 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0.50)</a:t>
            </a:r>
          </a:p>
          <a:p>
            <a:pPr marL="88900" marR="0" lvl="0" indent="-8890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평균 이동 거리 개선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(50 mile</a:t>
            </a:r>
            <a:r>
              <a:rPr kumimoji="1"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kumimoji="1"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44 mile)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367CD969-F40E-F5A6-4712-412F25645500}"/>
              </a:ext>
            </a:extLst>
          </p:cNvPr>
          <p:cNvSpPr/>
          <p:nvPr/>
        </p:nvSpPr>
        <p:spPr>
          <a:xfrm rot="5400000">
            <a:off x="7049828" y="2369517"/>
            <a:ext cx="1080000" cy="180000"/>
          </a:xfrm>
          <a:prstGeom prst="triangl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bg1">
                  <a:lumMod val="50000"/>
                </a:schemeClr>
              </a:gs>
              <a:gs pos="56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5D147-8E0B-50C9-9131-33F45706F542}"/>
              </a:ext>
            </a:extLst>
          </p:cNvPr>
          <p:cNvSpPr txBox="1"/>
          <p:nvPr/>
        </p:nvSpPr>
        <p:spPr>
          <a:xfrm>
            <a:off x="6820504" y="1166403"/>
            <a:ext cx="1532792" cy="292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전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후 동선 비교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37467"/>
      </p:ext>
    </p:extLst>
  </p:cSld>
  <p:clrMapOvr>
    <a:masterClrMapping/>
  </p:clrMapOvr>
</p:sld>
</file>

<file path=ppt/theme/theme1.xml><?xml version="1.0" encoding="utf-8"?>
<a:theme xmlns:a="http://schemas.openxmlformats.org/drawingml/2006/main" name="6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25679</TotalTime>
  <Words>264</Words>
  <Application>Microsoft Office PowerPoint</Application>
  <PresentationFormat>A4 용지(210x297mm)</PresentationFormat>
  <Paragraphs>82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</vt:i4>
      </vt:variant>
    </vt:vector>
  </HeadingPairs>
  <TitlesOfParts>
    <vt:vector size="14" baseType="lpstr">
      <vt:lpstr>LG스마트체 Regular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6_기본 디자인</vt:lpstr>
      <vt:lpstr>5_기본 디자인</vt:lpstr>
      <vt:lpstr>10_기본 디자인</vt:lpstr>
      <vt:lpstr>4_Office 테마</vt:lpstr>
      <vt:lpstr>Office 2013 - 2022 테마</vt:lpstr>
      <vt:lpstr>PowerPoint 프레젠테이션</vt:lpstr>
    </vt:vector>
  </TitlesOfParts>
  <Company>LGE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이용신/책임/임원인사팀(yongshin.lee@lge.com)</dc:creator>
  <cp:lastModifiedBy>황기연/책임/해외CC&amp;S네트워크운영팀</cp:lastModifiedBy>
  <cp:revision>708</cp:revision>
  <cp:lastPrinted>2024-03-28T08:51:36Z</cp:lastPrinted>
  <dcterms:created xsi:type="dcterms:W3CDTF">2022-01-09T23:56:29Z</dcterms:created>
  <dcterms:modified xsi:type="dcterms:W3CDTF">2026-06-01T00:15:07Z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2025-04-07T04:09:26Z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21329614-030e-471a-af43-cb3a06bed965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6_기본 디자인:3\5_기본 디자인:4\10_기본 디자인:4\4_Office 테마:9\2_Office 테마:3</vt:lpwstr>
  </property>
  <property fmtid="{D5CDD505-2E9C-101B-9397-08002B2CF9AE}" pid="11" name="ClassificationContentMarkingHeaderText">
    <vt:lpwstr>LGE Internal Use Only</vt:lpwstr>
  </property>
</Properties>
</file>